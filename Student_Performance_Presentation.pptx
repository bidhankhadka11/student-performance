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1438"/>
                </a:solidFill>
                <a:latin typeface="Times New Roman"/>
              </a:defRPr>
            </a:pPr>
            <a:r>
              <a:rPr sz="1300" b="0" i="0" u="none" strike="noStrike">
                <a:solidFill>
                  <a:srgbClr val="1D1438"/>
                </a:solidFill>
                <a:latin typeface="Times New Roman"/>
              </a:rPr>
              <a:t>Test R² (higher is better)</a:t>
            </a:r>
          </a:p>
        </c:rich>
      </c:tx>
      <c:layout/>
      <c:overlay val="0"/>
    </c:title>
    <c:autoTitleDeleted val="0"/>
    <c:plotArea>
      <c:layout/>
      <c:barChart>
        <c:barDir val="col"/>
        <c:grouping val="clustered"/>
        <c:varyColors val="0"/>
        <c:ser>
          <c:idx val="0"/>
          <c:order val="0"/>
          <c:tx>
            <c:strRef>
              <c:f>Sheet1!$B$1</c:f>
              <c:strCache>
                <c:ptCount val="1"/>
                <c:pt idx="0">
                  <c:v>with G1/G2</c:v>
                </c:pt>
              </c:strCache>
            </c:strRef>
          </c:tx>
          <c:spPr>
            <a:solidFill>
              <a:srgbClr val="7C4DFF"/>
            </a:solidFill>
            <a:effectLst/>
          </c:spPr>
          <c:invertIfNegative val="0"/>
          <c:dLbls>
            <c:numFmt formatCode="0.00" sourceLinked="0"/>
            <c:txPr>
              <a:bodyPr/>
              <a:lstStyle/>
              <a:p>
                <a:pPr>
                  <a:defRPr b="0" i="0" strike="noStrike" sz="1100" u="none">
                    <a:solidFill>
                      <a:srgbClr val="1D1438"/>
                    </a:solidFill>
                    <a:latin typeface="Times New Roman"/>
                  </a:defRPr>
                </a:pPr>
              </a:p>
            </c:txPr>
            <c:showLegendKey val="0"/>
            <c:showVal val="1"/>
            <c:showCatName val="0"/>
            <c:showSerName val="0"/>
            <c:showPercent val="0"/>
            <c:showBubbleSize val="0"/>
            <c:showLeaderLines val="0"/>
          </c:dLbls>
          <c:cat>
            <c:multiLvlStrRef>
              <c:f>Sheet1!$A$2:$A$3</c:f>
              <c:multiLvlStrCache>
                <c:ptCount val="2"/>
                <c:lvl>
                  <c:pt idx="0">
                    <c:v>Linear Regression</c:v>
                  </c:pt>
                  <c:pt idx="1">
                    <c:v>Random Forest</c:v>
                  </c:pt>
                </c:lvl>
              </c:multiLvlStrCache>
            </c:multiLvlStrRef>
          </c:cat>
          <c:val>
            <c:numRef>
              <c:f>Sheet1!$B$2:$B$3</c:f>
              <c:numCache>
                <c:formatCode>General</c:formatCode>
                <c:ptCount val="2"/>
                <c:pt idx="0">
                  <c:v>0.724</c:v>
                </c:pt>
                <c:pt idx="1">
                  <c:v>0.811</c:v>
                </c:pt>
              </c:numCache>
            </c:numRef>
          </c:val>
        </c:ser>
        <c:ser>
          <c:idx val="1"/>
          <c:order val="1"/>
          <c:tx>
            <c:strRef>
              <c:f>Sheet1!$C$1</c:f>
              <c:strCache>
                <c:ptCount val="1"/>
                <c:pt idx="0">
                  <c:v>without G1/G2</c:v>
                </c:pt>
              </c:strCache>
            </c:strRef>
          </c:tx>
          <c:spPr>
            <a:solidFill>
              <a:srgbClr val="E89A00"/>
            </a:solidFill>
            <a:effectLst/>
          </c:spPr>
          <c:invertIfNegative val="0"/>
          <c:dLbls>
            <c:numFmt formatCode="0.00" sourceLinked="0"/>
            <c:txPr>
              <a:bodyPr/>
              <a:lstStyle/>
              <a:p>
                <a:pPr>
                  <a:defRPr b="0" i="0" strike="noStrike" sz="1100" u="none">
                    <a:solidFill>
                      <a:srgbClr val="1D1438"/>
                    </a:solidFill>
                    <a:latin typeface="Times New Roman"/>
                  </a:defRPr>
                </a:pPr>
              </a:p>
            </c:txPr>
            <c:showLegendKey val="0"/>
            <c:showVal val="1"/>
            <c:showCatName val="0"/>
            <c:showSerName val="0"/>
            <c:showPercent val="0"/>
            <c:showBubbleSize val="0"/>
            <c:showLeaderLines val="0"/>
          </c:dLbls>
          <c:cat>
            <c:multiLvlStrRef>
              <c:f>Sheet1!$A$2:$A$3</c:f>
              <c:multiLvlStrCache>
                <c:ptCount val="2"/>
                <c:lvl>
                  <c:pt idx="0">
                    <c:v>Linear Regression</c:v>
                  </c:pt>
                  <c:pt idx="1">
                    <c:v>Random Forest</c:v>
                  </c:pt>
                </c:lvl>
              </c:multiLvlStrCache>
            </c:multiLvlStrRef>
          </c:cat>
          <c:val>
            <c:numRef>
              <c:f>Sheet1!$C$2:$C$3</c:f>
              <c:numCache>
                <c:formatCode>General</c:formatCode>
                <c:ptCount val="2"/>
                <c:pt idx="0">
                  <c:v>0.141</c:v>
                </c:pt>
                <c:pt idx="1">
                  <c:v>0.27</c:v>
                </c:pt>
              </c:numCache>
            </c:numRef>
          </c:val>
        </c:ser>
        <c:dLbls>
          <c:numFmt formatCode="0.00" sourceLinked="0"/>
          <c:txPr>
            <a:bodyPr/>
            <a:lstStyle/>
            <a:p>
              <a:pPr>
                <a:defRPr b="0" i="0" strike="noStrike" sz="1100" u="none">
                  <a:solidFill>
                    <a:srgbClr val="1D1438"/>
                  </a:solidFill>
                  <a:latin typeface="Times New Roman"/>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1438"/>
                </a:solidFill>
                <a:latin typeface="Times New Roman"/>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E6E2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E5873"/>
                </a:solidFill>
                <a:latin typeface="Times New Roman"/>
              </a:defRPr>
            </a:pPr>
            <a:endParaRPr lang="en-US"/>
          </a:p>
        </c:txPr>
        <c:crossAx val="2094734554"/>
        <c:crosses val="autoZero"/>
        <c:crossBetween val="between"/>
      </c:valAx>
      <c:spPr>
        <a:noFill/>
        <a:ln>
          <a:noFill/>
        </a:ln>
        <a:effectLst/>
      </c:spPr>
    </c:plotArea>
    <c:legend>
      <c:legendPos val="b"/>
      <c:overlay val="0"/>
      <c:txPr>
        <a:bodyPr/>
        <a:lstStyle/>
        <a:p>
          <a:pPr>
            <a:defRPr sz="1100">
              <a:latin typeface="Times New Roman"/>
              <a:cs typeface="Times New Roman"/>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goal: predict the final Math grade from student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Regression task on a 0–20 scale. Two scenarios: with prior grades (late in the year) and without them (early warning).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Cortez &amp; Silva (2008). Data from school reports and questionnaires at two Portuguese secondary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median, standard deviation from df[key].agg(...).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38 zero-grade students have 0 absences recorded; consistent with dropping the course or missing the final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 of the 12 most relevant numeric features. Full heatmap is in the Part A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plots: white line = median. Scatter: pink X = students with G3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is done after the split and fit on training data only to prevent data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 measured which features matter in two ways. The left chart is correlation: how strongly each feature moves with the final grade in a straight line. Blue bars go up with G3, pink bars go down. G2 and G1 are far ahead, and past failures is the biggest negative. The two green and purple charts come from the Random Forest. Importance shows how much each feature helped the model make accurate predictions, and the scores add up to 1. With earlier grades, G2 alone accounts for about 79%. Interesting point: absences has almost zero correlation, but it is the forest's second most useful feature. That is because all 38 students who scored 0 had zero absences, so the forest uses it to spot them. When we remove G1 and G2, the model has to rely on absences and past failures, and no single feature is strong, which is why accuracy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slide shows how we built and tested our models. Linear Regression is our simple baseline: it fits a weighted sum of the features, so each feature gets one weight. It needs scaled features, and because it is a straight line it can even predict impossible grades below 0 or above 20. Random Forest builds 200 decision trees, each trained on a random sample of students, and averages their predictions. It captures non-linear patterns like a sudden drop to 0, needs no scaling, and its predictions stay in the 0 to 20 range. We used both to see whether the extra complexity pays off. For training, we split the data 80/20: 316 students to learn from and 79 held back, with random_state 42 so the split is reproducible. We trained each model with and without G1 and G2. We scored the 79 test students with MSE and R², and because one test set of 79 students is small, we also ran 5-fold cross-validation: each fifth of the data takes a turn as the test set and the five scores are averaged.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 measured performance with two metrics. MSE is the average squared difference between the actual and predicted grade, so lower is better. R² is the share of grade variation the model explains: 1 is perfect, 0 is no better than guessing the average. The R² test column uses the 79 test students; the CV column averages 5 cross-validation rounds, which is more reliable. Random Forest with G1 and G2 is the best on every measure: MSE 3.87, R² 0.811 on the test set and 0.872 with cross-validation. Random Forest beats Linear Regression in both settings, and removing G1 and G2 makes R² drop sharply. For reference, always predicting the average grade gives MSE 20.7.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These four plots compare each model's prediction with the real final grade for the 79 test students. Each dot is one student: left to right is the actual grade, up and down is the prediction. Dots on the dashed line are perfect predictions; the farther away, the bigger the error. The top row uses G1 and G2. The dots hug the line, and Random Forest is the tightest, with R² 0.811. The bottom row removes G1 and G2: the Random Forest's predictions bunch around 9 to 13, so the model mostly guesses an average student. The pink X's are students whose actual grade was 0. They are the largest errors in every panel because most of them had normal earlier grades; in the best model these 5 students cause 43% of the error. Finally, Linear Regression even predicts impossible grades, about -2.6 and 20.8, because a straight line has no 0 to 20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Summarize the three headline R² values, then walk through the bullets.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For each challenge, say the problem first, then what we did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 wrap up: earlier grades are by far the best predictor. Random Forest with G1 and G2 explains about 81% of grade variation, 87% with cross-validation, and beat Linear Regression because it handles non-linear patterns. Background factors alone explain only about 27%, so this works as a mid-year tool, but early warning would need more data. The students who scored 0 were the hardest to predict. Next we'd model dropouts separately, tune the forest and try gradient boosting. Thank you,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0B4B"/>
        </a:solidFill>
      </p:bgPr>
    </p:bg>
    <p:spTree>
      <p:nvGrpSpPr>
        <p:cNvPr id="1" name=""/>
        <p:cNvGrpSpPr/>
        <p:nvPr/>
      </p:nvGrpSpPr>
      <p:grpSpPr>
        <a:xfrm>
          <a:off x="0" y="0"/>
          <a:ext cx="0" cy="0"/>
          <a:chOff x="0" y="0"/>
          <a:chExt cx="0" cy="0"/>
        </a:xfrm>
      </p:grpSpPr>
      <p:sp>
        <p:nvSpPr>
          <p:cNvPr id="2" name="Shape 0"/>
          <p:cNvSpPr/>
          <p:nvPr/>
        </p:nvSpPr>
        <p:spPr>
          <a:xfrm>
            <a:off x="9966960" y="-548640"/>
            <a:ext cx="2743200" cy="2743200"/>
          </a:xfrm>
          <a:prstGeom prst="ellipse">
            <a:avLst/>
          </a:prstGeom>
          <a:solidFill>
            <a:srgbClr val="F0287A"/>
          </a:solidFill>
          <a:ln w="12700">
            <a:solidFill>
              <a:srgbClr val="F0287A"/>
            </a:solidFill>
            <a:prstDash val="solid"/>
          </a:ln>
        </p:spPr>
      </p:sp>
      <p:sp>
        <p:nvSpPr>
          <p:cNvPr id="3" name="Shape 1"/>
          <p:cNvSpPr/>
          <p:nvPr/>
        </p:nvSpPr>
        <p:spPr>
          <a:xfrm>
            <a:off x="10972800" y="1737360"/>
            <a:ext cx="1463040" cy="1463040"/>
          </a:xfrm>
          <a:prstGeom prst="ellipse">
            <a:avLst/>
          </a:prstGeom>
          <a:solidFill>
            <a:srgbClr val="E89A00"/>
          </a:solidFill>
          <a:ln w="12700">
            <a:solidFill>
              <a:srgbClr val="E89A00"/>
            </a:solidFill>
            <a:prstDash val="solid"/>
          </a:ln>
        </p:spPr>
      </p:sp>
      <p:sp>
        <p:nvSpPr>
          <p:cNvPr id="4" name="Shape 2"/>
          <p:cNvSpPr/>
          <p:nvPr/>
        </p:nvSpPr>
        <p:spPr>
          <a:xfrm>
            <a:off x="8869680" y="5120640"/>
            <a:ext cx="2194560" cy="2194560"/>
          </a:xfrm>
          <a:prstGeom prst="ellipse">
            <a:avLst/>
          </a:prstGeom>
          <a:solidFill>
            <a:srgbClr val="0096D6"/>
          </a:solidFill>
          <a:ln w="12700">
            <a:solidFill>
              <a:srgbClr val="0096D6"/>
            </a:solidFill>
            <a:prstDash val="solid"/>
          </a:ln>
        </p:spPr>
      </p:sp>
      <p:sp>
        <p:nvSpPr>
          <p:cNvPr id="5" name="Shape 3"/>
          <p:cNvSpPr/>
          <p:nvPr/>
        </p:nvSpPr>
        <p:spPr>
          <a:xfrm>
            <a:off x="10881360" y="4480560"/>
            <a:ext cx="1005840" cy="1005840"/>
          </a:xfrm>
          <a:prstGeom prst="ellipse">
            <a:avLst/>
          </a:prstGeom>
          <a:solidFill>
            <a:srgbClr val="0FA47A"/>
          </a:solidFill>
          <a:ln w="12700">
            <a:solidFill>
              <a:srgbClr val="0FA47A"/>
            </a:solidFill>
            <a:prstDash val="solid"/>
          </a:ln>
        </p:spPr>
      </p:sp>
      <p:sp>
        <p:nvSpPr>
          <p:cNvPr id="6" name="Shape 4"/>
          <p:cNvSpPr/>
          <p:nvPr/>
        </p:nvSpPr>
        <p:spPr>
          <a:xfrm>
            <a:off x="-960120" y="5897880"/>
            <a:ext cx="1554480" cy="1554480"/>
          </a:xfrm>
          <a:prstGeom prst="ellipse">
            <a:avLst/>
          </a:prstGeom>
          <a:solidFill>
            <a:srgbClr val="7C4DFF"/>
          </a:solidFill>
          <a:ln w="12700">
            <a:solidFill>
              <a:srgbClr val="7C4DFF"/>
            </a:solidFill>
            <a:prstDash val="solid"/>
          </a:ln>
        </p:spPr>
      </p:sp>
      <p:pic>
        <p:nvPicPr>
          <p:cNvPr id="7" name="Image 0" descr="icons/laptop.png">    </p:cNvPr>
          <p:cNvPicPr>
            <a:picLocks noChangeAspect="1"/>
          </p:cNvPicPr>
          <p:nvPr/>
        </p:nvPicPr>
        <p:blipFill>
          <a:blip r:embed="rId1"/>
          <a:stretch>
            <a:fillRect/>
          </a:stretch>
        </p:blipFill>
        <p:spPr>
          <a:xfrm>
            <a:off x="6720840" y="1600200"/>
            <a:ext cx="4846320" cy="3796284"/>
          </a:xfrm>
          <a:prstGeom prst="rect">
            <a:avLst/>
          </a:prstGeom>
        </p:spPr>
      </p:pic>
      <p:sp>
        <p:nvSpPr>
          <p:cNvPr id="8" name="Text 5"/>
          <p:cNvSpPr txBox="1"/>
          <p:nvPr/>
        </p:nvSpPr>
        <p:spPr>
          <a:xfrm>
            <a:off x="731520" y="1417320"/>
            <a:ext cx="5852160" cy="1737360"/>
          </a:xfrm>
          <a:prstGeom prst="rect">
            <a:avLst/>
          </a:prstGeom>
          <a:noFill/>
          <a:ln/>
        </p:spPr>
        <p:txBody>
          <a:bodyPr wrap="square" lIns="0" tIns="0" rIns="0" bIns="0" rtlCol="0" anchor="t"/>
          <a:lstStyle/>
          <a:p>
            <a:pPr indent="0" marL="0">
              <a:buNone/>
            </a:pPr>
            <a:r>
              <a:rPr lang="en-US" sz="5000" b="1" dirty="0">
                <a:solidFill>
                  <a:srgbClr val="FFFFFF"/>
                </a:solidFill>
                <a:latin typeface="Times New Roman" pitchFamily="34" charset="0"/>
                <a:ea typeface="Times New Roman" pitchFamily="34" charset="-122"/>
                <a:cs typeface="Times New Roman" pitchFamily="34" charset="-120"/>
              </a:rPr>
              <a:t>Predicting Student Performance</a:t>
            </a:r>
            <a:endParaRPr lang="en-US" sz="5000" dirty="0"/>
          </a:p>
        </p:txBody>
      </p:sp>
      <p:sp>
        <p:nvSpPr>
          <p:cNvPr id="9" name="Text 6"/>
          <p:cNvSpPr txBox="1"/>
          <p:nvPr/>
        </p:nvSpPr>
        <p:spPr>
          <a:xfrm>
            <a:off x="731520" y="3200400"/>
            <a:ext cx="5669280" cy="868680"/>
          </a:xfrm>
          <a:prstGeom prst="rect">
            <a:avLst/>
          </a:prstGeom>
          <a:noFill/>
          <a:ln/>
        </p:spPr>
        <p:txBody>
          <a:bodyPr wrap="square" lIns="0" tIns="0" rIns="0" bIns="0" rtlCol="0" anchor="ctr"/>
          <a:lstStyle/>
          <a:p>
            <a:pPr indent="0" marL="0">
              <a:buNone/>
            </a:pPr>
            <a:r>
              <a:rPr lang="en-US" sz="2000" dirty="0">
                <a:solidFill>
                  <a:srgbClr val="D9CCFF"/>
                </a:solidFill>
                <a:latin typeface="Times New Roman" pitchFamily="34" charset="0"/>
                <a:ea typeface="Times New Roman" pitchFamily="34" charset="-122"/>
                <a:cs typeface="Times New Roman" pitchFamily="34" charset="-120"/>
              </a:rPr>
              <a:t>Forecasting final Math grades (G3) with Linear Regression and Random Forest</a:t>
            </a:r>
            <a:endParaRPr lang="en-US" sz="2000" dirty="0"/>
          </a:p>
        </p:txBody>
      </p:sp>
      <p:sp>
        <p:nvSpPr>
          <p:cNvPr id="10" name="Text 7"/>
          <p:cNvSpPr txBox="1"/>
          <p:nvPr/>
        </p:nvSpPr>
        <p:spPr>
          <a:xfrm>
            <a:off x="731520" y="4663440"/>
            <a:ext cx="7315200" cy="411480"/>
          </a:xfrm>
          <a:prstGeom prst="rect">
            <a:avLst/>
          </a:prstGeom>
          <a:noFill/>
          <a:ln/>
        </p:spPr>
        <p:txBody>
          <a:bodyPr wrap="square" lIns="0" tIns="0" rIns="0" bIns="0" rtlCol="0" anchor="ctr"/>
          <a:lstStyle/>
          <a:p>
            <a:pPr indent="0" marL="0">
              <a:buNone/>
            </a:pPr>
            <a:r>
              <a:rPr lang="en-US" sz="1800" b="1" dirty="0">
                <a:solidFill>
                  <a:srgbClr val="FFFFFF"/>
                </a:solidFill>
                <a:latin typeface="Times New Roman" pitchFamily="34" charset="0"/>
                <a:ea typeface="Times New Roman" pitchFamily="34" charset="-122"/>
                <a:cs typeface="Times New Roman" pitchFamily="34" charset="-120"/>
              </a:rPr>
              <a:t>Aleida Ramirez  ·  Bidhan Khadka</a:t>
            </a:r>
            <a:endParaRPr lang="en-US" sz="1800" dirty="0"/>
          </a:p>
        </p:txBody>
      </p:sp>
      <p:sp>
        <p:nvSpPr>
          <p:cNvPr id="11" name="Text 8"/>
          <p:cNvSpPr txBox="1"/>
          <p:nvPr/>
        </p:nvSpPr>
        <p:spPr>
          <a:xfrm>
            <a:off x="731520" y="5074920"/>
            <a:ext cx="7315200" cy="365760"/>
          </a:xfrm>
          <a:prstGeom prst="rect">
            <a:avLst/>
          </a:prstGeom>
          <a:noFill/>
          <a:ln/>
        </p:spPr>
        <p:txBody>
          <a:bodyPr wrap="square" lIns="0" tIns="0" rIns="0" bIns="0" rtlCol="0" anchor="ctr"/>
          <a:lstStyle/>
          <a:p>
            <a:pPr indent="0" marL="0">
              <a:buNone/>
            </a:pPr>
            <a:r>
              <a:rPr lang="en-US" sz="1400" dirty="0">
                <a:solidFill>
                  <a:srgbClr val="B9A9F0"/>
                </a:solidFill>
                <a:latin typeface="Times New Roman" pitchFamily="34" charset="0"/>
                <a:ea typeface="Times New Roman" pitchFamily="34" charset="-122"/>
                <a:cs typeface="Times New Roman" pitchFamily="34" charset="-120"/>
              </a:rPr>
              <a:t>UCI Student Performance Dataset — student-mat.csv</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200">
        <p14:flythrough/>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Problem Statement</a:t>
            </a:r>
            <a:endParaRPr lang="en-US" sz="3200" dirty="0"/>
          </a:p>
        </p:txBody>
      </p:sp>
      <p:sp>
        <p:nvSpPr>
          <p:cNvPr id="5" name="Shape 1"/>
          <p:cNvSpPr/>
          <p:nvPr/>
        </p:nvSpPr>
        <p:spPr>
          <a:xfrm>
            <a:off x="502920" y="1325880"/>
            <a:ext cx="11155680" cy="1234440"/>
          </a:xfrm>
          <a:prstGeom prst="rect">
            <a:avLst/>
          </a:prstGeom>
          <a:solidFill>
            <a:srgbClr val="F0287A"/>
          </a:solidFill>
          <a:ln w="12700">
            <a:solidFill>
              <a:srgbClr val="F0287A"/>
            </a:solidFill>
            <a:prstDash val="solid"/>
          </a:ln>
        </p:spPr>
      </p:sp>
      <p:sp>
        <p:nvSpPr>
          <p:cNvPr id="6" name="Text 2"/>
          <p:cNvSpPr txBox="1"/>
          <p:nvPr/>
        </p:nvSpPr>
        <p:spPr>
          <a:xfrm>
            <a:off x="868680" y="1325880"/>
            <a:ext cx="10424160" cy="1234440"/>
          </a:xfrm>
          <a:prstGeom prst="rect">
            <a:avLst/>
          </a:prstGeom>
          <a:noFill/>
          <a:ln/>
        </p:spPr>
        <p:txBody>
          <a:bodyPr wrap="square" lIns="0" tIns="0" rIns="0" bIns="0" rtlCol="0" anchor="ctr"/>
          <a:lstStyle/>
          <a:p>
            <a:pPr indent="0" marL="0">
              <a:buNone/>
            </a:pPr>
            <a:r>
              <a:rPr lang="en-US" sz="2400" b="1" i="1" dirty="0">
                <a:solidFill>
                  <a:srgbClr val="FFFFFF"/>
                </a:solidFill>
                <a:latin typeface="Calibri" pitchFamily="34" charset="0"/>
                <a:ea typeface="Calibri" pitchFamily="34" charset="-122"/>
                <a:cs typeface="Calibri" pitchFamily="34" charset="-120"/>
              </a:rPr>
              <a:t>Can we predict a student's final Math grade (G3) from their background, habits and earlier grades?</a:t>
            </a:r>
            <a:endParaRPr lang="en-US" sz="2400" dirty="0"/>
          </a:p>
        </p:txBody>
      </p:sp>
      <p:sp>
        <p:nvSpPr>
          <p:cNvPr id="7" name="Shape 3"/>
          <p:cNvSpPr/>
          <p:nvPr/>
        </p:nvSpPr>
        <p:spPr>
          <a:xfrm>
            <a:off x="502920" y="2788920"/>
            <a:ext cx="3566160" cy="2240280"/>
          </a:xfrm>
          <a:prstGeom prst="rect">
            <a:avLst/>
          </a:prstGeom>
          <a:solidFill>
            <a:srgbClr val="DDF2FC"/>
          </a:solidFill>
          <a:ln w="12700">
            <a:solidFill>
              <a:srgbClr val="DDF2FC"/>
            </a:solidFill>
            <a:prstDash val="solid"/>
          </a:ln>
        </p:spPr>
      </p:sp>
      <p:pic>
        <p:nvPicPr>
          <p:cNvPr id="8" name="Image 1" descr="icons/student.png">    </p:cNvPr>
          <p:cNvPicPr>
            <a:picLocks noChangeAspect="1"/>
          </p:cNvPicPr>
          <p:nvPr/>
        </p:nvPicPr>
        <p:blipFill>
          <a:blip r:embed="rId2"/>
          <a:stretch>
            <a:fillRect/>
          </a:stretch>
        </p:blipFill>
        <p:spPr>
          <a:xfrm>
            <a:off x="685800" y="3268980"/>
            <a:ext cx="1280160" cy="1280160"/>
          </a:xfrm>
          <a:prstGeom prst="rect">
            <a:avLst/>
          </a:prstGeom>
        </p:spPr>
      </p:pic>
      <p:sp>
        <p:nvSpPr>
          <p:cNvPr id="9" name="Text 4"/>
          <p:cNvSpPr txBox="1"/>
          <p:nvPr/>
        </p:nvSpPr>
        <p:spPr>
          <a:xfrm>
            <a:off x="2148840" y="3108960"/>
            <a:ext cx="1737360" cy="420624"/>
          </a:xfrm>
          <a:prstGeom prst="rect">
            <a:avLst/>
          </a:prstGeom>
          <a:noFill/>
          <a:ln/>
        </p:spPr>
        <p:txBody>
          <a:bodyPr wrap="square" lIns="0" tIns="0" rIns="0" bIns="0" rtlCol="0" anchor="ctr"/>
          <a:lstStyle/>
          <a:p>
            <a:pPr algn="l" indent="0" marL="0">
              <a:buNone/>
            </a:pPr>
            <a:r>
              <a:rPr lang="en-US" sz="1800" b="1" dirty="0">
                <a:solidFill>
                  <a:srgbClr val="1D1438"/>
                </a:solidFill>
                <a:latin typeface="Times New Roman" pitchFamily="34" charset="0"/>
                <a:ea typeface="Times New Roman" pitchFamily="34" charset="-122"/>
                <a:cs typeface="Times New Roman" pitchFamily="34" charset="-120"/>
              </a:rPr>
              <a:t>Why it matters</a:t>
            </a:r>
            <a:endParaRPr lang="en-US" sz="1800" dirty="0"/>
          </a:p>
        </p:txBody>
      </p:sp>
      <p:sp>
        <p:nvSpPr>
          <p:cNvPr id="10" name="Text 5"/>
          <p:cNvSpPr txBox="1"/>
          <p:nvPr/>
        </p:nvSpPr>
        <p:spPr>
          <a:xfrm>
            <a:off x="2148840" y="3584448"/>
            <a:ext cx="1737360" cy="1307592"/>
          </a:xfrm>
          <a:prstGeom prst="rect">
            <a:avLst/>
          </a:prstGeom>
          <a:noFill/>
          <a:ln/>
        </p:spPr>
        <p:txBody>
          <a:bodyPr wrap="square" lIns="0" tIns="0" rIns="0" bIns="0" rtlCol="0" anchor="t"/>
          <a:lstStyle/>
          <a:p>
            <a:pPr algn="l" indent="0" marL="0">
              <a:buNone/>
            </a:pPr>
            <a:r>
              <a:rPr lang="en-US" sz="1450" dirty="0">
                <a:solidFill>
                  <a:srgbClr val="1D1438"/>
                </a:solidFill>
                <a:latin typeface="Times New Roman" pitchFamily="34" charset="0"/>
                <a:ea typeface="Times New Roman" pitchFamily="34" charset="-122"/>
                <a:cs typeface="Times New Roman" pitchFamily="34" charset="-120"/>
              </a:rPr>
              <a:t>Spotting struggling students early lets teachers step in before the final exam.</a:t>
            </a:r>
            <a:endParaRPr lang="en-US" sz="1450" dirty="0"/>
          </a:p>
        </p:txBody>
      </p:sp>
      <p:sp>
        <p:nvSpPr>
          <p:cNvPr id="11" name="Shape 6"/>
          <p:cNvSpPr/>
          <p:nvPr/>
        </p:nvSpPr>
        <p:spPr>
          <a:xfrm>
            <a:off x="4297680" y="2788920"/>
            <a:ext cx="3566160" cy="2240280"/>
          </a:xfrm>
          <a:prstGeom prst="rect">
            <a:avLst/>
          </a:prstGeom>
          <a:solidFill>
            <a:srgbClr val="FFF1D6"/>
          </a:solidFill>
          <a:ln w="12700">
            <a:solidFill>
              <a:srgbClr val="FFF1D6"/>
            </a:solidFill>
            <a:prstDash val="solid"/>
          </a:ln>
        </p:spPr>
      </p:sp>
      <p:pic>
        <p:nvPicPr>
          <p:cNvPr id="12" name="Image 2" descr="icons/chart.png">    </p:cNvPr>
          <p:cNvPicPr>
            <a:picLocks noChangeAspect="1"/>
          </p:cNvPicPr>
          <p:nvPr/>
        </p:nvPicPr>
        <p:blipFill>
          <a:blip r:embed="rId3"/>
          <a:stretch>
            <a:fillRect/>
          </a:stretch>
        </p:blipFill>
        <p:spPr>
          <a:xfrm>
            <a:off x="4480560" y="3268980"/>
            <a:ext cx="1280160" cy="1280160"/>
          </a:xfrm>
          <a:prstGeom prst="rect">
            <a:avLst/>
          </a:prstGeom>
        </p:spPr>
      </p:pic>
      <p:sp>
        <p:nvSpPr>
          <p:cNvPr id="13" name="Text 7"/>
          <p:cNvSpPr txBox="1"/>
          <p:nvPr/>
        </p:nvSpPr>
        <p:spPr>
          <a:xfrm>
            <a:off x="5943600" y="3108960"/>
            <a:ext cx="1737360" cy="420624"/>
          </a:xfrm>
          <a:prstGeom prst="rect">
            <a:avLst/>
          </a:prstGeom>
          <a:noFill/>
          <a:ln/>
        </p:spPr>
        <p:txBody>
          <a:bodyPr wrap="square" lIns="0" tIns="0" rIns="0" bIns="0" rtlCol="0" anchor="ctr"/>
          <a:lstStyle/>
          <a:p>
            <a:pPr algn="l" indent="0" marL="0">
              <a:buNone/>
            </a:pPr>
            <a:r>
              <a:rPr lang="en-US" sz="1800" b="1" dirty="0">
                <a:solidFill>
                  <a:srgbClr val="1D1438"/>
                </a:solidFill>
                <a:latin typeface="Times New Roman" pitchFamily="34" charset="0"/>
                <a:ea typeface="Times New Roman" pitchFamily="34" charset="-122"/>
                <a:cs typeface="Times New Roman" pitchFamily="34" charset="-120"/>
              </a:rPr>
              <a:t>The task</a:t>
            </a:r>
            <a:endParaRPr lang="en-US" sz="1800" dirty="0"/>
          </a:p>
        </p:txBody>
      </p:sp>
      <p:sp>
        <p:nvSpPr>
          <p:cNvPr id="14" name="Text 8"/>
          <p:cNvSpPr txBox="1"/>
          <p:nvPr/>
        </p:nvSpPr>
        <p:spPr>
          <a:xfrm>
            <a:off x="5943600" y="3584448"/>
            <a:ext cx="1737360" cy="1307592"/>
          </a:xfrm>
          <a:prstGeom prst="rect">
            <a:avLst/>
          </a:prstGeom>
          <a:noFill/>
          <a:ln/>
        </p:spPr>
        <p:txBody>
          <a:bodyPr wrap="square" lIns="0" tIns="0" rIns="0" bIns="0" rtlCol="0" anchor="t"/>
          <a:lstStyle/>
          <a:p>
            <a:pPr algn="l" indent="0" marL="0">
              <a:buNone/>
            </a:pPr>
            <a:r>
              <a:rPr lang="en-US" sz="1450" dirty="0">
                <a:solidFill>
                  <a:srgbClr val="1D1438"/>
                </a:solidFill>
                <a:latin typeface="Times New Roman" pitchFamily="34" charset="0"/>
                <a:ea typeface="Times New Roman" pitchFamily="34" charset="-122"/>
                <a:cs typeface="Times New Roman" pitchFamily="34" charset="-120"/>
              </a:rPr>
              <a:t>Supervised regression: predict a grade from 0 to 20 for each student.</a:t>
            </a:r>
            <a:endParaRPr lang="en-US" sz="1450" dirty="0"/>
          </a:p>
        </p:txBody>
      </p:sp>
      <p:sp>
        <p:nvSpPr>
          <p:cNvPr id="15" name="Shape 9"/>
          <p:cNvSpPr/>
          <p:nvPr/>
        </p:nvSpPr>
        <p:spPr>
          <a:xfrm>
            <a:off x="8092440" y="2788920"/>
            <a:ext cx="3566160" cy="2240280"/>
          </a:xfrm>
          <a:prstGeom prst="rect">
            <a:avLst/>
          </a:prstGeom>
          <a:solidFill>
            <a:srgbClr val="DBF5EC"/>
          </a:solidFill>
          <a:ln w="12700">
            <a:solidFill>
              <a:srgbClr val="DBF5EC"/>
            </a:solidFill>
            <a:prstDash val="solid"/>
          </a:ln>
        </p:spPr>
      </p:sp>
      <p:pic>
        <p:nvPicPr>
          <p:cNvPr id="16" name="Image 3" descr="icons/target.png">    </p:cNvPr>
          <p:cNvPicPr>
            <a:picLocks noChangeAspect="1"/>
          </p:cNvPicPr>
          <p:nvPr/>
        </p:nvPicPr>
        <p:blipFill>
          <a:blip r:embed="rId4"/>
          <a:stretch>
            <a:fillRect/>
          </a:stretch>
        </p:blipFill>
        <p:spPr>
          <a:xfrm>
            <a:off x="8275320" y="3268980"/>
            <a:ext cx="1280160" cy="1280160"/>
          </a:xfrm>
          <a:prstGeom prst="rect">
            <a:avLst/>
          </a:prstGeom>
        </p:spPr>
      </p:pic>
      <p:sp>
        <p:nvSpPr>
          <p:cNvPr id="17" name="Text 10"/>
          <p:cNvSpPr txBox="1"/>
          <p:nvPr/>
        </p:nvSpPr>
        <p:spPr>
          <a:xfrm>
            <a:off x="9738360" y="3108960"/>
            <a:ext cx="1737360" cy="420624"/>
          </a:xfrm>
          <a:prstGeom prst="rect">
            <a:avLst/>
          </a:prstGeom>
          <a:noFill/>
          <a:ln/>
        </p:spPr>
        <p:txBody>
          <a:bodyPr wrap="square" lIns="0" tIns="0" rIns="0" bIns="0" rtlCol="0" anchor="ctr"/>
          <a:lstStyle/>
          <a:p>
            <a:pPr algn="l" indent="0" marL="0">
              <a:buNone/>
            </a:pPr>
            <a:r>
              <a:rPr lang="en-US" sz="1800" b="1" dirty="0">
                <a:solidFill>
                  <a:srgbClr val="1D1438"/>
                </a:solidFill>
                <a:latin typeface="Times New Roman" pitchFamily="34" charset="0"/>
                <a:ea typeface="Times New Roman" pitchFamily="34" charset="-122"/>
                <a:cs typeface="Times New Roman" pitchFamily="34" charset="-120"/>
              </a:rPr>
              <a:t>How we judge it</a:t>
            </a:r>
            <a:endParaRPr lang="en-US" sz="1800" dirty="0"/>
          </a:p>
        </p:txBody>
      </p:sp>
      <p:sp>
        <p:nvSpPr>
          <p:cNvPr id="18" name="Text 11"/>
          <p:cNvSpPr txBox="1"/>
          <p:nvPr/>
        </p:nvSpPr>
        <p:spPr>
          <a:xfrm>
            <a:off x="9738360" y="3584448"/>
            <a:ext cx="1737360" cy="1307592"/>
          </a:xfrm>
          <a:prstGeom prst="rect">
            <a:avLst/>
          </a:prstGeom>
          <a:noFill/>
          <a:ln/>
        </p:spPr>
        <p:txBody>
          <a:bodyPr wrap="square" lIns="0" tIns="0" rIns="0" bIns="0" rtlCol="0" anchor="t"/>
          <a:lstStyle/>
          <a:p>
            <a:pPr algn="l" indent="0" marL="0">
              <a:buNone/>
            </a:pPr>
            <a:r>
              <a:rPr lang="en-US" sz="1450" dirty="0">
                <a:solidFill>
                  <a:srgbClr val="1D1438"/>
                </a:solidFill>
                <a:latin typeface="Times New Roman" pitchFamily="34" charset="0"/>
                <a:ea typeface="Times New Roman" pitchFamily="34" charset="-122"/>
                <a:cs typeface="Times New Roman" pitchFamily="34" charset="-120"/>
              </a:rPr>
              <a:t>MSE and R² on students the model has never seen.</a:t>
            </a:r>
            <a:endParaRPr lang="en-US" sz="1450" dirty="0"/>
          </a:p>
        </p:txBody>
      </p:sp>
      <p:sp>
        <p:nvSpPr>
          <p:cNvPr id="19" name="Shape 12"/>
          <p:cNvSpPr/>
          <p:nvPr/>
        </p:nvSpPr>
        <p:spPr>
          <a:xfrm>
            <a:off x="502920" y="5257800"/>
            <a:ext cx="11155680" cy="914400"/>
          </a:xfrm>
          <a:prstGeom prst="rect">
            <a:avLst/>
          </a:prstGeom>
          <a:solidFill>
            <a:srgbClr val="ECE4FF"/>
          </a:solidFill>
          <a:ln w="12700">
            <a:solidFill>
              <a:srgbClr val="ECE4FF"/>
            </a:solidFill>
            <a:prstDash val="solid"/>
          </a:ln>
        </p:spPr>
      </p:sp>
      <p:sp>
        <p:nvSpPr>
          <p:cNvPr id="20" name="Text 13"/>
          <p:cNvSpPr txBox="1"/>
          <p:nvPr/>
        </p:nvSpPr>
        <p:spPr>
          <a:xfrm>
            <a:off x="777240" y="5257800"/>
            <a:ext cx="10607040" cy="914400"/>
          </a:xfrm>
          <a:prstGeom prst="rect">
            <a:avLst/>
          </a:prstGeom>
          <a:noFill/>
          <a:ln/>
        </p:spPr>
        <p:txBody>
          <a:bodyPr wrap="square" lIns="0" tIns="0" rIns="0" bIns="0" rtlCol="0" anchor="ctr"/>
          <a:lstStyle/>
          <a:p>
            <a:pPr indent="0" marL="0">
              <a:buNone/>
            </a:pPr>
            <a:r>
              <a:rPr lang="en-US" sz="1700" b="1" dirty="0">
                <a:solidFill>
                  <a:srgbClr val="7C4DFF"/>
                </a:solidFill>
                <a:latin typeface="Times New Roman" pitchFamily="34" charset="0"/>
                <a:ea typeface="Times New Roman" pitchFamily="34" charset="-122"/>
                <a:cs typeface="Times New Roman" pitchFamily="34" charset="-120"/>
              </a:rPr>
              <a:t>Two scenarios:  </a:t>
            </a:r>
            <a:pPr indent="0" marL="0">
              <a:buNone/>
            </a:pPr>
            <a:r>
              <a:rPr lang="en-US" sz="1700" dirty="0">
                <a:solidFill>
                  <a:srgbClr val="1D1438"/>
                </a:solidFill>
                <a:latin typeface="Times New Roman" pitchFamily="34" charset="0"/>
                <a:ea typeface="Times New Roman" pitchFamily="34" charset="-122"/>
                <a:cs typeface="Times New Roman" pitchFamily="34" charset="-120"/>
              </a:rPr>
              <a:t>with earlier grades G1/G2 (late in the year) and without them (early warning).</a:t>
            </a:r>
            <a:endParaRPr lang="en-US" sz="1700" dirty="0"/>
          </a:p>
        </p:txBody>
      </p:sp>
    </p:spTree>
  </p:cSld>
  <p:clrMapOvr>
    <a:masterClrMapping/>
  </p:clrMapOvr>
  <mc:AlternateContent xmlns:mc="http://schemas.openxmlformats.org/markup-compatibility/2006">
    <mc:Choice xmlns:p14="http://schemas.microsoft.com/office/powerpoint/2010/main" Requires="p14">
      <p:transition spd="slow" p14:dur="2000">
        <p14:honeycomb/>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Dataset Description</a:t>
            </a:r>
            <a:endParaRPr lang="en-US" sz="3200" dirty="0"/>
          </a:p>
        </p:txBody>
      </p:sp>
      <p:sp>
        <p:nvSpPr>
          <p:cNvPr id="5" name="Shape 1"/>
          <p:cNvSpPr/>
          <p:nvPr/>
        </p:nvSpPr>
        <p:spPr>
          <a:xfrm>
            <a:off x="502920" y="1325880"/>
            <a:ext cx="2606040" cy="1325880"/>
          </a:xfrm>
          <a:prstGeom prst="rect">
            <a:avLst/>
          </a:prstGeom>
          <a:solidFill>
            <a:srgbClr val="F0287A"/>
          </a:solidFill>
          <a:ln w="12700">
            <a:solidFill>
              <a:srgbClr val="F0287A"/>
            </a:solidFill>
            <a:prstDash val="solid"/>
          </a:ln>
        </p:spPr>
      </p:sp>
      <p:sp>
        <p:nvSpPr>
          <p:cNvPr id="6" name="Text 2"/>
          <p:cNvSpPr txBox="1"/>
          <p:nvPr/>
        </p:nvSpPr>
        <p:spPr>
          <a:xfrm>
            <a:off x="502920" y="1435608"/>
            <a:ext cx="2606040" cy="769010"/>
          </a:xfrm>
          <a:prstGeom prst="rect">
            <a:avLst/>
          </a:prstGeom>
          <a:noFill/>
          <a:ln/>
        </p:spPr>
        <p:txBody>
          <a:bodyPr wrap="square" lIns="0" tIns="0" rIns="0" bIns="0" rtlCol="0" anchor="ctr"/>
          <a:lstStyle/>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395</a:t>
            </a:r>
            <a:endParaRPr lang="en-US" sz="4000" dirty="0"/>
          </a:p>
        </p:txBody>
      </p:sp>
      <p:sp>
        <p:nvSpPr>
          <p:cNvPr id="7" name="Text 3"/>
          <p:cNvSpPr txBox="1"/>
          <p:nvPr/>
        </p:nvSpPr>
        <p:spPr>
          <a:xfrm>
            <a:off x="640080" y="2147926"/>
            <a:ext cx="2331720" cy="424282"/>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students</a:t>
            </a:r>
            <a:endParaRPr lang="en-US" sz="1300" dirty="0"/>
          </a:p>
        </p:txBody>
      </p:sp>
      <p:sp>
        <p:nvSpPr>
          <p:cNvPr id="8" name="Shape 4"/>
          <p:cNvSpPr/>
          <p:nvPr/>
        </p:nvSpPr>
        <p:spPr>
          <a:xfrm>
            <a:off x="3337560" y="1325880"/>
            <a:ext cx="2606040" cy="1325880"/>
          </a:xfrm>
          <a:prstGeom prst="rect">
            <a:avLst/>
          </a:prstGeom>
          <a:solidFill>
            <a:srgbClr val="0096D6"/>
          </a:solidFill>
          <a:ln w="12700">
            <a:solidFill>
              <a:srgbClr val="0096D6"/>
            </a:solidFill>
            <a:prstDash val="solid"/>
          </a:ln>
        </p:spPr>
      </p:sp>
      <p:sp>
        <p:nvSpPr>
          <p:cNvPr id="9" name="Text 5"/>
          <p:cNvSpPr txBox="1"/>
          <p:nvPr/>
        </p:nvSpPr>
        <p:spPr>
          <a:xfrm>
            <a:off x="3337560" y="1435608"/>
            <a:ext cx="2606040" cy="769010"/>
          </a:xfrm>
          <a:prstGeom prst="rect">
            <a:avLst/>
          </a:prstGeom>
          <a:noFill/>
          <a:ln/>
        </p:spPr>
        <p:txBody>
          <a:bodyPr wrap="square" lIns="0" tIns="0" rIns="0" bIns="0" rtlCol="0" anchor="ctr"/>
          <a:lstStyle/>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33</a:t>
            </a:r>
            <a:endParaRPr lang="en-US" sz="4000" dirty="0"/>
          </a:p>
        </p:txBody>
      </p:sp>
      <p:sp>
        <p:nvSpPr>
          <p:cNvPr id="10" name="Text 6"/>
          <p:cNvSpPr txBox="1"/>
          <p:nvPr/>
        </p:nvSpPr>
        <p:spPr>
          <a:xfrm>
            <a:off x="3474720" y="2147926"/>
            <a:ext cx="2331720" cy="424282"/>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attributes</a:t>
            </a:r>
            <a:endParaRPr lang="en-US" sz="1300" dirty="0"/>
          </a:p>
        </p:txBody>
      </p:sp>
      <p:sp>
        <p:nvSpPr>
          <p:cNvPr id="11" name="Shape 7"/>
          <p:cNvSpPr/>
          <p:nvPr/>
        </p:nvSpPr>
        <p:spPr>
          <a:xfrm>
            <a:off x="6172200" y="1325880"/>
            <a:ext cx="2606040" cy="1325880"/>
          </a:xfrm>
          <a:prstGeom prst="rect">
            <a:avLst/>
          </a:prstGeom>
          <a:solidFill>
            <a:srgbClr val="0FA47A"/>
          </a:solidFill>
          <a:ln w="12700">
            <a:solidFill>
              <a:srgbClr val="0FA47A"/>
            </a:solidFill>
            <a:prstDash val="solid"/>
          </a:ln>
        </p:spPr>
      </p:sp>
      <p:sp>
        <p:nvSpPr>
          <p:cNvPr id="12" name="Text 8"/>
          <p:cNvSpPr txBox="1"/>
          <p:nvPr/>
        </p:nvSpPr>
        <p:spPr>
          <a:xfrm>
            <a:off x="6172200" y="1435608"/>
            <a:ext cx="2606040" cy="769010"/>
          </a:xfrm>
          <a:prstGeom prst="rect">
            <a:avLst/>
          </a:prstGeom>
          <a:noFill/>
          <a:ln/>
        </p:spPr>
        <p:txBody>
          <a:bodyPr wrap="square" lIns="0" tIns="0" rIns="0" bIns="0" rtlCol="0" anchor="ctr"/>
          <a:lstStyle/>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0</a:t>
            </a:r>
            <a:endParaRPr lang="en-US" sz="4000" dirty="0"/>
          </a:p>
        </p:txBody>
      </p:sp>
      <p:sp>
        <p:nvSpPr>
          <p:cNvPr id="13" name="Text 9"/>
          <p:cNvSpPr txBox="1"/>
          <p:nvPr/>
        </p:nvSpPr>
        <p:spPr>
          <a:xfrm>
            <a:off x="6309360" y="2147926"/>
            <a:ext cx="2331720" cy="424282"/>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missing values</a:t>
            </a:r>
            <a:endParaRPr lang="en-US" sz="1300" dirty="0"/>
          </a:p>
        </p:txBody>
      </p:sp>
      <p:sp>
        <p:nvSpPr>
          <p:cNvPr id="14" name="Shape 10"/>
          <p:cNvSpPr/>
          <p:nvPr/>
        </p:nvSpPr>
        <p:spPr>
          <a:xfrm>
            <a:off x="9006840" y="1325880"/>
            <a:ext cx="2651760" cy="1325880"/>
          </a:xfrm>
          <a:prstGeom prst="rect">
            <a:avLst/>
          </a:prstGeom>
          <a:solidFill>
            <a:srgbClr val="7C4DFF"/>
          </a:solidFill>
          <a:ln w="12700">
            <a:solidFill>
              <a:srgbClr val="7C4DFF"/>
            </a:solidFill>
            <a:prstDash val="solid"/>
          </a:ln>
        </p:spPr>
      </p:sp>
      <p:sp>
        <p:nvSpPr>
          <p:cNvPr id="15" name="Text 11"/>
          <p:cNvSpPr txBox="1"/>
          <p:nvPr/>
        </p:nvSpPr>
        <p:spPr>
          <a:xfrm>
            <a:off x="9006840" y="1435608"/>
            <a:ext cx="2651760" cy="769010"/>
          </a:xfrm>
          <a:prstGeom prst="rect">
            <a:avLst/>
          </a:prstGeom>
          <a:noFill/>
          <a:ln/>
        </p:spPr>
        <p:txBody>
          <a:bodyPr wrap="square" lIns="0" tIns="0" rIns="0" bIns="0" rtlCol="0" anchor="ctr"/>
          <a:lstStyle/>
          <a:p>
            <a:pPr algn="ctr" indent="0" marL="0">
              <a:buNone/>
            </a:pPr>
            <a:r>
              <a:rPr lang="en-US" sz="4000" b="1" dirty="0">
                <a:solidFill>
                  <a:srgbClr val="FFFFFF"/>
                </a:solidFill>
                <a:latin typeface="Times New Roman" pitchFamily="34" charset="0"/>
                <a:ea typeface="Times New Roman" pitchFamily="34" charset="-122"/>
                <a:cs typeface="Times New Roman" pitchFamily="34" charset="-120"/>
              </a:rPr>
              <a:t>0–20</a:t>
            </a:r>
            <a:endParaRPr lang="en-US" sz="4000" dirty="0"/>
          </a:p>
        </p:txBody>
      </p:sp>
      <p:sp>
        <p:nvSpPr>
          <p:cNvPr id="16" name="Text 12"/>
          <p:cNvSpPr txBox="1"/>
          <p:nvPr/>
        </p:nvSpPr>
        <p:spPr>
          <a:xfrm>
            <a:off x="9144000" y="2147926"/>
            <a:ext cx="2377440" cy="424282"/>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grade scale (target G3)</a:t>
            </a:r>
            <a:endParaRPr lang="en-US" sz="1300" dirty="0"/>
          </a:p>
        </p:txBody>
      </p:sp>
      <p:sp>
        <p:nvSpPr>
          <p:cNvPr id="17" name="Shape 13"/>
          <p:cNvSpPr/>
          <p:nvPr/>
        </p:nvSpPr>
        <p:spPr>
          <a:xfrm>
            <a:off x="502920" y="2880360"/>
            <a:ext cx="2651760" cy="2743200"/>
          </a:xfrm>
          <a:prstGeom prst="rect">
            <a:avLst/>
          </a:prstGeom>
          <a:solidFill>
            <a:srgbClr val="FFE3EF"/>
          </a:solidFill>
          <a:ln w="12700">
            <a:solidFill>
              <a:srgbClr val="FFE3EF"/>
            </a:solidFill>
            <a:prstDash val="solid"/>
          </a:ln>
        </p:spPr>
      </p:sp>
      <p:pic>
        <p:nvPicPr>
          <p:cNvPr id="18" name="Image 1" descr="icons/idcard.png">    </p:cNvPr>
          <p:cNvPicPr>
            <a:picLocks noChangeAspect="1"/>
          </p:cNvPicPr>
          <p:nvPr/>
        </p:nvPicPr>
        <p:blipFill>
          <a:blip r:embed="rId2"/>
          <a:stretch>
            <a:fillRect/>
          </a:stretch>
        </p:blipFill>
        <p:spPr>
          <a:xfrm>
            <a:off x="1280160" y="3063240"/>
            <a:ext cx="1097280" cy="1097280"/>
          </a:xfrm>
          <a:prstGeom prst="rect">
            <a:avLst/>
          </a:prstGeom>
        </p:spPr>
      </p:pic>
      <p:sp>
        <p:nvSpPr>
          <p:cNvPr id="19" name="Text 14"/>
          <p:cNvSpPr txBox="1"/>
          <p:nvPr/>
        </p:nvSpPr>
        <p:spPr>
          <a:xfrm>
            <a:off x="731520" y="4251960"/>
            <a:ext cx="2194560" cy="420624"/>
          </a:xfrm>
          <a:prstGeom prst="rect">
            <a:avLst/>
          </a:prstGeom>
          <a:noFill/>
          <a:ln/>
        </p:spPr>
        <p:txBody>
          <a:bodyPr wrap="square" lIns="0" tIns="0" rIns="0" bIns="0" rtlCol="0" anchor="ctr"/>
          <a:lstStyle/>
          <a:p>
            <a:pPr algn="ctr" indent="0" marL="0">
              <a:buNone/>
            </a:pPr>
            <a:r>
              <a:rPr lang="en-US" sz="1800" b="1" dirty="0">
                <a:solidFill>
                  <a:srgbClr val="1D1438"/>
                </a:solidFill>
                <a:latin typeface="Times New Roman" pitchFamily="34" charset="0"/>
                <a:ea typeface="Times New Roman" pitchFamily="34" charset="-122"/>
                <a:cs typeface="Times New Roman" pitchFamily="34" charset="-120"/>
              </a:rPr>
              <a:t>Demographic</a:t>
            </a:r>
            <a:endParaRPr lang="en-US" sz="1800" dirty="0"/>
          </a:p>
        </p:txBody>
      </p:sp>
      <p:sp>
        <p:nvSpPr>
          <p:cNvPr id="20" name="Text 15"/>
          <p:cNvSpPr txBox="1"/>
          <p:nvPr/>
        </p:nvSpPr>
        <p:spPr>
          <a:xfrm>
            <a:off x="731520" y="4727448"/>
            <a:ext cx="2194560" cy="758952"/>
          </a:xfrm>
          <a:prstGeom prst="rect">
            <a:avLst/>
          </a:prstGeom>
          <a:noFill/>
          <a:ln/>
        </p:spPr>
        <p:txBody>
          <a:bodyPr wrap="square" lIns="0" tIns="0" rIns="0" bIns="0" rtlCol="0" anchor="t"/>
          <a:lstStyle/>
          <a:p>
            <a:pPr algn="ctr" indent="0" marL="0">
              <a:buNone/>
            </a:pPr>
            <a:r>
              <a:rPr lang="en-US" sz="1350" dirty="0">
                <a:solidFill>
                  <a:srgbClr val="1D1438"/>
                </a:solidFill>
                <a:latin typeface="Times New Roman" pitchFamily="34" charset="0"/>
                <a:ea typeface="Times New Roman" pitchFamily="34" charset="-122"/>
                <a:cs typeface="Times New Roman" pitchFamily="34" charset="-120"/>
              </a:rPr>
              <a:t>School, sex, age, home address, family size</a:t>
            </a:r>
            <a:endParaRPr lang="en-US" sz="1350" dirty="0"/>
          </a:p>
        </p:txBody>
      </p:sp>
      <p:sp>
        <p:nvSpPr>
          <p:cNvPr id="21" name="Shape 16"/>
          <p:cNvSpPr/>
          <p:nvPr/>
        </p:nvSpPr>
        <p:spPr>
          <a:xfrm>
            <a:off x="3337560" y="2880360"/>
            <a:ext cx="2651760" cy="2743200"/>
          </a:xfrm>
          <a:prstGeom prst="rect">
            <a:avLst/>
          </a:prstGeom>
          <a:solidFill>
            <a:srgbClr val="FFF1D6"/>
          </a:solidFill>
          <a:ln w="12700">
            <a:solidFill>
              <a:srgbClr val="FFF1D6"/>
            </a:solidFill>
            <a:prstDash val="solid"/>
          </a:ln>
        </p:spPr>
      </p:sp>
      <p:pic>
        <p:nvPicPr>
          <p:cNvPr id="22" name="Image 2" descr="icons/house.png">    </p:cNvPr>
          <p:cNvPicPr>
            <a:picLocks noChangeAspect="1"/>
          </p:cNvPicPr>
          <p:nvPr/>
        </p:nvPicPr>
        <p:blipFill>
          <a:blip r:embed="rId3"/>
          <a:stretch>
            <a:fillRect/>
          </a:stretch>
        </p:blipFill>
        <p:spPr>
          <a:xfrm>
            <a:off x="4114800" y="3063240"/>
            <a:ext cx="1097280" cy="1097280"/>
          </a:xfrm>
          <a:prstGeom prst="rect">
            <a:avLst/>
          </a:prstGeom>
        </p:spPr>
      </p:pic>
      <p:sp>
        <p:nvSpPr>
          <p:cNvPr id="23" name="Text 17"/>
          <p:cNvSpPr txBox="1"/>
          <p:nvPr/>
        </p:nvSpPr>
        <p:spPr>
          <a:xfrm>
            <a:off x="3566160" y="4251960"/>
            <a:ext cx="2194560" cy="420624"/>
          </a:xfrm>
          <a:prstGeom prst="rect">
            <a:avLst/>
          </a:prstGeom>
          <a:noFill/>
          <a:ln/>
        </p:spPr>
        <p:txBody>
          <a:bodyPr wrap="square" lIns="0" tIns="0" rIns="0" bIns="0" rtlCol="0" anchor="ctr"/>
          <a:lstStyle/>
          <a:p>
            <a:pPr algn="ctr" indent="0" marL="0">
              <a:buNone/>
            </a:pPr>
            <a:r>
              <a:rPr lang="en-US" sz="1800" b="1" dirty="0">
                <a:solidFill>
                  <a:srgbClr val="1D1438"/>
                </a:solidFill>
                <a:latin typeface="Times New Roman" pitchFamily="34" charset="0"/>
                <a:ea typeface="Times New Roman" pitchFamily="34" charset="-122"/>
                <a:cs typeface="Times New Roman" pitchFamily="34" charset="-120"/>
              </a:rPr>
              <a:t>Family</a:t>
            </a:r>
            <a:endParaRPr lang="en-US" sz="1800" dirty="0"/>
          </a:p>
        </p:txBody>
      </p:sp>
      <p:sp>
        <p:nvSpPr>
          <p:cNvPr id="24" name="Text 18"/>
          <p:cNvSpPr txBox="1"/>
          <p:nvPr/>
        </p:nvSpPr>
        <p:spPr>
          <a:xfrm>
            <a:off x="3566160" y="4727448"/>
            <a:ext cx="2194560" cy="758952"/>
          </a:xfrm>
          <a:prstGeom prst="rect">
            <a:avLst/>
          </a:prstGeom>
          <a:noFill/>
          <a:ln/>
        </p:spPr>
        <p:txBody>
          <a:bodyPr wrap="square" lIns="0" tIns="0" rIns="0" bIns="0" rtlCol="0" anchor="t"/>
          <a:lstStyle/>
          <a:p>
            <a:pPr algn="ctr" indent="0" marL="0">
              <a:buNone/>
            </a:pPr>
            <a:r>
              <a:rPr lang="en-US" sz="1350" dirty="0">
                <a:solidFill>
                  <a:srgbClr val="1D1438"/>
                </a:solidFill>
                <a:latin typeface="Times New Roman" pitchFamily="34" charset="0"/>
                <a:ea typeface="Times New Roman" pitchFamily="34" charset="-122"/>
                <a:cs typeface="Times New Roman" pitchFamily="34" charset="-120"/>
              </a:rPr>
              <a:t>Parents' education and jobs, guardian, family support</a:t>
            </a:r>
            <a:endParaRPr lang="en-US" sz="1350" dirty="0"/>
          </a:p>
        </p:txBody>
      </p:sp>
      <p:sp>
        <p:nvSpPr>
          <p:cNvPr id="25" name="Shape 19"/>
          <p:cNvSpPr/>
          <p:nvPr/>
        </p:nvSpPr>
        <p:spPr>
          <a:xfrm>
            <a:off x="6172200" y="2880360"/>
            <a:ext cx="2651760" cy="2743200"/>
          </a:xfrm>
          <a:prstGeom prst="rect">
            <a:avLst/>
          </a:prstGeom>
          <a:solidFill>
            <a:srgbClr val="DBF5EC"/>
          </a:solidFill>
          <a:ln w="12700">
            <a:solidFill>
              <a:srgbClr val="DBF5EC"/>
            </a:solidFill>
            <a:prstDash val="solid"/>
          </a:ln>
        </p:spPr>
      </p:sp>
      <p:pic>
        <p:nvPicPr>
          <p:cNvPr id="26" name="Image 3" descr="icons/school.png">    </p:cNvPr>
          <p:cNvPicPr>
            <a:picLocks noChangeAspect="1"/>
          </p:cNvPicPr>
          <p:nvPr/>
        </p:nvPicPr>
        <p:blipFill>
          <a:blip r:embed="rId4"/>
          <a:stretch>
            <a:fillRect/>
          </a:stretch>
        </p:blipFill>
        <p:spPr>
          <a:xfrm>
            <a:off x="6949440" y="3063240"/>
            <a:ext cx="1097280" cy="1097280"/>
          </a:xfrm>
          <a:prstGeom prst="rect">
            <a:avLst/>
          </a:prstGeom>
        </p:spPr>
      </p:pic>
      <p:sp>
        <p:nvSpPr>
          <p:cNvPr id="27" name="Text 20"/>
          <p:cNvSpPr txBox="1"/>
          <p:nvPr/>
        </p:nvSpPr>
        <p:spPr>
          <a:xfrm>
            <a:off x="6400800" y="4251960"/>
            <a:ext cx="2194560" cy="420624"/>
          </a:xfrm>
          <a:prstGeom prst="rect">
            <a:avLst/>
          </a:prstGeom>
          <a:noFill/>
          <a:ln/>
        </p:spPr>
        <p:txBody>
          <a:bodyPr wrap="square" lIns="0" tIns="0" rIns="0" bIns="0" rtlCol="0" anchor="ctr"/>
          <a:lstStyle/>
          <a:p>
            <a:pPr algn="ctr" indent="0" marL="0">
              <a:buNone/>
            </a:pPr>
            <a:r>
              <a:rPr lang="en-US" sz="1800" b="1" dirty="0">
                <a:solidFill>
                  <a:srgbClr val="1D1438"/>
                </a:solidFill>
                <a:latin typeface="Times New Roman" pitchFamily="34" charset="0"/>
                <a:ea typeface="Times New Roman" pitchFamily="34" charset="-122"/>
                <a:cs typeface="Times New Roman" pitchFamily="34" charset="-120"/>
              </a:rPr>
              <a:t>School</a:t>
            </a:r>
            <a:endParaRPr lang="en-US" sz="1800" dirty="0"/>
          </a:p>
        </p:txBody>
      </p:sp>
      <p:sp>
        <p:nvSpPr>
          <p:cNvPr id="28" name="Text 21"/>
          <p:cNvSpPr txBox="1"/>
          <p:nvPr/>
        </p:nvSpPr>
        <p:spPr>
          <a:xfrm>
            <a:off x="6400800" y="4727448"/>
            <a:ext cx="2194560" cy="758952"/>
          </a:xfrm>
          <a:prstGeom prst="rect">
            <a:avLst/>
          </a:prstGeom>
          <a:noFill/>
          <a:ln/>
        </p:spPr>
        <p:txBody>
          <a:bodyPr wrap="square" lIns="0" tIns="0" rIns="0" bIns="0" rtlCol="0" anchor="t"/>
          <a:lstStyle/>
          <a:p>
            <a:pPr algn="ctr" indent="0" marL="0">
              <a:buNone/>
            </a:pPr>
            <a:r>
              <a:rPr lang="en-US" sz="1350" dirty="0">
                <a:solidFill>
                  <a:srgbClr val="1D1438"/>
                </a:solidFill>
                <a:latin typeface="Times New Roman" pitchFamily="34" charset="0"/>
                <a:ea typeface="Times New Roman" pitchFamily="34" charset="-122"/>
                <a:cs typeface="Times New Roman" pitchFamily="34" charset="-120"/>
              </a:rPr>
              <a:t>Study time, past failures, extra classes, absences</a:t>
            </a:r>
            <a:endParaRPr lang="en-US" sz="1350" dirty="0"/>
          </a:p>
        </p:txBody>
      </p:sp>
      <p:sp>
        <p:nvSpPr>
          <p:cNvPr id="29" name="Shape 22"/>
          <p:cNvSpPr/>
          <p:nvPr/>
        </p:nvSpPr>
        <p:spPr>
          <a:xfrm>
            <a:off x="9006840" y="2880360"/>
            <a:ext cx="2651760" cy="2743200"/>
          </a:xfrm>
          <a:prstGeom prst="rect">
            <a:avLst/>
          </a:prstGeom>
          <a:solidFill>
            <a:srgbClr val="DDF2FC"/>
          </a:solidFill>
          <a:ln w="12700">
            <a:solidFill>
              <a:srgbClr val="DDF2FC"/>
            </a:solidFill>
            <a:prstDash val="solid"/>
          </a:ln>
        </p:spPr>
      </p:sp>
      <p:pic>
        <p:nvPicPr>
          <p:cNvPr id="30" name="Image 4" descr="icons/social.png">    </p:cNvPr>
          <p:cNvPicPr>
            <a:picLocks noChangeAspect="1"/>
          </p:cNvPicPr>
          <p:nvPr/>
        </p:nvPicPr>
        <p:blipFill>
          <a:blip r:embed="rId5"/>
          <a:stretch>
            <a:fillRect/>
          </a:stretch>
        </p:blipFill>
        <p:spPr>
          <a:xfrm>
            <a:off x="9784080" y="3063240"/>
            <a:ext cx="1097280" cy="1097280"/>
          </a:xfrm>
          <a:prstGeom prst="rect">
            <a:avLst/>
          </a:prstGeom>
        </p:spPr>
      </p:pic>
      <p:sp>
        <p:nvSpPr>
          <p:cNvPr id="31" name="Text 23"/>
          <p:cNvSpPr txBox="1"/>
          <p:nvPr/>
        </p:nvSpPr>
        <p:spPr>
          <a:xfrm>
            <a:off x="9235440" y="4251960"/>
            <a:ext cx="2194560" cy="420624"/>
          </a:xfrm>
          <a:prstGeom prst="rect">
            <a:avLst/>
          </a:prstGeom>
          <a:noFill/>
          <a:ln/>
        </p:spPr>
        <p:txBody>
          <a:bodyPr wrap="square" lIns="0" tIns="0" rIns="0" bIns="0" rtlCol="0" anchor="ctr"/>
          <a:lstStyle/>
          <a:p>
            <a:pPr algn="ctr" indent="0" marL="0">
              <a:buNone/>
            </a:pPr>
            <a:r>
              <a:rPr lang="en-US" sz="1800" b="1" dirty="0">
                <a:solidFill>
                  <a:srgbClr val="1D1438"/>
                </a:solidFill>
                <a:latin typeface="Times New Roman" pitchFamily="34" charset="0"/>
                <a:ea typeface="Times New Roman" pitchFamily="34" charset="-122"/>
                <a:cs typeface="Times New Roman" pitchFamily="34" charset="-120"/>
              </a:rPr>
              <a:t>Social</a:t>
            </a:r>
            <a:endParaRPr lang="en-US" sz="1800" dirty="0"/>
          </a:p>
        </p:txBody>
      </p:sp>
      <p:sp>
        <p:nvSpPr>
          <p:cNvPr id="32" name="Text 24"/>
          <p:cNvSpPr txBox="1"/>
          <p:nvPr/>
        </p:nvSpPr>
        <p:spPr>
          <a:xfrm>
            <a:off x="9235440" y="4727448"/>
            <a:ext cx="2194560" cy="758952"/>
          </a:xfrm>
          <a:prstGeom prst="rect">
            <a:avLst/>
          </a:prstGeom>
          <a:noFill/>
          <a:ln/>
        </p:spPr>
        <p:txBody>
          <a:bodyPr wrap="square" lIns="0" tIns="0" rIns="0" bIns="0" rtlCol="0" anchor="t"/>
          <a:lstStyle/>
          <a:p>
            <a:pPr algn="ctr" indent="0" marL="0">
              <a:buNone/>
            </a:pPr>
            <a:r>
              <a:rPr lang="en-US" sz="1350" dirty="0">
                <a:solidFill>
                  <a:srgbClr val="1D1438"/>
                </a:solidFill>
                <a:latin typeface="Times New Roman" pitchFamily="34" charset="0"/>
                <a:ea typeface="Times New Roman" pitchFamily="34" charset="-122"/>
                <a:cs typeface="Times New Roman" pitchFamily="34" charset="-120"/>
              </a:rPr>
              <a:t>Going out, free time, relationships, alcohol use, health</a:t>
            </a:r>
            <a:endParaRPr lang="en-US" sz="1350" dirty="0"/>
          </a:p>
        </p:txBody>
      </p:sp>
      <p:sp>
        <p:nvSpPr>
          <p:cNvPr id="33" name="Text 25"/>
          <p:cNvSpPr txBox="1"/>
          <p:nvPr/>
        </p:nvSpPr>
        <p:spPr>
          <a:xfrm>
            <a:off x="502920" y="5852160"/>
            <a:ext cx="11155680" cy="365760"/>
          </a:xfrm>
          <a:prstGeom prst="rect">
            <a:avLst/>
          </a:prstGeom>
          <a:noFill/>
          <a:ln/>
        </p:spPr>
        <p:txBody>
          <a:bodyPr wrap="square" lIns="0" tIns="0" rIns="0" bIns="0" rtlCol="0" anchor="ctr"/>
          <a:lstStyle/>
          <a:p>
            <a:pPr indent="0" marL="0">
              <a:buNone/>
            </a:pPr>
            <a:r>
              <a:rPr lang="en-US" sz="1400" dirty="0">
                <a:solidFill>
                  <a:srgbClr val="5E5873"/>
                </a:solidFill>
                <a:latin typeface="Times New Roman" pitchFamily="34" charset="0"/>
                <a:ea typeface="Times New Roman" pitchFamily="34" charset="-122"/>
                <a:cs typeface="Times New Roman" pitchFamily="34" charset="-120"/>
              </a:rPr>
              <a:t>Grades: G1 = 1st period, G2 = 2nd period, G3 = final (what we predict). 16 numeric + 17 categorical columns.</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EDA: Descriptive Statistics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6035040" cy="914400"/>
        </p:xfrm>
        <a:graphic>
          <a:graphicData uri="http://schemas.openxmlformats.org/drawingml/2006/table">
            <a:tbl>
              <a:tblPr/>
              <a:tblGrid>
                <a:gridCol w="2194560"/>
                <a:gridCol w="1280160"/>
                <a:gridCol w="1280160"/>
                <a:gridCol w="1280160"/>
              </a:tblGrid>
              <a:tr h="548640">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Feature</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7C4DFF"/>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Mean</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7C4DFF"/>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Median</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7C4DFF"/>
                    </a:solidFill>
                  </a:tcPr>
                </a:tc>
                <a:tc>
                  <a:txBody>
                    <a:bodyP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Std Dev</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7C4DFF"/>
                    </a:solidFill>
                  </a:tcPr>
                </a:tc>
              </a:tr>
              <a:tr h="548640">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Age</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16.70</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17</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1.28</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r>
              <a:tr h="548640">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Absences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5.71</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4</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8.00</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r>
              <a:tr h="548640">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Study time (1–4)</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2.04</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2</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0.84</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r>
              <a:tr h="548640">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Past failures</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0.33</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0</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0.74</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r>
              <a:tr h="548640">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G1</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10.91</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11</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3.32</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r>
              <a:tr h="548640">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G2</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10.71</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11</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D1438"/>
                          </a:solidFill>
                          <a:latin typeface="Times New Roman" pitchFamily="34" charset="0"/>
                          <a:ea typeface="Times New Roman" pitchFamily="34" charset="-122"/>
                          <a:cs typeface="Times New Roman" pitchFamily="34" charset="-120"/>
                        </a:rPr>
                        <a:t>3.76</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r>
              <a:tr h="548640">
                <a:tc>
                  <a:txBody>
                    <a:bodyP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G3 (target)</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E3EF"/>
                    </a:solidFill>
                  </a:tcPr>
                </a:tc>
                <a:tc>
                  <a:txBody>
                    <a:bodyP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10.42</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E3EF"/>
                    </a:solidFill>
                  </a:tcPr>
                </a:tc>
                <a:tc>
                  <a:txBody>
                    <a:bodyP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11</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E3EF"/>
                    </a:solidFill>
                  </a:tcPr>
                </a:tc>
                <a:tc>
                  <a:txBody>
                    <a:bodyP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4.58</a:t>
                      </a:r>
                      <a:endParaRPr lang="en-US" sz="15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E3EF"/>
                    </a:solidFill>
                  </a:tcPr>
                </a:tc>
              </a:tr>
            </a:tbl>
          </a:graphicData>
        </a:graphic>
      </p:graphicFrame>
      <p:sp>
        <p:nvSpPr>
          <p:cNvPr id="6" name="Shape 1"/>
          <p:cNvSpPr/>
          <p:nvPr/>
        </p:nvSpPr>
        <p:spPr>
          <a:xfrm>
            <a:off x="6903720" y="1325880"/>
            <a:ext cx="4754880" cy="1371600"/>
          </a:xfrm>
          <a:prstGeom prst="rect">
            <a:avLst/>
          </a:prstGeom>
          <a:solidFill>
            <a:srgbClr val="DDF2FC"/>
          </a:solidFill>
          <a:ln w="12700">
            <a:solidFill>
              <a:srgbClr val="DDF2FC"/>
            </a:solidFill>
            <a:prstDash val="solid"/>
          </a:ln>
        </p:spPr>
      </p:sp>
      <p:sp>
        <p:nvSpPr>
          <p:cNvPr id="7" name="Text 2"/>
          <p:cNvSpPr txBox="1"/>
          <p:nvPr/>
        </p:nvSpPr>
        <p:spPr>
          <a:xfrm>
            <a:off x="7132320" y="1490472"/>
            <a:ext cx="42976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Average grade ≈ 10.5 / 20</a:t>
            </a:r>
            <a:endParaRPr lang="en-US" sz="1700" dirty="0"/>
          </a:p>
        </p:txBody>
      </p:sp>
      <p:sp>
        <p:nvSpPr>
          <p:cNvPr id="8" name="Text 3"/>
          <p:cNvSpPr txBox="1"/>
          <p:nvPr/>
        </p:nvSpPr>
        <p:spPr>
          <a:xfrm>
            <a:off x="7132320" y="1965960"/>
            <a:ext cx="4297680" cy="594360"/>
          </a:xfrm>
          <a:prstGeom prst="rect">
            <a:avLst/>
          </a:prstGeom>
          <a:noFill/>
          <a:ln/>
        </p:spPr>
        <p:txBody>
          <a:bodyPr wrap="square" lIns="0" tIns="0" rIns="0" bIns="0" rtlCol="0" anchor="t"/>
          <a:lstStyle/>
          <a:p>
            <a:pPr algn="l" indent="0" marL="0">
              <a:buNone/>
            </a:pPr>
            <a:r>
              <a:rPr lang="en-US" sz="1400" dirty="0">
                <a:solidFill>
                  <a:srgbClr val="1D1438"/>
                </a:solidFill>
                <a:latin typeface="Times New Roman" pitchFamily="34" charset="0"/>
                <a:ea typeface="Times New Roman" pitchFamily="34" charset="-122"/>
                <a:cs typeface="Times New Roman" pitchFamily="34" charset="-120"/>
              </a:rPr>
              <a:t>G3 has the widest spread (std 4.58).</a:t>
            </a:r>
            <a:endParaRPr lang="en-US" sz="1400" dirty="0"/>
          </a:p>
        </p:txBody>
      </p:sp>
      <p:sp>
        <p:nvSpPr>
          <p:cNvPr id="9" name="Shape 4"/>
          <p:cNvSpPr/>
          <p:nvPr/>
        </p:nvSpPr>
        <p:spPr>
          <a:xfrm>
            <a:off x="6903720" y="2880360"/>
            <a:ext cx="4754880" cy="1371600"/>
          </a:xfrm>
          <a:prstGeom prst="rect">
            <a:avLst/>
          </a:prstGeom>
          <a:solidFill>
            <a:srgbClr val="FFE3EF"/>
          </a:solidFill>
          <a:ln w="12700">
            <a:solidFill>
              <a:srgbClr val="FFE3EF"/>
            </a:solidFill>
            <a:prstDash val="solid"/>
          </a:ln>
        </p:spPr>
      </p:sp>
      <p:sp>
        <p:nvSpPr>
          <p:cNvPr id="10" name="Text 5"/>
          <p:cNvSpPr txBox="1"/>
          <p:nvPr/>
        </p:nvSpPr>
        <p:spPr>
          <a:xfrm>
            <a:off x="7132320" y="3044952"/>
            <a:ext cx="42976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Mean below median for G3</a:t>
            </a:r>
            <a:endParaRPr lang="en-US" sz="1700" dirty="0"/>
          </a:p>
        </p:txBody>
      </p:sp>
      <p:sp>
        <p:nvSpPr>
          <p:cNvPr id="11" name="Text 6"/>
          <p:cNvSpPr txBox="1"/>
          <p:nvPr/>
        </p:nvSpPr>
        <p:spPr>
          <a:xfrm>
            <a:off x="7132320" y="3520440"/>
            <a:ext cx="4297680" cy="594360"/>
          </a:xfrm>
          <a:prstGeom prst="rect">
            <a:avLst/>
          </a:prstGeom>
          <a:noFill/>
          <a:ln/>
        </p:spPr>
        <p:txBody>
          <a:bodyPr wrap="square" lIns="0" tIns="0" rIns="0" bIns="0" rtlCol="0" anchor="t"/>
          <a:lstStyle/>
          <a:p>
            <a:pPr algn="l" indent="0" marL="0">
              <a:buNone/>
            </a:pPr>
            <a:r>
              <a:rPr lang="en-US" sz="1400" dirty="0">
                <a:solidFill>
                  <a:srgbClr val="1D1438"/>
                </a:solidFill>
                <a:latin typeface="Times New Roman" pitchFamily="34" charset="0"/>
                <a:ea typeface="Times New Roman" pitchFamily="34" charset="-122"/>
                <a:cs typeface="Times New Roman" pitchFamily="34" charset="-120"/>
              </a:rPr>
              <a:t>10.42 vs 11: a group of zero grades pulls the average down.</a:t>
            </a:r>
            <a:endParaRPr lang="en-US" sz="1400" dirty="0"/>
          </a:p>
        </p:txBody>
      </p:sp>
      <p:sp>
        <p:nvSpPr>
          <p:cNvPr id="12" name="Shape 7"/>
          <p:cNvSpPr/>
          <p:nvPr/>
        </p:nvSpPr>
        <p:spPr>
          <a:xfrm>
            <a:off x="6903720" y="4434840"/>
            <a:ext cx="4754880" cy="1371600"/>
          </a:xfrm>
          <a:prstGeom prst="rect">
            <a:avLst/>
          </a:prstGeom>
          <a:solidFill>
            <a:srgbClr val="FFF1D6"/>
          </a:solidFill>
          <a:ln w="12700">
            <a:solidFill>
              <a:srgbClr val="FFF1D6"/>
            </a:solidFill>
            <a:prstDash val="solid"/>
          </a:ln>
        </p:spPr>
      </p:sp>
      <p:sp>
        <p:nvSpPr>
          <p:cNvPr id="13" name="Text 8"/>
          <p:cNvSpPr txBox="1"/>
          <p:nvPr/>
        </p:nvSpPr>
        <p:spPr>
          <a:xfrm>
            <a:off x="7132320" y="4599432"/>
            <a:ext cx="42976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Absences are skewed</a:t>
            </a:r>
            <a:endParaRPr lang="en-US" sz="1700" dirty="0"/>
          </a:p>
        </p:txBody>
      </p:sp>
      <p:sp>
        <p:nvSpPr>
          <p:cNvPr id="14" name="Text 9"/>
          <p:cNvSpPr txBox="1"/>
          <p:nvPr/>
        </p:nvSpPr>
        <p:spPr>
          <a:xfrm>
            <a:off x="7132320" y="5074920"/>
            <a:ext cx="4297680" cy="594360"/>
          </a:xfrm>
          <a:prstGeom prst="rect">
            <a:avLst/>
          </a:prstGeom>
          <a:noFill/>
          <a:ln/>
        </p:spPr>
        <p:txBody>
          <a:bodyPr wrap="square" lIns="0" tIns="0" rIns="0" bIns="0" rtlCol="0" anchor="t"/>
          <a:lstStyle/>
          <a:p>
            <a:pPr algn="l" indent="0" marL="0">
              <a:buNone/>
            </a:pPr>
            <a:r>
              <a:rPr lang="en-US" sz="1400" dirty="0">
                <a:solidFill>
                  <a:srgbClr val="1D1438"/>
                </a:solidFill>
                <a:latin typeface="Times New Roman" pitchFamily="34" charset="0"/>
                <a:ea typeface="Times New Roman" pitchFamily="34" charset="-122"/>
                <a:cs typeface="Times New Roman" pitchFamily="34" charset="-120"/>
              </a:rPr>
              <a:t>Median 4 but mean 5.71; a few students miss many classes.</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EDA: Final Grade Distribution</a:t>
            </a:r>
            <a:endParaRPr lang="en-US" sz="3200" dirty="0"/>
          </a:p>
        </p:txBody>
      </p:sp>
      <p:pic>
        <p:nvPicPr>
          <p:cNvPr id="5" name="Image 1" descr="figs/hist.png">    </p:cNvPr>
          <p:cNvPicPr>
            <a:picLocks noChangeAspect="1"/>
          </p:cNvPicPr>
          <p:nvPr/>
        </p:nvPicPr>
        <p:blipFill>
          <a:blip r:embed="rId2"/>
          <a:stretch>
            <a:fillRect/>
          </a:stretch>
        </p:blipFill>
        <p:spPr>
          <a:xfrm>
            <a:off x="502920" y="1280160"/>
            <a:ext cx="6949440" cy="4482480"/>
          </a:xfrm>
          <a:prstGeom prst="rect">
            <a:avLst/>
          </a:prstGeom>
        </p:spPr>
      </p:pic>
      <p:sp>
        <p:nvSpPr>
          <p:cNvPr id="6" name="Shape 1"/>
          <p:cNvSpPr/>
          <p:nvPr/>
        </p:nvSpPr>
        <p:spPr>
          <a:xfrm>
            <a:off x="7772400" y="1325880"/>
            <a:ext cx="3886200" cy="1417320"/>
          </a:xfrm>
          <a:prstGeom prst="rect">
            <a:avLst/>
          </a:prstGeom>
          <a:solidFill>
            <a:srgbClr val="F0287A"/>
          </a:solidFill>
          <a:ln w="12700">
            <a:solidFill>
              <a:srgbClr val="F0287A"/>
            </a:solidFill>
            <a:prstDash val="solid"/>
          </a:ln>
        </p:spPr>
      </p:sp>
      <p:sp>
        <p:nvSpPr>
          <p:cNvPr id="7" name="Text 2"/>
          <p:cNvSpPr txBox="1"/>
          <p:nvPr/>
        </p:nvSpPr>
        <p:spPr>
          <a:xfrm>
            <a:off x="7772400" y="1435608"/>
            <a:ext cx="3886200" cy="822046"/>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38 students</a:t>
            </a:r>
            <a:endParaRPr lang="en-US" sz="3400" dirty="0"/>
          </a:p>
        </p:txBody>
      </p:sp>
      <p:sp>
        <p:nvSpPr>
          <p:cNvPr id="8" name="Text 3"/>
          <p:cNvSpPr txBox="1"/>
          <p:nvPr/>
        </p:nvSpPr>
        <p:spPr>
          <a:xfrm>
            <a:off x="7909560" y="2204618"/>
            <a:ext cx="3611880" cy="453542"/>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scored exactly 0 (9.6%)</a:t>
            </a:r>
            <a:endParaRPr lang="en-US" sz="1300" dirty="0"/>
          </a:p>
        </p:txBody>
      </p:sp>
      <p:sp>
        <p:nvSpPr>
          <p:cNvPr id="9" name="Shape 4"/>
          <p:cNvSpPr/>
          <p:nvPr/>
        </p:nvSpPr>
        <p:spPr>
          <a:xfrm>
            <a:off x="7772400" y="2971800"/>
            <a:ext cx="3886200" cy="1463040"/>
          </a:xfrm>
          <a:prstGeom prst="rect">
            <a:avLst/>
          </a:prstGeom>
          <a:solidFill>
            <a:srgbClr val="DDF2FC"/>
          </a:solidFill>
          <a:ln w="12700">
            <a:solidFill>
              <a:srgbClr val="DDF2FC"/>
            </a:solidFill>
            <a:prstDash val="solid"/>
          </a:ln>
        </p:spPr>
      </p:sp>
      <p:sp>
        <p:nvSpPr>
          <p:cNvPr id="10" name="Text 5"/>
          <p:cNvSpPr txBox="1"/>
          <p:nvPr/>
        </p:nvSpPr>
        <p:spPr>
          <a:xfrm>
            <a:off x="8001000" y="3136392"/>
            <a:ext cx="342900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Bell-shaped otherwise</a:t>
            </a:r>
            <a:endParaRPr lang="en-US" sz="1700" dirty="0"/>
          </a:p>
        </p:txBody>
      </p:sp>
      <p:sp>
        <p:nvSpPr>
          <p:cNvPr id="11" name="Text 6"/>
          <p:cNvSpPr txBox="1"/>
          <p:nvPr/>
        </p:nvSpPr>
        <p:spPr>
          <a:xfrm>
            <a:off x="8001000" y="3611880"/>
            <a:ext cx="3429000" cy="685800"/>
          </a:xfrm>
          <a:prstGeom prst="rect">
            <a:avLst/>
          </a:prstGeom>
          <a:noFill/>
          <a:ln/>
        </p:spPr>
        <p:txBody>
          <a:bodyPr wrap="square" lIns="0" tIns="0" rIns="0" bIns="0" rtlCol="0" anchor="t"/>
          <a:lstStyle/>
          <a:p>
            <a:pPr algn="l" indent="0" marL="0">
              <a:buNone/>
            </a:pPr>
            <a:r>
              <a:rPr lang="en-US" sz="1400" dirty="0">
                <a:solidFill>
                  <a:srgbClr val="1D1438"/>
                </a:solidFill>
                <a:latin typeface="Times New Roman" pitchFamily="34" charset="0"/>
                <a:ea typeface="Times New Roman" pitchFamily="34" charset="-122"/>
                <a:cs typeface="Times New Roman" pitchFamily="34" charset="-120"/>
              </a:rPr>
              <a:t>Most grades fall between 8 and 15.</a:t>
            </a:r>
            <a:endParaRPr lang="en-US" sz="1400" dirty="0"/>
          </a:p>
        </p:txBody>
      </p:sp>
      <p:sp>
        <p:nvSpPr>
          <p:cNvPr id="12" name="Shape 7"/>
          <p:cNvSpPr/>
          <p:nvPr/>
        </p:nvSpPr>
        <p:spPr>
          <a:xfrm>
            <a:off x="7772400" y="4617720"/>
            <a:ext cx="3886200" cy="1600200"/>
          </a:xfrm>
          <a:prstGeom prst="rect">
            <a:avLst/>
          </a:prstGeom>
          <a:solidFill>
            <a:srgbClr val="ECE4FF"/>
          </a:solidFill>
          <a:ln w="12700">
            <a:solidFill>
              <a:srgbClr val="ECE4FF"/>
            </a:solidFill>
            <a:prstDash val="solid"/>
          </a:ln>
        </p:spPr>
      </p:sp>
      <p:sp>
        <p:nvSpPr>
          <p:cNvPr id="13" name="Text 8"/>
          <p:cNvSpPr txBox="1"/>
          <p:nvPr/>
        </p:nvSpPr>
        <p:spPr>
          <a:xfrm>
            <a:off x="8001000" y="4782312"/>
            <a:ext cx="342900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Likely dropouts</a:t>
            </a:r>
            <a:endParaRPr lang="en-US" sz="1700" dirty="0"/>
          </a:p>
        </p:txBody>
      </p:sp>
      <p:sp>
        <p:nvSpPr>
          <p:cNvPr id="14" name="Text 9"/>
          <p:cNvSpPr txBox="1"/>
          <p:nvPr/>
        </p:nvSpPr>
        <p:spPr>
          <a:xfrm>
            <a:off x="8001000" y="5257800"/>
            <a:ext cx="3429000" cy="822960"/>
          </a:xfrm>
          <a:prstGeom prst="rect">
            <a:avLst/>
          </a:prstGeom>
          <a:noFill/>
          <a:ln/>
        </p:spPr>
        <p:txBody>
          <a:bodyPr wrap="square" lIns="0" tIns="0" rIns="0" bIns="0" rtlCol="0" anchor="t"/>
          <a:lstStyle/>
          <a:p>
            <a:pPr algn="l" indent="0" marL="0">
              <a:buNone/>
            </a:pPr>
            <a:r>
              <a:rPr lang="en-US" sz="1400" dirty="0">
                <a:solidFill>
                  <a:srgbClr val="1D1438"/>
                </a:solidFill>
                <a:latin typeface="Times New Roman" pitchFamily="34" charset="0"/>
                <a:ea typeface="Times New Roman" pitchFamily="34" charset="-122"/>
                <a:cs typeface="Times New Roman" pitchFamily="34" charset="-120"/>
              </a:rPr>
              <a:t>All 38 have 0 absences, so they probably skipped the final exam.</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EDA: Correlation Analysis</a:t>
            </a:r>
            <a:endParaRPr lang="en-US" sz="3200" dirty="0"/>
          </a:p>
        </p:txBody>
      </p:sp>
      <p:pic>
        <p:nvPicPr>
          <p:cNvPr id="5" name="Image 1" descr="figs/heatmap.png">    </p:cNvPr>
          <p:cNvPicPr>
            <a:picLocks noChangeAspect="1"/>
          </p:cNvPicPr>
          <p:nvPr/>
        </p:nvPicPr>
        <p:blipFill>
          <a:blip r:embed="rId2"/>
          <a:stretch>
            <a:fillRect/>
          </a:stretch>
        </p:blipFill>
        <p:spPr>
          <a:xfrm>
            <a:off x="502920" y="1234440"/>
            <a:ext cx="5852160" cy="5064434"/>
          </a:xfrm>
          <a:prstGeom prst="rect">
            <a:avLst/>
          </a:prstGeom>
        </p:spPr>
      </p:pic>
      <p:sp>
        <p:nvSpPr>
          <p:cNvPr id="6" name="Shape 1"/>
          <p:cNvSpPr/>
          <p:nvPr/>
        </p:nvSpPr>
        <p:spPr>
          <a:xfrm>
            <a:off x="6675120" y="1325880"/>
            <a:ext cx="4983480" cy="2331720"/>
          </a:xfrm>
          <a:prstGeom prst="rect">
            <a:avLst/>
          </a:prstGeom>
          <a:solidFill>
            <a:srgbClr val="ECE4FF"/>
          </a:solidFill>
          <a:ln w="12700">
            <a:solidFill>
              <a:srgbClr val="ECE4FF"/>
            </a:solidFill>
            <a:prstDash val="solid"/>
          </a:ln>
        </p:spPr>
      </p:sp>
      <p:sp>
        <p:nvSpPr>
          <p:cNvPr id="7" name="Text 2"/>
          <p:cNvSpPr txBox="1"/>
          <p:nvPr/>
        </p:nvSpPr>
        <p:spPr>
          <a:xfrm>
            <a:off x="6903720" y="1490472"/>
            <a:ext cx="45262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How to read the heatmap</a:t>
            </a:r>
            <a:endParaRPr lang="en-US" sz="1700" dirty="0"/>
          </a:p>
        </p:txBody>
      </p:sp>
      <p:sp>
        <p:nvSpPr>
          <p:cNvPr id="8" name="Text 3"/>
          <p:cNvSpPr txBox="1"/>
          <p:nvPr/>
        </p:nvSpPr>
        <p:spPr>
          <a:xfrm>
            <a:off x="6903720" y="1965960"/>
            <a:ext cx="4526280" cy="155448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Each square shows the correlation (r) between two features, from −1 to +1. Pink means they rise together, blue means one goes up as the other goes down, and white means no clear link. Darker color = stronger relationship. The first column compares every feature with G3.</a:t>
            </a:r>
            <a:endParaRPr lang="en-US" sz="1350" dirty="0"/>
          </a:p>
        </p:txBody>
      </p:sp>
      <p:sp>
        <p:nvSpPr>
          <p:cNvPr id="9" name="Shape 4"/>
          <p:cNvSpPr/>
          <p:nvPr/>
        </p:nvSpPr>
        <p:spPr>
          <a:xfrm>
            <a:off x="6675120" y="3840480"/>
            <a:ext cx="4983480" cy="2377440"/>
          </a:xfrm>
          <a:prstGeom prst="rect">
            <a:avLst/>
          </a:prstGeom>
          <a:solidFill>
            <a:srgbClr val="FFE3EF"/>
          </a:solidFill>
          <a:ln w="12700">
            <a:solidFill>
              <a:srgbClr val="FFE3EF"/>
            </a:solidFill>
            <a:prstDash val="solid"/>
          </a:ln>
        </p:spPr>
      </p:sp>
      <p:sp>
        <p:nvSpPr>
          <p:cNvPr id="10" name="Text 5"/>
          <p:cNvSpPr txBox="1"/>
          <p:nvPr/>
        </p:nvSpPr>
        <p:spPr>
          <a:xfrm>
            <a:off x="6903720" y="4005072"/>
            <a:ext cx="45262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What it shows</a:t>
            </a:r>
            <a:endParaRPr lang="en-US" sz="1700" dirty="0"/>
          </a:p>
        </p:txBody>
      </p:sp>
      <p:sp>
        <p:nvSpPr>
          <p:cNvPr id="11" name="Text 6"/>
          <p:cNvSpPr txBox="1"/>
          <p:nvPr/>
        </p:nvSpPr>
        <p:spPr>
          <a:xfrm>
            <a:off x="6903720" y="4480560"/>
            <a:ext cx="4526280" cy="160020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Earlier grades dominate: G2 (0.90) and G1 (0.80). Past failures is the strongest non-grade signal (−0.36). Parents' education helps a little (0.22, 0.15), while age, going out and travel time lower grades slightly.</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EDA: Failures, Study Time &amp; Earlier Grades</a:t>
            </a:r>
            <a:endParaRPr lang="en-US" sz="3200" dirty="0"/>
          </a:p>
        </p:txBody>
      </p:sp>
      <p:pic>
        <p:nvPicPr>
          <p:cNvPr id="5" name="Image 1" descr="figs/boxplots.png">    </p:cNvPr>
          <p:cNvPicPr>
            <a:picLocks noChangeAspect="1"/>
          </p:cNvPicPr>
          <p:nvPr/>
        </p:nvPicPr>
        <p:blipFill>
          <a:blip r:embed="rId2"/>
          <a:stretch>
            <a:fillRect/>
          </a:stretch>
        </p:blipFill>
        <p:spPr>
          <a:xfrm>
            <a:off x="502920" y="1234440"/>
            <a:ext cx="7589520" cy="2955373"/>
          </a:xfrm>
          <a:prstGeom prst="rect">
            <a:avLst/>
          </a:prstGeom>
        </p:spPr>
      </p:pic>
      <p:pic>
        <p:nvPicPr>
          <p:cNvPr id="6" name="Image 2" descr="figs/scatter.png">    </p:cNvPr>
          <p:cNvPicPr>
            <a:picLocks noChangeAspect="1"/>
          </p:cNvPicPr>
          <p:nvPr/>
        </p:nvPicPr>
        <p:blipFill>
          <a:blip r:embed="rId3"/>
          <a:stretch>
            <a:fillRect/>
          </a:stretch>
        </p:blipFill>
        <p:spPr>
          <a:xfrm>
            <a:off x="8229600" y="1234440"/>
            <a:ext cx="3429000" cy="2981044"/>
          </a:xfrm>
          <a:prstGeom prst="rect">
            <a:avLst/>
          </a:prstGeom>
        </p:spPr>
      </p:pic>
      <p:sp>
        <p:nvSpPr>
          <p:cNvPr id="7" name="Shape 1"/>
          <p:cNvSpPr/>
          <p:nvPr/>
        </p:nvSpPr>
        <p:spPr>
          <a:xfrm>
            <a:off x="502920" y="4434840"/>
            <a:ext cx="7589520" cy="1783080"/>
          </a:xfrm>
          <a:prstGeom prst="rect">
            <a:avLst/>
          </a:prstGeom>
          <a:solidFill>
            <a:srgbClr val="FFF1D6"/>
          </a:solidFill>
          <a:ln w="12700">
            <a:solidFill>
              <a:srgbClr val="FFF1D6"/>
            </a:solidFill>
            <a:prstDash val="solid"/>
          </a:ln>
        </p:spPr>
      </p:sp>
      <p:sp>
        <p:nvSpPr>
          <p:cNvPr id="8" name="Text 2"/>
          <p:cNvSpPr txBox="1"/>
          <p:nvPr/>
        </p:nvSpPr>
        <p:spPr>
          <a:xfrm>
            <a:off x="731520" y="4599432"/>
            <a:ext cx="713232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What the box plots show</a:t>
            </a:r>
            <a:endParaRPr lang="en-US" sz="1700" dirty="0"/>
          </a:p>
        </p:txBody>
      </p:sp>
      <p:sp>
        <p:nvSpPr>
          <p:cNvPr id="9" name="Text 3"/>
          <p:cNvSpPr txBox="1"/>
          <p:nvPr/>
        </p:nvSpPr>
        <p:spPr>
          <a:xfrm>
            <a:off x="731520" y="5074920"/>
            <a:ext cx="7132320" cy="1005840"/>
          </a:xfrm>
          <a:prstGeom prst="rect">
            <a:avLst/>
          </a:prstGeom>
          <a:noFill/>
          <a:ln/>
        </p:spPr>
        <p:txBody>
          <a:bodyPr wrap="square" lIns="0" tIns="0" rIns="0" bIns="0" rtlCol="0" anchor="t"/>
          <a:lstStyle/>
          <a:p>
            <a:pPr algn="l" indent="0" marL="0">
              <a:buNone/>
            </a:pPr>
            <a:r>
              <a:rPr lang="en-US" sz="1400" dirty="0">
                <a:solidFill>
                  <a:srgbClr val="1D1438"/>
                </a:solidFill>
                <a:latin typeface="Times New Roman" pitchFamily="34" charset="0"/>
                <a:ea typeface="Times New Roman" pitchFamily="34" charset="-122"/>
                <a:cs typeface="Times New Roman" pitchFamily="34" charset="-120"/>
              </a:rPr>
              <a:t>Each box holds the middle 50% of students in a group; the white line is the median and dots are outliers. Students with more past failures score clearly lower (median 11 → 7). More study time only nudges grades up (10 → 12), and the boxes overlap a lot.</a:t>
            </a:r>
            <a:endParaRPr lang="en-US" sz="1400" dirty="0"/>
          </a:p>
        </p:txBody>
      </p:sp>
      <p:sp>
        <p:nvSpPr>
          <p:cNvPr id="10" name="Shape 4"/>
          <p:cNvSpPr/>
          <p:nvPr/>
        </p:nvSpPr>
        <p:spPr>
          <a:xfrm>
            <a:off x="8229600" y="4434840"/>
            <a:ext cx="3429000" cy="1783080"/>
          </a:xfrm>
          <a:prstGeom prst="rect">
            <a:avLst/>
          </a:prstGeom>
          <a:solidFill>
            <a:srgbClr val="FFE3EF"/>
          </a:solidFill>
          <a:ln w="12700">
            <a:solidFill>
              <a:srgbClr val="FFE3EF"/>
            </a:solidFill>
            <a:prstDash val="solid"/>
          </a:ln>
        </p:spPr>
      </p:sp>
      <p:sp>
        <p:nvSpPr>
          <p:cNvPr id="11" name="Text 5"/>
          <p:cNvSpPr txBox="1"/>
          <p:nvPr/>
        </p:nvSpPr>
        <p:spPr>
          <a:xfrm>
            <a:off x="8458200" y="4599432"/>
            <a:ext cx="297180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What the scatter shows</a:t>
            </a:r>
            <a:endParaRPr lang="en-US" sz="1700" dirty="0"/>
          </a:p>
        </p:txBody>
      </p:sp>
      <p:sp>
        <p:nvSpPr>
          <p:cNvPr id="12" name="Text 6"/>
          <p:cNvSpPr txBox="1"/>
          <p:nvPr/>
        </p:nvSpPr>
        <p:spPr>
          <a:xfrm>
            <a:off x="8458200" y="5074920"/>
            <a:ext cx="2971800" cy="1005840"/>
          </a:xfrm>
          <a:prstGeom prst="rect">
            <a:avLst/>
          </a:prstGeom>
          <a:noFill/>
          <a:ln/>
        </p:spPr>
        <p:txBody>
          <a:bodyPr wrap="square" lIns="0" tIns="0" rIns="0" bIns="0" rtlCol="0" anchor="t"/>
          <a:lstStyle/>
          <a:p>
            <a:pPr algn="l" indent="0" marL="0">
              <a:buNone/>
            </a:pPr>
            <a:r>
              <a:rPr lang="en-US" sz="1400" dirty="0">
                <a:solidFill>
                  <a:srgbClr val="1D1438"/>
                </a:solidFill>
                <a:latin typeface="Times New Roman" pitchFamily="34" charset="0"/>
                <a:ea typeface="Times New Roman" pitchFamily="34" charset="-122"/>
                <a:cs typeface="Times New Roman" pitchFamily="34" charset="-120"/>
              </a:rPr>
              <a:t>Each dot is a student. Most sit on the dashed line, so G3 ≈ G2. Pink X's scored 0 on the final.</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Data Preprocessing</a:t>
            </a:r>
            <a:endParaRPr lang="en-US" sz="3200" dirty="0"/>
          </a:p>
        </p:txBody>
      </p:sp>
      <p:sp>
        <p:nvSpPr>
          <p:cNvPr id="5" name="Shape 1"/>
          <p:cNvSpPr/>
          <p:nvPr/>
        </p:nvSpPr>
        <p:spPr>
          <a:xfrm>
            <a:off x="502920" y="1371600"/>
            <a:ext cx="2084832" cy="2743200"/>
          </a:xfrm>
          <a:prstGeom prst="rect">
            <a:avLst/>
          </a:prstGeom>
          <a:solidFill>
            <a:srgbClr val="F0287A"/>
          </a:solidFill>
          <a:ln w="12700">
            <a:solidFill>
              <a:srgbClr val="F0287A"/>
            </a:solidFill>
            <a:prstDash val="solid"/>
          </a:ln>
        </p:spPr>
      </p:sp>
      <p:sp>
        <p:nvSpPr>
          <p:cNvPr id="6" name="Text 2"/>
          <p:cNvSpPr txBox="1"/>
          <p:nvPr/>
        </p:nvSpPr>
        <p:spPr>
          <a:xfrm>
            <a:off x="502920" y="1508760"/>
            <a:ext cx="2084832"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1</a:t>
            </a:r>
            <a:endParaRPr lang="en-US" sz="3400" dirty="0"/>
          </a:p>
        </p:txBody>
      </p:sp>
      <p:sp>
        <p:nvSpPr>
          <p:cNvPr id="7" name="Text 3"/>
          <p:cNvSpPr txBox="1"/>
          <p:nvPr/>
        </p:nvSpPr>
        <p:spPr>
          <a:xfrm>
            <a:off x="630936"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Check quality</a:t>
            </a:r>
            <a:endParaRPr lang="en-US" sz="1700" dirty="0"/>
          </a:p>
        </p:txBody>
      </p:sp>
      <p:sp>
        <p:nvSpPr>
          <p:cNvPr id="8" name="Text 4"/>
          <p:cNvSpPr txBox="1"/>
          <p:nvPr/>
        </p:nvSpPr>
        <p:spPr>
          <a:xfrm>
            <a:off x="658368" y="2697480"/>
            <a:ext cx="1773936" cy="1280160"/>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395 × 33, no missing values or duplicates</a:t>
            </a:r>
            <a:endParaRPr lang="en-US" sz="1300" dirty="0"/>
          </a:p>
        </p:txBody>
      </p:sp>
      <p:sp>
        <p:nvSpPr>
          <p:cNvPr id="9" name="Shape 5"/>
          <p:cNvSpPr/>
          <p:nvPr/>
        </p:nvSpPr>
        <p:spPr>
          <a:xfrm>
            <a:off x="2770632" y="1371600"/>
            <a:ext cx="2084832" cy="2743200"/>
          </a:xfrm>
          <a:prstGeom prst="rect">
            <a:avLst/>
          </a:prstGeom>
          <a:solidFill>
            <a:srgbClr val="E89A00"/>
          </a:solidFill>
          <a:ln w="12700">
            <a:solidFill>
              <a:srgbClr val="E89A00"/>
            </a:solidFill>
            <a:prstDash val="solid"/>
          </a:ln>
        </p:spPr>
      </p:sp>
      <p:sp>
        <p:nvSpPr>
          <p:cNvPr id="10" name="Text 6"/>
          <p:cNvSpPr txBox="1"/>
          <p:nvPr/>
        </p:nvSpPr>
        <p:spPr>
          <a:xfrm>
            <a:off x="2770632" y="1508760"/>
            <a:ext cx="2084832"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2</a:t>
            </a:r>
            <a:endParaRPr lang="en-US" sz="3400" dirty="0"/>
          </a:p>
        </p:txBody>
      </p:sp>
      <p:sp>
        <p:nvSpPr>
          <p:cNvPr id="11" name="Text 7"/>
          <p:cNvSpPr txBox="1"/>
          <p:nvPr/>
        </p:nvSpPr>
        <p:spPr>
          <a:xfrm>
            <a:off x="2898648"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One-hot encode</a:t>
            </a:r>
            <a:endParaRPr lang="en-US" sz="1700" dirty="0"/>
          </a:p>
        </p:txBody>
      </p:sp>
      <p:sp>
        <p:nvSpPr>
          <p:cNvPr id="12" name="Text 8"/>
          <p:cNvSpPr txBox="1"/>
          <p:nvPr/>
        </p:nvSpPr>
        <p:spPr>
          <a:xfrm>
            <a:off x="2926080" y="2697480"/>
            <a:ext cx="1773936" cy="1280160"/>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17 text columns → 0/1 dummies with drop_first=True</a:t>
            </a:r>
            <a:endParaRPr lang="en-US" sz="1300" dirty="0"/>
          </a:p>
        </p:txBody>
      </p:sp>
      <p:sp>
        <p:nvSpPr>
          <p:cNvPr id="13" name="Shape 9"/>
          <p:cNvSpPr/>
          <p:nvPr/>
        </p:nvSpPr>
        <p:spPr>
          <a:xfrm>
            <a:off x="5038344" y="1371600"/>
            <a:ext cx="2084832" cy="2743200"/>
          </a:xfrm>
          <a:prstGeom prst="rect">
            <a:avLst/>
          </a:prstGeom>
          <a:solidFill>
            <a:srgbClr val="0FA47A"/>
          </a:solidFill>
          <a:ln w="12700">
            <a:solidFill>
              <a:srgbClr val="0FA47A"/>
            </a:solidFill>
            <a:prstDash val="solid"/>
          </a:ln>
        </p:spPr>
      </p:sp>
      <p:sp>
        <p:nvSpPr>
          <p:cNvPr id="14" name="Text 10"/>
          <p:cNvSpPr txBox="1"/>
          <p:nvPr/>
        </p:nvSpPr>
        <p:spPr>
          <a:xfrm>
            <a:off x="5038344" y="1508760"/>
            <a:ext cx="2084832"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3</a:t>
            </a:r>
            <a:endParaRPr lang="en-US" sz="3400" dirty="0"/>
          </a:p>
        </p:txBody>
      </p:sp>
      <p:sp>
        <p:nvSpPr>
          <p:cNvPr id="15" name="Text 11"/>
          <p:cNvSpPr txBox="1"/>
          <p:nvPr/>
        </p:nvSpPr>
        <p:spPr>
          <a:xfrm>
            <a:off x="5166360"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Keep ordinal</a:t>
            </a:r>
            <a:endParaRPr lang="en-US" sz="1700" dirty="0"/>
          </a:p>
        </p:txBody>
      </p:sp>
      <p:sp>
        <p:nvSpPr>
          <p:cNvPr id="16" name="Text 12"/>
          <p:cNvSpPr txBox="1"/>
          <p:nvPr/>
        </p:nvSpPr>
        <p:spPr>
          <a:xfrm>
            <a:off x="5193792" y="2697480"/>
            <a:ext cx="1773936" cy="1280160"/>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Parents' education &amp; 1–5 ratings stay as numbers</a:t>
            </a:r>
            <a:endParaRPr lang="en-US" sz="1300" dirty="0"/>
          </a:p>
        </p:txBody>
      </p:sp>
      <p:sp>
        <p:nvSpPr>
          <p:cNvPr id="17" name="Shape 13"/>
          <p:cNvSpPr/>
          <p:nvPr/>
        </p:nvSpPr>
        <p:spPr>
          <a:xfrm>
            <a:off x="7306056" y="1371600"/>
            <a:ext cx="2084832" cy="2743200"/>
          </a:xfrm>
          <a:prstGeom prst="rect">
            <a:avLst/>
          </a:prstGeom>
          <a:solidFill>
            <a:srgbClr val="0096D6"/>
          </a:solidFill>
          <a:ln w="12700">
            <a:solidFill>
              <a:srgbClr val="0096D6"/>
            </a:solidFill>
            <a:prstDash val="solid"/>
          </a:ln>
        </p:spPr>
      </p:sp>
      <p:sp>
        <p:nvSpPr>
          <p:cNvPr id="18" name="Text 14"/>
          <p:cNvSpPr txBox="1"/>
          <p:nvPr/>
        </p:nvSpPr>
        <p:spPr>
          <a:xfrm>
            <a:off x="7306056" y="1508760"/>
            <a:ext cx="2084832"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4</a:t>
            </a:r>
            <a:endParaRPr lang="en-US" sz="3400" dirty="0"/>
          </a:p>
        </p:txBody>
      </p:sp>
      <p:sp>
        <p:nvSpPr>
          <p:cNvPr id="19" name="Text 15"/>
          <p:cNvSpPr txBox="1"/>
          <p:nvPr/>
        </p:nvSpPr>
        <p:spPr>
          <a:xfrm>
            <a:off x="7434072"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Split 80/20</a:t>
            </a:r>
            <a:endParaRPr lang="en-US" sz="1700" dirty="0"/>
          </a:p>
        </p:txBody>
      </p:sp>
      <p:sp>
        <p:nvSpPr>
          <p:cNvPr id="20" name="Text 16"/>
          <p:cNvSpPr txBox="1"/>
          <p:nvPr/>
        </p:nvSpPr>
        <p:spPr>
          <a:xfrm>
            <a:off x="7461504" y="2697480"/>
            <a:ext cx="1773936" cy="1280160"/>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316 train / 79 test, random_state = 42</a:t>
            </a:r>
            <a:endParaRPr lang="en-US" sz="1300" dirty="0"/>
          </a:p>
        </p:txBody>
      </p:sp>
      <p:sp>
        <p:nvSpPr>
          <p:cNvPr id="21" name="Shape 17"/>
          <p:cNvSpPr/>
          <p:nvPr/>
        </p:nvSpPr>
        <p:spPr>
          <a:xfrm>
            <a:off x="9573768" y="1371600"/>
            <a:ext cx="2084832" cy="2743200"/>
          </a:xfrm>
          <a:prstGeom prst="rect">
            <a:avLst/>
          </a:prstGeom>
          <a:solidFill>
            <a:srgbClr val="7C4DFF"/>
          </a:solidFill>
          <a:ln w="12700">
            <a:solidFill>
              <a:srgbClr val="7C4DFF"/>
            </a:solidFill>
            <a:prstDash val="solid"/>
          </a:ln>
        </p:spPr>
      </p:sp>
      <p:sp>
        <p:nvSpPr>
          <p:cNvPr id="22" name="Text 18"/>
          <p:cNvSpPr txBox="1"/>
          <p:nvPr/>
        </p:nvSpPr>
        <p:spPr>
          <a:xfrm>
            <a:off x="9573768" y="1508760"/>
            <a:ext cx="2084832"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imes New Roman" pitchFamily="34" charset="0"/>
                <a:ea typeface="Times New Roman" pitchFamily="34" charset="-122"/>
                <a:cs typeface="Times New Roman" pitchFamily="34" charset="-120"/>
              </a:rPr>
              <a:t>5</a:t>
            </a:r>
            <a:endParaRPr lang="en-US" sz="3400" dirty="0"/>
          </a:p>
        </p:txBody>
      </p:sp>
      <p:sp>
        <p:nvSpPr>
          <p:cNvPr id="23" name="Text 19"/>
          <p:cNvSpPr txBox="1"/>
          <p:nvPr/>
        </p:nvSpPr>
        <p:spPr>
          <a:xfrm>
            <a:off x="9701784" y="2194560"/>
            <a:ext cx="1828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Times New Roman" pitchFamily="34" charset="0"/>
                <a:ea typeface="Times New Roman" pitchFamily="34" charset="-122"/>
                <a:cs typeface="Times New Roman" pitchFamily="34" charset="-120"/>
              </a:rPr>
              <a:t>Standardize</a:t>
            </a:r>
            <a:endParaRPr lang="en-US" sz="1700" dirty="0"/>
          </a:p>
        </p:txBody>
      </p:sp>
      <p:sp>
        <p:nvSpPr>
          <p:cNvPr id="24" name="Text 20"/>
          <p:cNvSpPr txBox="1"/>
          <p:nvPr/>
        </p:nvSpPr>
        <p:spPr>
          <a:xfrm>
            <a:off x="9729216" y="2697480"/>
            <a:ext cx="1773936" cy="1280160"/>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StandardScaler for Linear Regression only</a:t>
            </a:r>
            <a:endParaRPr lang="en-US" sz="1300" dirty="0"/>
          </a:p>
        </p:txBody>
      </p:sp>
      <p:sp>
        <p:nvSpPr>
          <p:cNvPr id="25" name="Shape 21"/>
          <p:cNvSpPr/>
          <p:nvPr/>
        </p:nvSpPr>
        <p:spPr>
          <a:xfrm>
            <a:off x="502920" y="4434840"/>
            <a:ext cx="5486400" cy="1783080"/>
          </a:xfrm>
          <a:prstGeom prst="rect">
            <a:avLst/>
          </a:prstGeom>
          <a:solidFill>
            <a:srgbClr val="FFF1D6"/>
          </a:solidFill>
          <a:ln w="12700">
            <a:solidFill>
              <a:srgbClr val="FFF1D6"/>
            </a:solidFill>
            <a:prstDash val="solid"/>
          </a:ln>
        </p:spPr>
      </p:sp>
      <p:sp>
        <p:nvSpPr>
          <p:cNvPr id="26" name="Text 22"/>
          <p:cNvSpPr txBox="1"/>
          <p:nvPr/>
        </p:nvSpPr>
        <p:spPr>
          <a:xfrm>
            <a:off x="731520" y="4599432"/>
            <a:ext cx="502920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Why one-hot?</a:t>
            </a:r>
            <a:endParaRPr lang="en-US" sz="1700" dirty="0"/>
          </a:p>
        </p:txBody>
      </p:sp>
      <p:sp>
        <p:nvSpPr>
          <p:cNvPr id="27" name="Text 23"/>
          <p:cNvSpPr txBox="1"/>
          <p:nvPr/>
        </p:nvSpPr>
        <p:spPr>
          <a:xfrm>
            <a:off x="731520" y="5074920"/>
            <a:ext cx="5029200" cy="1005840"/>
          </a:xfrm>
          <a:prstGeom prst="rect">
            <a:avLst/>
          </a:prstGeom>
          <a:noFill/>
          <a:ln/>
        </p:spPr>
        <p:txBody>
          <a:bodyPr wrap="square" lIns="0" tIns="0" rIns="0" bIns="0" rtlCol="0" anchor="t"/>
          <a:lstStyle/>
          <a:p>
            <a:pPr algn="l" indent="0" marL="0">
              <a:buNone/>
            </a:pPr>
            <a:r>
              <a:rPr lang="en-US" sz="1600" dirty="0">
                <a:solidFill>
                  <a:srgbClr val="1D1438"/>
                </a:solidFill>
                <a:latin typeface="Times New Roman" pitchFamily="34" charset="0"/>
                <a:ea typeface="Times New Roman" pitchFamily="34" charset="-122"/>
                <a:cs typeface="Times New Roman" pitchFamily="34" charset="-120"/>
              </a:rPr>
              <a:t>Models need numbers. Numbering jobs 0–4 would imply a fake order; drop_first avoids redundant columns.</a:t>
            </a:r>
            <a:endParaRPr lang="en-US" sz="1600" dirty="0"/>
          </a:p>
        </p:txBody>
      </p:sp>
      <p:sp>
        <p:nvSpPr>
          <p:cNvPr id="28" name="Shape 24"/>
          <p:cNvSpPr/>
          <p:nvPr/>
        </p:nvSpPr>
        <p:spPr>
          <a:xfrm>
            <a:off x="6172200" y="4434840"/>
            <a:ext cx="5486400" cy="1783080"/>
          </a:xfrm>
          <a:prstGeom prst="rect">
            <a:avLst/>
          </a:prstGeom>
          <a:solidFill>
            <a:srgbClr val="ECE4FF"/>
          </a:solidFill>
          <a:ln w="12700">
            <a:solidFill>
              <a:srgbClr val="ECE4FF"/>
            </a:solidFill>
            <a:prstDash val="solid"/>
          </a:ln>
        </p:spPr>
      </p:sp>
      <p:sp>
        <p:nvSpPr>
          <p:cNvPr id="29" name="Text 25"/>
          <p:cNvSpPr txBox="1"/>
          <p:nvPr/>
        </p:nvSpPr>
        <p:spPr>
          <a:xfrm>
            <a:off x="6400800" y="4599432"/>
            <a:ext cx="502920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Why scale after splitting?</a:t>
            </a:r>
            <a:endParaRPr lang="en-US" sz="1700" dirty="0"/>
          </a:p>
        </p:txBody>
      </p:sp>
      <p:sp>
        <p:nvSpPr>
          <p:cNvPr id="30" name="Text 26"/>
          <p:cNvSpPr txBox="1"/>
          <p:nvPr/>
        </p:nvSpPr>
        <p:spPr>
          <a:xfrm>
            <a:off x="6400800" y="5074920"/>
            <a:ext cx="5029200" cy="1005840"/>
          </a:xfrm>
          <a:prstGeom prst="rect">
            <a:avLst/>
          </a:prstGeom>
          <a:noFill/>
          <a:ln/>
        </p:spPr>
        <p:txBody>
          <a:bodyPr wrap="square" lIns="0" tIns="0" rIns="0" bIns="0" rtlCol="0" anchor="t"/>
          <a:lstStyle/>
          <a:p>
            <a:pPr algn="l" indent="0" marL="0">
              <a:buNone/>
            </a:pPr>
            <a:r>
              <a:rPr lang="en-US" sz="1600" dirty="0">
                <a:solidFill>
                  <a:srgbClr val="1D1438"/>
                </a:solidFill>
                <a:latin typeface="Times New Roman" pitchFamily="34" charset="0"/>
                <a:ea typeface="Times New Roman" pitchFamily="34" charset="-122"/>
                <a:cs typeface="Times New Roman" pitchFamily="34" charset="-120"/>
              </a:rPr>
              <a:t>Features range from 0–1 to 0–75. Fitting the scaler on training data only avoids leaking test information.</a:t>
            </a:r>
            <a:endParaRPr lang="en-US" sz="1600" dirty="0"/>
          </a:p>
        </p:txBody>
      </p:sp>
    </p:spTree>
  </p:cSld>
  <p:clrMapOvr>
    <a:masterClrMapping/>
  </p:clrMapOvr>
  <mc:AlternateContent xmlns:mc="http://schemas.openxmlformats.org/markup-compatibility/2006">
    <mc:Choice xmlns:p14="http://schemas.microsoft.com/office/powerpoint/2010/main" Requires="p14">
      <p:transition spd="slow" p14:dur="2000">
        <p14:honeycomb/>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Feature Importance</a:t>
            </a:r>
            <a:endParaRPr lang="en-US" sz="3200" dirty="0"/>
          </a:p>
        </p:txBody>
      </p:sp>
      <p:pic>
        <p:nvPicPr>
          <p:cNvPr id="5" name="Image 1" descr="figs/corrbar.png">    </p:cNvPr>
          <p:cNvPicPr>
            <a:picLocks noChangeAspect="1"/>
          </p:cNvPicPr>
          <p:nvPr/>
        </p:nvPicPr>
        <p:blipFill>
          <a:blip r:embed="rId2"/>
          <a:stretch>
            <a:fillRect/>
          </a:stretch>
        </p:blipFill>
        <p:spPr>
          <a:xfrm>
            <a:off x="502920" y="1188720"/>
            <a:ext cx="3657600" cy="2699005"/>
          </a:xfrm>
          <a:prstGeom prst="rect">
            <a:avLst/>
          </a:prstGeom>
        </p:spPr>
      </p:pic>
      <p:pic>
        <p:nvPicPr>
          <p:cNvPr id="6" name="Image 2" descr="figs/rf_importance.png">    </p:cNvPr>
          <p:cNvPicPr>
            <a:picLocks noChangeAspect="1"/>
          </p:cNvPicPr>
          <p:nvPr/>
        </p:nvPicPr>
        <p:blipFill>
          <a:blip r:embed="rId3"/>
          <a:stretch>
            <a:fillRect/>
          </a:stretch>
        </p:blipFill>
        <p:spPr>
          <a:xfrm>
            <a:off x="4437532" y="1188720"/>
            <a:ext cx="7126936" cy="2788920"/>
          </a:xfrm>
          <a:prstGeom prst="rect">
            <a:avLst/>
          </a:prstGeom>
        </p:spPr>
      </p:pic>
      <p:sp>
        <p:nvSpPr>
          <p:cNvPr id="7" name="Shape 1"/>
          <p:cNvSpPr/>
          <p:nvPr/>
        </p:nvSpPr>
        <p:spPr>
          <a:xfrm>
            <a:off x="502920" y="4114800"/>
            <a:ext cx="3611880" cy="2148840"/>
          </a:xfrm>
          <a:prstGeom prst="rect">
            <a:avLst/>
          </a:prstGeom>
          <a:solidFill>
            <a:srgbClr val="DDF2FC"/>
          </a:solidFill>
          <a:ln w="12700">
            <a:solidFill>
              <a:srgbClr val="DDF2FC"/>
            </a:solidFill>
            <a:prstDash val="solid"/>
          </a:ln>
        </p:spPr>
      </p:sp>
      <p:sp>
        <p:nvSpPr>
          <p:cNvPr id="8" name="Text 2"/>
          <p:cNvSpPr txBox="1"/>
          <p:nvPr/>
        </p:nvSpPr>
        <p:spPr>
          <a:xfrm>
            <a:off x="731520" y="4279392"/>
            <a:ext cx="31546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Correlation (left)</a:t>
            </a:r>
            <a:endParaRPr lang="en-US" sz="1700" dirty="0"/>
          </a:p>
        </p:txBody>
      </p:sp>
      <p:sp>
        <p:nvSpPr>
          <p:cNvPr id="9" name="Text 3"/>
          <p:cNvSpPr txBox="1"/>
          <p:nvPr/>
        </p:nvSpPr>
        <p:spPr>
          <a:xfrm>
            <a:off x="731520" y="4754880"/>
            <a:ext cx="3154680" cy="137160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How strongly each feature moves with G3 in a straight line. Blue rises with G3, pink falls. G2 (0.90) and G1 (0.80) lead; past failures is the top negative (−0.36).</a:t>
            </a:r>
            <a:endParaRPr lang="en-US" sz="1350" dirty="0"/>
          </a:p>
        </p:txBody>
      </p:sp>
      <p:sp>
        <p:nvSpPr>
          <p:cNvPr id="10" name="Shape 4"/>
          <p:cNvSpPr/>
          <p:nvPr/>
        </p:nvSpPr>
        <p:spPr>
          <a:xfrm>
            <a:off x="4279392" y="4114800"/>
            <a:ext cx="3611880" cy="2148840"/>
          </a:xfrm>
          <a:prstGeom prst="rect">
            <a:avLst/>
          </a:prstGeom>
          <a:solidFill>
            <a:srgbClr val="ECE4FF"/>
          </a:solidFill>
          <a:ln w="12700">
            <a:solidFill>
              <a:srgbClr val="ECE4FF"/>
            </a:solidFill>
            <a:prstDash val="solid"/>
          </a:ln>
        </p:spPr>
      </p:sp>
      <p:sp>
        <p:nvSpPr>
          <p:cNvPr id="11" name="Text 5"/>
          <p:cNvSpPr txBox="1"/>
          <p:nvPr/>
        </p:nvSpPr>
        <p:spPr>
          <a:xfrm>
            <a:off x="4507992" y="4279392"/>
            <a:ext cx="31546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Random Forest, with G1/G2</a:t>
            </a:r>
            <a:endParaRPr lang="en-US" sz="1700" dirty="0"/>
          </a:p>
        </p:txBody>
      </p:sp>
      <p:sp>
        <p:nvSpPr>
          <p:cNvPr id="12" name="Text 6"/>
          <p:cNvSpPr txBox="1"/>
          <p:nvPr/>
        </p:nvSpPr>
        <p:spPr>
          <a:xfrm>
            <a:off x="4507992" y="4754880"/>
            <a:ext cx="3154680" cy="137160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How much each feature helped the model predict (scores add to 1). G2 alone is 0.79. Absences is 2nd (0.11) even though its correlation is ≈ 0: it helps flag the zero-grade students.</a:t>
            </a:r>
            <a:endParaRPr lang="en-US" sz="1350" dirty="0"/>
          </a:p>
        </p:txBody>
      </p:sp>
      <p:sp>
        <p:nvSpPr>
          <p:cNvPr id="13" name="Shape 7"/>
          <p:cNvSpPr/>
          <p:nvPr/>
        </p:nvSpPr>
        <p:spPr>
          <a:xfrm>
            <a:off x="8046720" y="4114800"/>
            <a:ext cx="3611880" cy="2148840"/>
          </a:xfrm>
          <a:prstGeom prst="rect">
            <a:avLst/>
          </a:prstGeom>
          <a:solidFill>
            <a:srgbClr val="DBF5EC"/>
          </a:solidFill>
          <a:ln w="12700">
            <a:solidFill>
              <a:srgbClr val="DBF5EC"/>
            </a:solidFill>
            <a:prstDash val="solid"/>
          </a:ln>
        </p:spPr>
      </p:sp>
      <p:sp>
        <p:nvSpPr>
          <p:cNvPr id="14" name="Text 8"/>
          <p:cNvSpPr txBox="1"/>
          <p:nvPr/>
        </p:nvSpPr>
        <p:spPr>
          <a:xfrm>
            <a:off x="8275320" y="4279392"/>
            <a:ext cx="3154680"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Random Forest, without G1/G2</a:t>
            </a:r>
            <a:endParaRPr lang="en-US" sz="1700" dirty="0"/>
          </a:p>
        </p:txBody>
      </p:sp>
      <p:sp>
        <p:nvSpPr>
          <p:cNvPr id="15" name="Text 9"/>
          <p:cNvSpPr txBox="1"/>
          <p:nvPr/>
        </p:nvSpPr>
        <p:spPr>
          <a:xfrm>
            <a:off x="8275320" y="4754880"/>
            <a:ext cx="3154680" cy="137160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With earlier grades removed, the model leans on absences (0.19) and past failures (0.14), then health, going out and age. No single feature is strong.</a:t>
            </a:r>
            <a:endParaRPr lang="en-US" sz="135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Models &amp; Training Methodology</a:t>
            </a:r>
            <a:endParaRPr lang="en-US" sz="3200" dirty="0"/>
          </a:p>
        </p:txBody>
      </p:sp>
      <p:sp>
        <p:nvSpPr>
          <p:cNvPr id="5" name="Shape 1"/>
          <p:cNvSpPr/>
          <p:nvPr/>
        </p:nvSpPr>
        <p:spPr>
          <a:xfrm>
            <a:off x="502920" y="1280160"/>
            <a:ext cx="5486400" cy="2103120"/>
          </a:xfrm>
          <a:prstGeom prst="rect">
            <a:avLst/>
          </a:prstGeom>
          <a:solidFill>
            <a:srgbClr val="DDF2FC"/>
          </a:solidFill>
          <a:ln w="12700">
            <a:solidFill>
              <a:srgbClr val="DDF2FC"/>
            </a:solidFill>
            <a:prstDash val="solid"/>
          </a:ln>
        </p:spPr>
      </p:sp>
      <p:sp>
        <p:nvSpPr>
          <p:cNvPr id="6" name="Text 2"/>
          <p:cNvSpPr txBox="1"/>
          <p:nvPr/>
        </p:nvSpPr>
        <p:spPr>
          <a:xfrm>
            <a:off x="731520" y="1444752"/>
            <a:ext cx="5029200" cy="420624"/>
          </a:xfrm>
          <a:prstGeom prst="rect">
            <a:avLst/>
          </a:prstGeom>
          <a:noFill/>
          <a:ln/>
        </p:spPr>
        <p:txBody>
          <a:bodyPr wrap="square" lIns="0" tIns="0" rIns="0" bIns="0" rtlCol="0" anchor="ctr"/>
          <a:lstStyle/>
          <a:p>
            <a:pPr algn="l" indent="0" marL="0">
              <a:buNone/>
            </a:pPr>
            <a:r>
              <a:rPr lang="en-US" sz="1800" b="1" dirty="0">
                <a:solidFill>
                  <a:srgbClr val="1D1438"/>
                </a:solidFill>
                <a:latin typeface="Times New Roman" pitchFamily="34" charset="0"/>
                <a:ea typeface="Times New Roman" pitchFamily="34" charset="-122"/>
                <a:cs typeface="Times New Roman" pitchFamily="34" charset="-120"/>
              </a:rPr>
              <a:t>Linear Regression: the simple baseline</a:t>
            </a:r>
            <a:endParaRPr lang="en-US" sz="1800" dirty="0"/>
          </a:p>
        </p:txBody>
      </p:sp>
      <p:sp>
        <p:nvSpPr>
          <p:cNvPr id="7" name="Text 3"/>
          <p:cNvSpPr txBox="1"/>
          <p:nvPr/>
        </p:nvSpPr>
        <p:spPr>
          <a:xfrm>
            <a:off x="731520" y="1920240"/>
            <a:ext cx="5029200" cy="1325880"/>
          </a:xfrm>
          <a:prstGeom prst="rect">
            <a:avLst/>
          </a:prstGeom>
          <a:noFill/>
          <a:ln/>
        </p:spPr>
        <p:txBody>
          <a:bodyPr wrap="square" lIns="0" tIns="0" rIns="0" bIns="0" rtlCol="0" anchor="t"/>
          <a:lstStyle/>
          <a:p>
            <a:pPr algn="l" indent="0" marL="0">
              <a:buNone/>
            </a:pPr>
            <a:r>
              <a:rPr lang="en-US" sz="1450" dirty="0">
                <a:solidFill>
                  <a:srgbClr val="1D1438"/>
                </a:solidFill>
                <a:latin typeface="Times New Roman" pitchFamily="34" charset="0"/>
                <a:ea typeface="Times New Roman" pitchFamily="34" charset="-122"/>
                <a:cs typeface="Times New Roman" pitchFamily="34" charset="-120"/>
              </a:rPr>
              <a:t>Fits a weighted sum of the features: each feature gets one weight. Easy to interpret. Needs standardized features, and can predict impossible grades (below 0 or above 20).</a:t>
            </a:r>
            <a:endParaRPr lang="en-US" sz="1450" dirty="0"/>
          </a:p>
        </p:txBody>
      </p:sp>
      <p:sp>
        <p:nvSpPr>
          <p:cNvPr id="8" name="Shape 4"/>
          <p:cNvSpPr/>
          <p:nvPr/>
        </p:nvSpPr>
        <p:spPr>
          <a:xfrm>
            <a:off x="6172200" y="1280160"/>
            <a:ext cx="5486400" cy="2103120"/>
          </a:xfrm>
          <a:prstGeom prst="rect">
            <a:avLst/>
          </a:prstGeom>
          <a:solidFill>
            <a:srgbClr val="DBF5EC"/>
          </a:solidFill>
          <a:ln w="12700">
            <a:solidFill>
              <a:srgbClr val="DBF5EC"/>
            </a:solidFill>
            <a:prstDash val="solid"/>
          </a:ln>
        </p:spPr>
      </p:sp>
      <p:sp>
        <p:nvSpPr>
          <p:cNvPr id="9" name="Text 5"/>
          <p:cNvSpPr txBox="1"/>
          <p:nvPr/>
        </p:nvSpPr>
        <p:spPr>
          <a:xfrm>
            <a:off x="6400800" y="1444752"/>
            <a:ext cx="5029200" cy="420624"/>
          </a:xfrm>
          <a:prstGeom prst="rect">
            <a:avLst/>
          </a:prstGeom>
          <a:noFill/>
          <a:ln/>
        </p:spPr>
        <p:txBody>
          <a:bodyPr wrap="square" lIns="0" tIns="0" rIns="0" bIns="0" rtlCol="0" anchor="ctr"/>
          <a:lstStyle/>
          <a:p>
            <a:pPr algn="l" indent="0" marL="0">
              <a:buNone/>
            </a:pPr>
            <a:r>
              <a:rPr lang="en-US" sz="1800" b="1" dirty="0">
                <a:solidFill>
                  <a:srgbClr val="1D1438"/>
                </a:solidFill>
                <a:latin typeface="Times New Roman" pitchFamily="34" charset="0"/>
                <a:ea typeface="Times New Roman" pitchFamily="34" charset="-122"/>
                <a:cs typeface="Times New Roman" pitchFamily="34" charset="-120"/>
              </a:rPr>
              <a:t>Random Forest: 200 decision trees</a:t>
            </a:r>
            <a:endParaRPr lang="en-US" sz="1800" dirty="0"/>
          </a:p>
        </p:txBody>
      </p:sp>
      <p:sp>
        <p:nvSpPr>
          <p:cNvPr id="10" name="Text 6"/>
          <p:cNvSpPr txBox="1"/>
          <p:nvPr/>
        </p:nvSpPr>
        <p:spPr>
          <a:xfrm>
            <a:off x="6400800" y="1920240"/>
            <a:ext cx="5029200" cy="1325880"/>
          </a:xfrm>
          <a:prstGeom prst="rect">
            <a:avLst/>
          </a:prstGeom>
          <a:noFill/>
          <a:ln/>
        </p:spPr>
        <p:txBody>
          <a:bodyPr wrap="square" lIns="0" tIns="0" rIns="0" bIns="0" rtlCol="0" anchor="t"/>
          <a:lstStyle/>
          <a:p>
            <a:pPr algn="l" indent="0" marL="0">
              <a:buNone/>
            </a:pPr>
            <a:r>
              <a:rPr lang="en-US" sz="1450" dirty="0">
                <a:solidFill>
                  <a:srgbClr val="1D1438"/>
                </a:solidFill>
                <a:latin typeface="Times New Roman" pitchFamily="34" charset="0"/>
                <a:ea typeface="Times New Roman" pitchFamily="34" charset="-122"/>
                <a:cs typeface="Times New Roman" pitchFamily="34" charset="-120"/>
              </a:rPr>
              <a:t>Each tree learns from a random sample of students; the forest averages their answers. Captures non-linear patterns (e.g. a sudden drop to 0). No scaling needed.</a:t>
            </a:r>
            <a:endParaRPr lang="en-US" sz="1450" dirty="0"/>
          </a:p>
        </p:txBody>
      </p:sp>
      <p:sp>
        <p:nvSpPr>
          <p:cNvPr id="11" name="Shape 7"/>
          <p:cNvSpPr/>
          <p:nvPr/>
        </p:nvSpPr>
        <p:spPr>
          <a:xfrm>
            <a:off x="1353312" y="3611880"/>
            <a:ext cx="420624" cy="420624"/>
          </a:xfrm>
          <a:prstGeom prst="ellipse">
            <a:avLst/>
          </a:prstGeom>
          <a:solidFill>
            <a:srgbClr val="F0287A"/>
          </a:solidFill>
          <a:ln w="12700">
            <a:solidFill>
              <a:srgbClr val="F0287A"/>
            </a:solidFill>
            <a:prstDash val="solid"/>
          </a:ln>
        </p:spPr>
      </p:sp>
      <p:sp>
        <p:nvSpPr>
          <p:cNvPr id="12" name="Shape 8"/>
          <p:cNvSpPr/>
          <p:nvPr/>
        </p:nvSpPr>
        <p:spPr>
          <a:xfrm>
            <a:off x="1874520" y="3822192"/>
            <a:ext cx="1645920" cy="0"/>
          </a:xfrm>
          <a:prstGeom prst="line">
            <a:avLst/>
          </a:prstGeom>
          <a:noFill/>
          <a:ln w="25400">
            <a:solidFill>
              <a:srgbClr val="D6D0E6"/>
            </a:solidFill>
            <a:prstDash val="dash"/>
          </a:ln>
        </p:spPr>
      </p:sp>
      <p:sp>
        <p:nvSpPr>
          <p:cNvPr id="13" name="Text 9"/>
          <p:cNvSpPr txBox="1"/>
          <p:nvPr/>
        </p:nvSpPr>
        <p:spPr>
          <a:xfrm>
            <a:off x="502920" y="4160520"/>
            <a:ext cx="2121408" cy="384048"/>
          </a:xfrm>
          <a:prstGeom prst="rect">
            <a:avLst/>
          </a:prstGeom>
          <a:noFill/>
          <a:ln/>
        </p:spPr>
        <p:txBody>
          <a:bodyPr wrap="square" lIns="0" tIns="0" rIns="0" bIns="0" rtlCol="0" anchor="ct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1. Split 80 / 20</a:t>
            </a:r>
            <a:endParaRPr lang="en-US" sz="1500" dirty="0"/>
          </a:p>
        </p:txBody>
      </p:sp>
      <p:sp>
        <p:nvSpPr>
          <p:cNvPr id="14" name="Text 10"/>
          <p:cNvSpPr txBox="1"/>
          <p:nvPr/>
        </p:nvSpPr>
        <p:spPr>
          <a:xfrm>
            <a:off x="539496" y="4572000"/>
            <a:ext cx="2048256" cy="1280160"/>
          </a:xfrm>
          <a:prstGeom prst="rect">
            <a:avLst/>
          </a:prstGeom>
          <a:noFill/>
          <a:ln/>
        </p:spPr>
        <p:txBody>
          <a:bodyPr wrap="square" lIns="0" tIns="0" rIns="0" bIns="0" rtlCol="0" anchor="t"/>
          <a:lstStyle/>
          <a:p>
            <a:pPr algn="ctr" indent="0" marL="0">
              <a:buNone/>
            </a:pPr>
            <a:r>
              <a:rPr lang="en-US" sz="1300" dirty="0">
                <a:solidFill>
                  <a:srgbClr val="1D1438"/>
                </a:solidFill>
                <a:latin typeface="Times New Roman" pitchFamily="34" charset="0"/>
                <a:ea typeface="Times New Roman" pitchFamily="34" charset="-122"/>
                <a:cs typeface="Times New Roman" pitchFamily="34" charset="-120"/>
              </a:rPr>
              <a:t>316 students to learn from, 79 held back. random_state = 42 makes it repeatable.</a:t>
            </a:r>
            <a:endParaRPr lang="en-US" sz="1300" dirty="0"/>
          </a:p>
        </p:txBody>
      </p:sp>
      <p:sp>
        <p:nvSpPr>
          <p:cNvPr id="15" name="Shape 11"/>
          <p:cNvSpPr/>
          <p:nvPr/>
        </p:nvSpPr>
        <p:spPr>
          <a:xfrm>
            <a:off x="3602736" y="3611880"/>
            <a:ext cx="420624" cy="420624"/>
          </a:xfrm>
          <a:prstGeom prst="ellipse">
            <a:avLst/>
          </a:prstGeom>
          <a:solidFill>
            <a:srgbClr val="E89A00"/>
          </a:solidFill>
          <a:ln w="12700">
            <a:solidFill>
              <a:srgbClr val="E89A00"/>
            </a:solidFill>
            <a:prstDash val="solid"/>
          </a:ln>
        </p:spPr>
      </p:sp>
      <p:sp>
        <p:nvSpPr>
          <p:cNvPr id="16" name="Shape 12"/>
          <p:cNvSpPr/>
          <p:nvPr/>
        </p:nvSpPr>
        <p:spPr>
          <a:xfrm>
            <a:off x="4123944" y="3822192"/>
            <a:ext cx="1645920" cy="0"/>
          </a:xfrm>
          <a:prstGeom prst="line">
            <a:avLst/>
          </a:prstGeom>
          <a:noFill/>
          <a:ln w="25400">
            <a:solidFill>
              <a:srgbClr val="D6D0E6"/>
            </a:solidFill>
            <a:prstDash val="dash"/>
          </a:ln>
        </p:spPr>
      </p:sp>
      <p:sp>
        <p:nvSpPr>
          <p:cNvPr id="17" name="Text 13"/>
          <p:cNvSpPr txBox="1"/>
          <p:nvPr/>
        </p:nvSpPr>
        <p:spPr>
          <a:xfrm>
            <a:off x="2752344" y="4160520"/>
            <a:ext cx="2121408" cy="384048"/>
          </a:xfrm>
          <a:prstGeom prst="rect">
            <a:avLst/>
          </a:prstGeom>
          <a:noFill/>
          <a:ln/>
        </p:spPr>
        <p:txBody>
          <a:bodyPr wrap="square" lIns="0" tIns="0" rIns="0" bIns="0" rtlCol="0" anchor="ct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2. Two feature sets</a:t>
            </a:r>
            <a:endParaRPr lang="en-US" sz="1500" dirty="0"/>
          </a:p>
        </p:txBody>
      </p:sp>
      <p:sp>
        <p:nvSpPr>
          <p:cNvPr id="18" name="Text 14"/>
          <p:cNvSpPr txBox="1"/>
          <p:nvPr/>
        </p:nvSpPr>
        <p:spPr>
          <a:xfrm>
            <a:off x="2788920" y="4572000"/>
            <a:ext cx="2048256" cy="1280160"/>
          </a:xfrm>
          <a:prstGeom prst="rect">
            <a:avLst/>
          </a:prstGeom>
          <a:noFill/>
          <a:ln/>
        </p:spPr>
        <p:txBody>
          <a:bodyPr wrap="square" lIns="0" tIns="0" rIns="0" bIns="0" rtlCol="0" anchor="t"/>
          <a:lstStyle/>
          <a:p>
            <a:pPr algn="ctr" indent="0" marL="0">
              <a:buNone/>
            </a:pPr>
            <a:r>
              <a:rPr lang="en-US" sz="1300" dirty="0">
                <a:solidFill>
                  <a:srgbClr val="1D1438"/>
                </a:solidFill>
                <a:latin typeface="Times New Roman" pitchFamily="34" charset="0"/>
                <a:ea typeface="Times New Roman" pitchFamily="34" charset="-122"/>
                <a:cs typeface="Times New Roman" pitchFamily="34" charset="-120"/>
              </a:rPr>
              <a:t>With G1/G2 (41 features) and without them (39) as an early-warning model.</a:t>
            </a:r>
            <a:endParaRPr lang="en-US" sz="1300" dirty="0"/>
          </a:p>
        </p:txBody>
      </p:sp>
      <p:sp>
        <p:nvSpPr>
          <p:cNvPr id="19" name="Shape 15"/>
          <p:cNvSpPr/>
          <p:nvPr/>
        </p:nvSpPr>
        <p:spPr>
          <a:xfrm>
            <a:off x="5852160" y="3611880"/>
            <a:ext cx="420624" cy="420624"/>
          </a:xfrm>
          <a:prstGeom prst="ellipse">
            <a:avLst/>
          </a:prstGeom>
          <a:solidFill>
            <a:srgbClr val="7C4DFF"/>
          </a:solidFill>
          <a:ln w="12700">
            <a:solidFill>
              <a:srgbClr val="7C4DFF"/>
            </a:solidFill>
            <a:prstDash val="solid"/>
          </a:ln>
        </p:spPr>
      </p:sp>
      <p:sp>
        <p:nvSpPr>
          <p:cNvPr id="20" name="Shape 16"/>
          <p:cNvSpPr/>
          <p:nvPr/>
        </p:nvSpPr>
        <p:spPr>
          <a:xfrm>
            <a:off x="6373368" y="3822192"/>
            <a:ext cx="1645920" cy="0"/>
          </a:xfrm>
          <a:prstGeom prst="line">
            <a:avLst/>
          </a:prstGeom>
          <a:noFill/>
          <a:ln w="25400">
            <a:solidFill>
              <a:srgbClr val="D6D0E6"/>
            </a:solidFill>
            <a:prstDash val="dash"/>
          </a:ln>
        </p:spPr>
      </p:sp>
      <p:sp>
        <p:nvSpPr>
          <p:cNvPr id="21" name="Text 17"/>
          <p:cNvSpPr txBox="1"/>
          <p:nvPr/>
        </p:nvSpPr>
        <p:spPr>
          <a:xfrm>
            <a:off x="5001768" y="4160520"/>
            <a:ext cx="2121408" cy="384048"/>
          </a:xfrm>
          <a:prstGeom prst="rect">
            <a:avLst/>
          </a:prstGeom>
          <a:noFill/>
          <a:ln/>
        </p:spPr>
        <p:txBody>
          <a:bodyPr wrap="square" lIns="0" tIns="0" rIns="0" bIns="0" rtlCol="0" anchor="ct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3. Train</a:t>
            </a:r>
            <a:endParaRPr lang="en-US" sz="1500" dirty="0"/>
          </a:p>
        </p:txBody>
      </p:sp>
      <p:sp>
        <p:nvSpPr>
          <p:cNvPr id="22" name="Text 18"/>
          <p:cNvSpPr txBox="1"/>
          <p:nvPr/>
        </p:nvSpPr>
        <p:spPr>
          <a:xfrm>
            <a:off x="5038344" y="4572000"/>
            <a:ext cx="2048256" cy="1280160"/>
          </a:xfrm>
          <a:prstGeom prst="rect">
            <a:avLst/>
          </a:prstGeom>
          <a:noFill/>
          <a:ln/>
        </p:spPr>
        <p:txBody>
          <a:bodyPr wrap="square" lIns="0" tIns="0" rIns="0" bIns="0" rtlCol="0" anchor="t"/>
          <a:lstStyle/>
          <a:p>
            <a:pPr algn="ctr" indent="0" marL="0">
              <a:buNone/>
            </a:pPr>
            <a:r>
              <a:rPr lang="en-US" sz="1300" dirty="0">
                <a:solidFill>
                  <a:srgbClr val="1D1438"/>
                </a:solidFill>
                <a:latin typeface="Times New Roman" pitchFamily="34" charset="0"/>
                <a:ea typeface="Times New Roman" pitchFamily="34" charset="-122"/>
                <a:cs typeface="Times New Roman" pitchFamily="34" charset="-120"/>
              </a:rPr>
              <a:t>Each model learns only from the 316 training students.</a:t>
            </a:r>
            <a:endParaRPr lang="en-US" sz="1300" dirty="0"/>
          </a:p>
        </p:txBody>
      </p:sp>
      <p:sp>
        <p:nvSpPr>
          <p:cNvPr id="23" name="Shape 19"/>
          <p:cNvSpPr/>
          <p:nvPr/>
        </p:nvSpPr>
        <p:spPr>
          <a:xfrm>
            <a:off x="8101584" y="3611880"/>
            <a:ext cx="420624" cy="420624"/>
          </a:xfrm>
          <a:prstGeom prst="ellipse">
            <a:avLst/>
          </a:prstGeom>
          <a:solidFill>
            <a:srgbClr val="0FA47A"/>
          </a:solidFill>
          <a:ln w="12700">
            <a:solidFill>
              <a:srgbClr val="0FA47A"/>
            </a:solidFill>
            <a:prstDash val="solid"/>
          </a:ln>
        </p:spPr>
      </p:sp>
      <p:sp>
        <p:nvSpPr>
          <p:cNvPr id="24" name="Shape 20"/>
          <p:cNvSpPr/>
          <p:nvPr/>
        </p:nvSpPr>
        <p:spPr>
          <a:xfrm>
            <a:off x="8622792" y="3822192"/>
            <a:ext cx="1645920" cy="0"/>
          </a:xfrm>
          <a:prstGeom prst="line">
            <a:avLst/>
          </a:prstGeom>
          <a:noFill/>
          <a:ln w="25400">
            <a:solidFill>
              <a:srgbClr val="D6D0E6"/>
            </a:solidFill>
            <a:prstDash val="dash"/>
          </a:ln>
        </p:spPr>
      </p:sp>
      <p:sp>
        <p:nvSpPr>
          <p:cNvPr id="25" name="Text 21"/>
          <p:cNvSpPr txBox="1"/>
          <p:nvPr/>
        </p:nvSpPr>
        <p:spPr>
          <a:xfrm>
            <a:off x="7251192" y="4160520"/>
            <a:ext cx="2121408" cy="384048"/>
          </a:xfrm>
          <a:prstGeom prst="rect">
            <a:avLst/>
          </a:prstGeom>
          <a:noFill/>
          <a:ln/>
        </p:spPr>
        <p:txBody>
          <a:bodyPr wrap="square" lIns="0" tIns="0" rIns="0" bIns="0" rtlCol="0" anchor="ct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4. Test</a:t>
            </a:r>
            <a:endParaRPr lang="en-US" sz="1500" dirty="0"/>
          </a:p>
        </p:txBody>
      </p:sp>
      <p:sp>
        <p:nvSpPr>
          <p:cNvPr id="26" name="Text 22"/>
          <p:cNvSpPr txBox="1"/>
          <p:nvPr/>
        </p:nvSpPr>
        <p:spPr>
          <a:xfrm>
            <a:off x="7287768" y="4572000"/>
            <a:ext cx="2048256" cy="1280160"/>
          </a:xfrm>
          <a:prstGeom prst="rect">
            <a:avLst/>
          </a:prstGeom>
          <a:noFill/>
          <a:ln/>
        </p:spPr>
        <p:txBody>
          <a:bodyPr wrap="square" lIns="0" tIns="0" rIns="0" bIns="0" rtlCol="0" anchor="t"/>
          <a:lstStyle/>
          <a:p>
            <a:pPr algn="ctr" indent="0" marL="0">
              <a:buNone/>
            </a:pPr>
            <a:r>
              <a:rPr lang="en-US" sz="1300" dirty="0">
                <a:solidFill>
                  <a:srgbClr val="1D1438"/>
                </a:solidFill>
                <a:latin typeface="Times New Roman" pitchFamily="34" charset="0"/>
                <a:ea typeface="Times New Roman" pitchFamily="34" charset="-122"/>
                <a:cs typeface="Times New Roman" pitchFamily="34" charset="-120"/>
              </a:rPr>
              <a:t>Predict the 79 unseen students; score with MSE and R².</a:t>
            </a:r>
            <a:endParaRPr lang="en-US" sz="1300" dirty="0"/>
          </a:p>
        </p:txBody>
      </p:sp>
      <p:sp>
        <p:nvSpPr>
          <p:cNvPr id="27" name="Shape 23"/>
          <p:cNvSpPr/>
          <p:nvPr/>
        </p:nvSpPr>
        <p:spPr>
          <a:xfrm>
            <a:off x="10351008" y="3611880"/>
            <a:ext cx="420624" cy="420624"/>
          </a:xfrm>
          <a:prstGeom prst="ellipse">
            <a:avLst/>
          </a:prstGeom>
          <a:solidFill>
            <a:srgbClr val="0096D6"/>
          </a:solidFill>
          <a:ln w="12700">
            <a:solidFill>
              <a:srgbClr val="0096D6"/>
            </a:solidFill>
            <a:prstDash val="solid"/>
          </a:ln>
        </p:spPr>
      </p:sp>
      <p:sp>
        <p:nvSpPr>
          <p:cNvPr id="28" name="Text 24"/>
          <p:cNvSpPr txBox="1"/>
          <p:nvPr/>
        </p:nvSpPr>
        <p:spPr>
          <a:xfrm>
            <a:off x="9500616" y="4160520"/>
            <a:ext cx="2121408" cy="384048"/>
          </a:xfrm>
          <a:prstGeom prst="rect">
            <a:avLst/>
          </a:prstGeom>
          <a:noFill/>
          <a:ln/>
        </p:spPr>
        <p:txBody>
          <a:bodyPr wrap="square" lIns="0" tIns="0" rIns="0" bIns="0" rtlCol="0" anchor="ctr"/>
          <a:lstStyle/>
          <a:p>
            <a:pPr algn="ctr" indent="0" marL="0">
              <a:buNone/>
            </a:pPr>
            <a:r>
              <a:rPr lang="en-US" sz="1500" b="1" dirty="0">
                <a:solidFill>
                  <a:srgbClr val="1D1438"/>
                </a:solidFill>
                <a:latin typeface="Times New Roman" pitchFamily="34" charset="0"/>
                <a:ea typeface="Times New Roman" pitchFamily="34" charset="-122"/>
                <a:cs typeface="Times New Roman" pitchFamily="34" charset="-120"/>
              </a:rPr>
              <a:t>5. Cross-validate</a:t>
            </a:r>
            <a:endParaRPr lang="en-US" sz="1500" dirty="0"/>
          </a:p>
        </p:txBody>
      </p:sp>
      <p:sp>
        <p:nvSpPr>
          <p:cNvPr id="29" name="Text 25"/>
          <p:cNvSpPr txBox="1"/>
          <p:nvPr/>
        </p:nvSpPr>
        <p:spPr>
          <a:xfrm>
            <a:off x="9537192" y="4572000"/>
            <a:ext cx="2048256" cy="1280160"/>
          </a:xfrm>
          <a:prstGeom prst="rect">
            <a:avLst/>
          </a:prstGeom>
          <a:noFill/>
          <a:ln/>
        </p:spPr>
        <p:txBody>
          <a:bodyPr wrap="square" lIns="0" tIns="0" rIns="0" bIns="0" rtlCol="0" anchor="t"/>
          <a:lstStyle/>
          <a:p>
            <a:pPr algn="ctr" indent="0" marL="0">
              <a:buNone/>
            </a:pPr>
            <a:r>
              <a:rPr lang="en-US" sz="1300" dirty="0">
                <a:solidFill>
                  <a:srgbClr val="1D1438"/>
                </a:solidFill>
                <a:latin typeface="Times New Roman" pitchFamily="34" charset="0"/>
                <a:ea typeface="Times New Roman" pitchFamily="34" charset="-122"/>
                <a:cs typeface="Times New Roman" pitchFamily="34" charset="-120"/>
              </a:rPr>
              <a:t>5-fold CV: each fifth takes a turn as the test set; the 5 scores are averaged.</a:t>
            </a:r>
            <a:endParaRPr lang="en-US" sz="1300" dirty="0"/>
          </a:p>
        </p:txBody>
      </p:sp>
      <p:sp>
        <p:nvSpPr>
          <p:cNvPr id="30" name="Text 26"/>
          <p:cNvSpPr txBox="1"/>
          <p:nvPr/>
        </p:nvSpPr>
        <p:spPr>
          <a:xfrm>
            <a:off x="502920" y="5943600"/>
            <a:ext cx="11155680" cy="411480"/>
          </a:xfrm>
          <a:prstGeom prst="rect">
            <a:avLst/>
          </a:prstGeom>
          <a:noFill/>
          <a:ln/>
        </p:spPr>
        <p:txBody>
          <a:bodyPr wrap="square" lIns="0" tIns="0" rIns="0" bIns="0" rtlCol="0" anchor="ctr"/>
          <a:lstStyle/>
          <a:p>
            <a:pPr algn="ctr" indent="0" marL="0">
              <a:buNone/>
            </a:pPr>
            <a:r>
              <a:rPr lang="en-US" sz="1400" b="1" i="1" dirty="0">
                <a:solidFill>
                  <a:srgbClr val="7C4DFF"/>
                </a:solidFill>
                <a:latin typeface="Times New Roman" pitchFamily="34" charset="0"/>
                <a:ea typeface="Times New Roman" pitchFamily="34" charset="-122"/>
                <a:cs typeface="Times New Roman" pitchFamily="34" charset="-120"/>
              </a:rPr>
              <a:t>Why both models? Compare a simple, explainable baseline with a more powerful model and see if the extra complexity pays off.</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2000">
        <p14:honeycomb/>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Performance Metrics</a:t>
            </a:r>
            <a:endParaRPr lang="en-US" sz="3200" dirty="0"/>
          </a:p>
        </p:txBody>
      </p:sp>
      <p:sp>
        <p:nvSpPr>
          <p:cNvPr id="5" name="Shape 1"/>
          <p:cNvSpPr/>
          <p:nvPr/>
        </p:nvSpPr>
        <p:spPr>
          <a:xfrm>
            <a:off x="502920" y="1234440"/>
            <a:ext cx="5486400" cy="960120"/>
          </a:xfrm>
          <a:prstGeom prst="rect">
            <a:avLst/>
          </a:prstGeom>
          <a:solidFill>
            <a:srgbClr val="DDF2FC"/>
          </a:solidFill>
          <a:ln w="12700">
            <a:solidFill>
              <a:srgbClr val="DDF2FC"/>
            </a:solidFill>
            <a:prstDash val="solid"/>
          </a:ln>
        </p:spPr>
      </p:sp>
      <p:sp>
        <p:nvSpPr>
          <p:cNvPr id="6" name="Text 2"/>
          <p:cNvSpPr txBox="1"/>
          <p:nvPr/>
        </p:nvSpPr>
        <p:spPr>
          <a:xfrm>
            <a:off x="731520" y="1399032"/>
            <a:ext cx="5029200" cy="420624"/>
          </a:xfrm>
          <a:prstGeom prst="rect">
            <a:avLst/>
          </a:prstGeom>
          <a:noFill/>
          <a:ln/>
        </p:spPr>
        <p:txBody>
          <a:bodyPr wrap="square" lIns="0" tIns="0" rIns="0" bIns="0" rtlCol="0" anchor="ctr"/>
          <a:lstStyle/>
          <a:p>
            <a:pPr algn="l" indent="0" marL="0">
              <a:buNone/>
            </a:pPr>
            <a:r>
              <a:rPr lang="en-US" sz="1600" b="1" dirty="0">
                <a:solidFill>
                  <a:srgbClr val="1D1438"/>
                </a:solidFill>
                <a:latin typeface="Times New Roman" pitchFamily="34" charset="0"/>
                <a:ea typeface="Times New Roman" pitchFamily="34" charset="-122"/>
                <a:cs typeface="Times New Roman" pitchFamily="34" charset="-120"/>
              </a:rPr>
              <a:t>MSE (Mean Squared Error)</a:t>
            </a:r>
            <a:endParaRPr lang="en-US" sz="1600" dirty="0"/>
          </a:p>
        </p:txBody>
      </p:sp>
      <p:sp>
        <p:nvSpPr>
          <p:cNvPr id="7" name="Text 3"/>
          <p:cNvSpPr txBox="1"/>
          <p:nvPr/>
        </p:nvSpPr>
        <p:spPr>
          <a:xfrm>
            <a:off x="731520" y="1874520"/>
            <a:ext cx="5029200" cy="54864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Average of (actual − predicted)². Lower is better.</a:t>
            </a:r>
            <a:endParaRPr lang="en-US" sz="1350" dirty="0"/>
          </a:p>
        </p:txBody>
      </p:sp>
      <p:sp>
        <p:nvSpPr>
          <p:cNvPr id="8" name="Shape 4"/>
          <p:cNvSpPr/>
          <p:nvPr/>
        </p:nvSpPr>
        <p:spPr>
          <a:xfrm>
            <a:off x="6172200" y="1234440"/>
            <a:ext cx="5486400" cy="960120"/>
          </a:xfrm>
          <a:prstGeom prst="rect">
            <a:avLst/>
          </a:prstGeom>
          <a:solidFill>
            <a:srgbClr val="ECE4FF"/>
          </a:solidFill>
          <a:ln w="12700">
            <a:solidFill>
              <a:srgbClr val="ECE4FF"/>
            </a:solidFill>
            <a:prstDash val="solid"/>
          </a:ln>
        </p:spPr>
      </p:sp>
      <p:sp>
        <p:nvSpPr>
          <p:cNvPr id="9" name="Text 5"/>
          <p:cNvSpPr txBox="1"/>
          <p:nvPr/>
        </p:nvSpPr>
        <p:spPr>
          <a:xfrm>
            <a:off x="6400800" y="1399032"/>
            <a:ext cx="5029200" cy="420624"/>
          </a:xfrm>
          <a:prstGeom prst="rect">
            <a:avLst/>
          </a:prstGeom>
          <a:noFill/>
          <a:ln/>
        </p:spPr>
        <p:txBody>
          <a:bodyPr wrap="square" lIns="0" tIns="0" rIns="0" bIns="0" rtlCol="0" anchor="ctr"/>
          <a:lstStyle/>
          <a:p>
            <a:pPr algn="l" indent="0" marL="0">
              <a:buNone/>
            </a:pPr>
            <a:r>
              <a:rPr lang="en-US" sz="1600" b="1" dirty="0">
                <a:solidFill>
                  <a:srgbClr val="1D1438"/>
                </a:solidFill>
                <a:latin typeface="Times New Roman" pitchFamily="34" charset="0"/>
                <a:ea typeface="Times New Roman" pitchFamily="34" charset="-122"/>
                <a:cs typeface="Times New Roman" pitchFamily="34" charset="-120"/>
              </a:rPr>
              <a:t>R² (coefficient of determination)</a:t>
            </a:r>
            <a:endParaRPr lang="en-US" sz="1600" dirty="0"/>
          </a:p>
        </p:txBody>
      </p:sp>
      <p:sp>
        <p:nvSpPr>
          <p:cNvPr id="10" name="Text 6"/>
          <p:cNvSpPr txBox="1"/>
          <p:nvPr/>
        </p:nvSpPr>
        <p:spPr>
          <a:xfrm>
            <a:off x="6400800" y="1874520"/>
            <a:ext cx="5029200" cy="54864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Share of grade variation explained. 1 = perfect, 0 = guessing the average.</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2377440"/>
          <a:ext cx="6675120" cy="914400"/>
        </p:xfrm>
        <a:graphic>
          <a:graphicData uri="http://schemas.openxmlformats.org/drawingml/2006/table">
            <a:tbl>
              <a:tblPr/>
              <a:tblGrid>
                <a:gridCol w="1783080"/>
                <a:gridCol w="1463040"/>
                <a:gridCol w="914400"/>
                <a:gridCol w="1143000"/>
                <a:gridCol w="1371600"/>
              </a:tblGrid>
              <a:tr h="475488">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Model</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1E0B4B"/>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Features</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1E0B4B"/>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MSE</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1E0B4B"/>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R² (test)</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1E0B4B"/>
                    </a:solidFill>
                  </a:tcPr>
                </a:tc>
                <a:tc>
                  <a:txBody>
                    <a:bodyP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R² (5-fold CV)</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1E0B4B"/>
                    </a:solidFill>
                  </a:tcPr>
                </a:tc>
              </a:tr>
              <a:tr h="475488">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Linear Regression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with G1/G2</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5.66</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0.724</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0.792</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6F3FC"/>
                    </a:solidFill>
                  </a:tcPr>
                </a:tc>
              </a:tr>
              <a:tr h="475488">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Linear Regression</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without G1/G2</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17.60</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0.141</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0.026</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r>
              <a:tr h="475488">
                <a:tc>
                  <a:txBody>
                    <a:bodyPr/>
                    <a:lstStyle/>
                    <a:p>
                      <a:pPr algn="ctr" indent="0" marL="0">
                        <a:buNone/>
                      </a:pPr>
                      <a:r>
                        <a:rPr lang="en-US" sz="1400" b="1" dirty="0">
                          <a:solidFill>
                            <a:srgbClr val="1D1438"/>
                          </a:solidFill>
                          <a:latin typeface="Times New Roman" pitchFamily="34" charset="0"/>
                          <a:ea typeface="Times New Roman" pitchFamily="34" charset="-122"/>
                          <a:cs typeface="Times New Roman" pitchFamily="34" charset="-120"/>
                        </a:rPr>
                        <a:t>Random Forest</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DBF5EC"/>
                    </a:solidFill>
                  </a:tcPr>
                </a:tc>
                <a:tc>
                  <a:txBody>
                    <a:bodyPr/>
                    <a:lstStyle/>
                    <a:p>
                      <a:pPr algn="ctr" indent="0" marL="0">
                        <a:buNone/>
                      </a:pPr>
                      <a:r>
                        <a:rPr lang="en-US" sz="1400" b="1" dirty="0">
                          <a:solidFill>
                            <a:srgbClr val="1D1438"/>
                          </a:solidFill>
                          <a:latin typeface="Times New Roman" pitchFamily="34" charset="0"/>
                          <a:ea typeface="Times New Roman" pitchFamily="34" charset="-122"/>
                          <a:cs typeface="Times New Roman" pitchFamily="34" charset="-120"/>
                        </a:rPr>
                        <a:t>with G1/G2</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DBF5EC"/>
                    </a:solidFill>
                  </a:tcPr>
                </a:tc>
                <a:tc>
                  <a:txBody>
                    <a:bodyPr/>
                    <a:lstStyle/>
                    <a:p>
                      <a:pPr algn="ctr" indent="0" marL="0">
                        <a:buNone/>
                      </a:pPr>
                      <a:r>
                        <a:rPr lang="en-US" sz="1400" b="1" dirty="0">
                          <a:solidFill>
                            <a:srgbClr val="1D1438"/>
                          </a:solidFill>
                          <a:latin typeface="Times New Roman" pitchFamily="34" charset="0"/>
                          <a:ea typeface="Times New Roman" pitchFamily="34" charset="-122"/>
                          <a:cs typeface="Times New Roman" pitchFamily="34" charset="-120"/>
                        </a:rPr>
                        <a:t>3.87</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DBF5EC"/>
                    </a:solidFill>
                  </a:tcPr>
                </a:tc>
                <a:tc>
                  <a:txBody>
                    <a:bodyPr/>
                    <a:lstStyle/>
                    <a:p>
                      <a:pPr algn="ctr" indent="0" marL="0">
                        <a:buNone/>
                      </a:pPr>
                      <a:r>
                        <a:rPr lang="en-US" sz="1400" b="1" dirty="0">
                          <a:solidFill>
                            <a:srgbClr val="1D1438"/>
                          </a:solidFill>
                          <a:latin typeface="Times New Roman" pitchFamily="34" charset="0"/>
                          <a:ea typeface="Times New Roman" pitchFamily="34" charset="-122"/>
                          <a:cs typeface="Times New Roman" pitchFamily="34" charset="-120"/>
                        </a:rPr>
                        <a:t>0.811</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DBF5EC"/>
                    </a:solidFill>
                  </a:tcPr>
                </a:tc>
                <a:tc>
                  <a:txBody>
                    <a:bodyPr/>
                    <a:lstStyle/>
                    <a:p>
                      <a:pPr algn="ctr" indent="0" marL="0">
                        <a:buNone/>
                      </a:pPr>
                      <a:r>
                        <a:rPr lang="en-US" sz="1400" b="1" dirty="0">
                          <a:solidFill>
                            <a:srgbClr val="1D1438"/>
                          </a:solidFill>
                          <a:latin typeface="Times New Roman" pitchFamily="34" charset="0"/>
                          <a:ea typeface="Times New Roman" pitchFamily="34" charset="-122"/>
                          <a:cs typeface="Times New Roman" pitchFamily="34" charset="-120"/>
                        </a:rPr>
                        <a:t>0.872</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DBF5EC"/>
                    </a:solidFill>
                  </a:tcPr>
                </a:tc>
              </a:tr>
              <a:tr h="475488">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Random Forest</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without G1/G2</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14.97</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0.270</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D1438"/>
                          </a:solidFill>
                          <a:latin typeface="Times New Roman" pitchFamily="34" charset="0"/>
                          <a:ea typeface="Times New Roman" pitchFamily="34" charset="-122"/>
                          <a:cs typeface="Times New Roman" pitchFamily="34" charset="-120"/>
                        </a:rPr>
                        <a:t>0.286</a:t>
                      </a:r>
                      <a:endParaRPr lang="en-US" sz="1400" dirty="0">
                        <a:latin typeface="Times New Roman" charset="0"/>
                        <a:ea typeface="Times New Roman" charset="0"/>
                        <a:cs typeface="Times New Roman" charset="0"/>
                      </a:endParaRPr>
                    </a:p>
                  </a:txBody>
                  <a:tcPr marL="91440" marR="91440" marT="45720" marB="45720" anchor="ctr">
                    <a:lnL w="9525" cap="flat" cmpd="sng" algn="ctr">
                      <a:solidFill>
                        <a:srgbClr val="E6E2EF"/>
                      </a:solidFill>
                      <a:prstDash val="solid"/>
                      <a:round/>
                      <a:headEnd type="none" w="med" len="med"/>
                      <a:tailEnd type="none" w="med" len="med"/>
                    </a:lnL>
                    <a:lnR w="9525" cap="flat" cmpd="sng" algn="ctr">
                      <a:solidFill>
                        <a:srgbClr val="E6E2EF"/>
                      </a:solidFill>
                      <a:prstDash val="solid"/>
                      <a:round/>
                      <a:headEnd type="none" w="med" len="med"/>
                      <a:tailEnd type="none" w="med" len="med"/>
                    </a:lnR>
                    <a:lnT w="9525" cap="flat" cmpd="sng" algn="ctr">
                      <a:solidFill>
                        <a:srgbClr val="E6E2EF"/>
                      </a:solidFill>
                      <a:prstDash val="solid"/>
                      <a:round/>
                      <a:headEnd type="none" w="med" len="med"/>
                      <a:tailEnd type="none" w="med" len="med"/>
                    </a:lnT>
                    <a:lnB w="9525" cap="flat" cmpd="sng" algn="ctr">
                      <a:solidFill>
                        <a:srgbClr val="E6E2EF"/>
                      </a:solidFill>
                      <a:prstDash val="solid"/>
                      <a:round/>
                      <a:headEnd type="none" w="med" len="med"/>
                      <a:tailEnd type="none" w="med" len="med"/>
                    </a:lnB>
                    <a:solidFill>
                      <a:srgbClr val="FFFFFF"/>
                    </a:solidFill>
                  </a:tcPr>
                </a:tc>
              </a:tr>
            </a:tbl>
          </a:graphicData>
        </a:graphic>
      </p:graphicFrame>
      <p:graphicFrame>
        <p:nvGraphicFramePr>
          <p:cNvPr id="12" name="Chart 0" descr=""/>
          <p:cNvGraphicFramePr/>
          <p:nvPr/>
        </p:nvGraphicFramePr>
        <p:xfrm>
          <a:off x="7406640" y="2286000"/>
          <a:ext cx="4251960" cy="3063240"/>
        </p:xfrm>
        <a:graphic xmlns:a="http://schemas.openxmlformats.org/drawingml/2006/main">
          <a:graphicData uri="http://schemas.openxmlformats.org/drawingml/2006/chart">
            <c:chart xmlns:c="http://schemas.openxmlformats.org/drawingml/2006/chart" r:id="rId2"/>
          </a:graphicData>
        </a:graphic>
      </p:graphicFrame>
      <p:sp>
        <p:nvSpPr>
          <p:cNvPr id="13" name="Shape 7"/>
          <p:cNvSpPr/>
          <p:nvPr/>
        </p:nvSpPr>
        <p:spPr>
          <a:xfrm>
            <a:off x="502920" y="4937760"/>
            <a:ext cx="6675120" cy="1325880"/>
          </a:xfrm>
          <a:prstGeom prst="rect">
            <a:avLst/>
          </a:prstGeom>
          <a:solidFill>
            <a:srgbClr val="DBF5EC"/>
          </a:solidFill>
          <a:ln w="12700">
            <a:solidFill>
              <a:srgbClr val="DBF5EC"/>
            </a:solidFill>
            <a:prstDash val="solid"/>
          </a:ln>
        </p:spPr>
      </p:sp>
      <p:sp>
        <p:nvSpPr>
          <p:cNvPr id="14" name="Text 8"/>
          <p:cNvSpPr txBox="1"/>
          <p:nvPr/>
        </p:nvSpPr>
        <p:spPr>
          <a:xfrm>
            <a:off x="731520" y="4937760"/>
            <a:ext cx="6263640" cy="1325880"/>
          </a:xfrm>
          <a:prstGeom prst="rect">
            <a:avLst/>
          </a:prstGeom>
          <a:noFill/>
          <a:ln/>
        </p:spPr>
        <p:txBody>
          <a:bodyPr wrap="square" lIns="0" tIns="0" rIns="0" bIns="0" rtlCol="0" anchor="ctr"/>
          <a:lstStyle/>
          <a:p>
            <a:pPr indent="0" marL="0">
              <a:buNone/>
            </a:pPr>
            <a:r>
              <a:rPr lang="en-US" sz="1450" b="1" dirty="0">
                <a:solidFill>
                  <a:srgbClr val="0FA47A"/>
                </a:solidFill>
                <a:latin typeface="Times New Roman" pitchFamily="34" charset="0"/>
                <a:ea typeface="Times New Roman" pitchFamily="34" charset="-122"/>
                <a:cs typeface="Times New Roman" pitchFamily="34" charset="-120"/>
              </a:rPr>
              <a:t>Best: Random Forest with G1/G2. </a:t>
            </a:r>
            <a:pPr indent="0" marL="0">
              <a:buNone/>
            </a:pPr>
            <a:r>
              <a:rPr lang="en-US" sz="1450" dirty="0">
                <a:solidFill>
                  <a:srgbClr val="1D1438"/>
                </a:solidFill>
                <a:latin typeface="Times New Roman" pitchFamily="34" charset="0"/>
                <a:ea typeface="Times New Roman" pitchFamily="34" charset="-122"/>
                <a:cs typeface="Times New Roman" pitchFamily="34" charset="-120"/>
              </a:rPr>
              <a:t>Lowest error; explains about 81% (test) to 87% (CV) of grade variation. Random Forest beats Linear Regression in both settings, and removing G1/G2 makes R² drop sharply.</a:t>
            </a:r>
            <a:endParaRPr lang="en-US" sz="1450" dirty="0"/>
          </a:p>
        </p:txBody>
      </p:sp>
      <p:sp>
        <p:nvSpPr>
          <p:cNvPr id="15" name="Text 9"/>
          <p:cNvSpPr txBox="1"/>
          <p:nvPr/>
        </p:nvSpPr>
        <p:spPr>
          <a:xfrm>
            <a:off x="7406640" y="5577840"/>
            <a:ext cx="4251960" cy="365760"/>
          </a:xfrm>
          <a:prstGeom prst="rect">
            <a:avLst/>
          </a:prstGeom>
          <a:noFill/>
          <a:ln/>
        </p:spPr>
        <p:txBody>
          <a:bodyPr wrap="square" lIns="0" tIns="0" rIns="0" bIns="0" rtlCol="0" anchor="ctr"/>
          <a:lstStyle/>
          <a:p>
            <a:pPr algn="ctr" indent="0" marL="0">
              <a:buNone/>
            </a:pPr>
            <a:r>
              <a:rPr lang="en-US" sz="1300" dirty="0">
                <a:solidFill>
                  <a:srgbClr val="5E5873"/>
                </a:solidFill>
                <a:latin typeface="Times New Roman" pitchFamily="34" charset="0"/>
                <a:ea typeface="Times New Roman" pitchFamily="34" charset="-122"/>
                <a:cs typeface="Times New Roman" pitchFamily="34" charset="-120"/>
              </a:rPr>
              <a:t>Mean-only baseline: MSE 20.7</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Actual vs. Predicted Grades</a:t>
            </a:r>
            <a:endParaRPr lang="en-US" sz="3200" dirty="0"/>
          </a:p>
        </p:txBody>
      </p:sp>
      <p:pic>
        <p:nvPicPr>
          <p:cNvPr id="5" name="Image 1" descr="figs/actual_vs_pred.png">    </p:cNvPr>
          <p:cNvPicPr>
            <a:picLocks noChangeAspect="1"/>
          </p:cNvPicPr>
          <p:nvPr/>
        </p:nvPicPr>
        <p:blipFill>
          <a:blip r:embed="rId2"/>
          <a:stretch>
            <a:fillRect/>
          </a:stretch>
        </p:blipFill>
        <p:spPr>
          <a:xfrm>
            <a:off x="502920" y="1188720"/>
            <a:ext cx="6188038" cy="5074920"/>
          </a:xfrm>
          <a:prstGeom prst="rect">
            <a:avLst/>
          </a:prstGeom>
        </p:spPr>
      </p:pic>
      <p:sp>
        <p:nvSpPr>
          <p:cNvPr id="6" name="Shape 1"/>
          <p:cNvSpPr/>
          <p:nvPr/>
        </p:nvSpPr>
        <p:spPr>
          <a:xfrm>
            <a:off x="6965278" y="1234440"/>
            <a:ext cx="4693322" cy="1600200"/>
          </a:xfrm>
          <a:prstGeom prst="rect">
            <a:avLst/>
          </a:prstGeom>
          <a:solidFill>
            <a:srgbClr val="ECE4FF"/>
          </a:solidFill>
          <a:ln w="12700">
            <a:solidFill>
              <a:srgbClr val="ECE4FF"/>
            </a:solidFill>
            <a:prstDash val="solid"/>
          </a:ln>
        </p:spPr>
      </p:sp>
      <p:sp>
        <p:nvSpPr>
          <p:cNvPr id="7" name="Text 2"/>
          <p:cNvSpPr txBox="1"/>
          <p:nvPr/>
        </p:nvSpPr>
        <p:spPr>
          <a:xfrm>
            <a:off x="7193878" y="1399032"/>
            <a:ext cx="4236122" cy="420624"/>
          </a:xfrm>
          <a:prstGeom prst="rect">
            <a:avLst/>
          </a:prstGeom>
          <a:noFill/>
          <a:ln/>
        </p:spPr>
        <p:txBody>
          <a:bodyPr wrap="square" lIns="0" tIns="0" rIns="0" bIns="0" rtlCol="0" anchor="ctr"/>
          <a:lstStyle/>
          <a:p>
            <a:pPr algn="l" indent="0" marL="0">
              <a:buNone/>
            </a:pPr>
            <a:r>
              <a:rPr lang="en-US" sz="1700" b="1" dirty="0">
                <a:solidFill>
                  <a:srgbClr val="1D1438"/>
                </a:solidFill>
                <a:latin typeface="Times New Roman" pitchFamily="34" charset="0"/>
                <a:ea typeface="Times New Roman" pitchFamily="34" charset="-122"/>
                <a:cs typeface="Times New Roman" pitchFamily="34" charset="-120"/>
              </a:rPr>
              <a:t>How to read it</a:t>
            </a:r>
            <a:endParaRPr lang="en-US" sz="1700" dirty="0"/>
          </a:p>
        </p:txBody>
      </p:sp>
      <p:sp>
        <p:nvSpPr>
          <p:cNvPr id="8" name="Text 3"/>
          <p:cNvSpPr txBox="1"/>
          <p:nvPr/>
        </p:nvSpPr>
        <p:spPr>
          <a:xfrm>
            <a:off x="7193878" y="1874520"/>
            <a:ext cx="4236122" cy="822960"/>
          </a:xfrm>
          <a:prstGeom prst="rect">
            <a:avLst/>
          </a:prstGeom>
          <a:noFill/>
          <a:ln/>
        </p:spPr>
        <p:txBody>
          <a:bodyPr wrap="square" lIns="0" tIns="0" rIns="0" bIns="0" rtlCol="0" anchor="t"/>
          <a:lstStyle/>
          <a:p>
            <a:pPr algn="l" indent="0" marL="0">
              <a:buNone/>
            </a:pPr>
            <a:r>
              <a:rPr lang="en-US" sz="1350" dirty="0">
                <a:solidFill>
                  <a:srgbClr val="1D1438"/>
                </a:solidFill>
                <a:latin typeface="Times New Roman" pitchFamily="34" charset="0"/>
                <a:ea typeface="Times New Roman" pitchFamily="34" charset="-122"/>
                <a:cs typeface="Times New Roman" pitchFamily="34" charset="-120"/>
              </a:rPr>
              <a:t>Each dot is one test student. Dots on the dashed y = x line are perfect predictions; the farther away, the bigger the error.</a:t>
            </a:r>
            <a:endParaRPr lang="en-US" sz="1350" dirty="0"/>
          </a:p>
        </p:txBody>
      </p:sp>
      <p:sp>
        <p:nvSpPr>
          <p:cNvPr id="9" name="Shape 4"/>
          <p:cNvSpPr/>
          <p:nvPr/>
        </p:nvSpPr>
        <p:spPr>
          <a:xfrm>
            <a:off x="6965278" y="2971800"/>
            <a:ext cx="4693322" cy="749808"/>
          </a:xfrm>
          <a:prstGeom prst="rect">
            <a:avLst/>
          </a:prstGeom>
          <a:solidFill>
            <a:srgbClr val="DBF5EC"/>
          </a:solidFill>
          <a:ln w="12700">
            <a:solidFill>
              <a:srgbClr val="DBF5EC"/>
            </a:solidFill>
            <a:prstDash val="solid"/>
          </a:ln>
        </p:spPr>
      </p:sp>
      <p:sp>
        <p:nvSpPr>
          <p:cNvPr id="10" name="Text 5"/>
          <p:cNvSpPr txBox="1"/>
          <p:nvPr/>
        </p:nvSpPr>
        <p:spPr>
          <a:xfrm>
            <a:off x="7148158" y="2971800"/>
            <a:ext cx="4373282" cy="749808"/>
          </a:xfrm>
          <a:prstGeom prst="rect">
            <a:avLst/>
          </a:prstGeom>
          <a:noFill/>
          <a:ln/>
        </p:spPr>
        <p:txBody>
          <a:bodyPr wrap="square" lIns="0" tIns="0" rIns="0" bIns="0" rtlCol="0" anchor="ctr"/>
          <a:lstStyle/>
          <a:p>
            <a:pPr indent="0" marL="0">
              <a:buNone/>
            </a:pPr>
            <a:r>
              <a:rPr lang="en-US" sz="1300" dirty="0">
                <a:solidFill>
                  <a:srgbClr val="1D1438"/>
                </a:solidFill>
                <a:latin typeface="Times New Roman" pitchFamily="34" charset="0"/>
                <a:ea typeface="Times New Roman" pitchFamily="34" charset="-122"/>
                <a:cs typeface="Times New Roman" pitchFamily="34" charset="-120"/>
              </a:rPr>
              <a:t>With G1/G2 (top): dots hug the line, tightest for Random Forest (R² = 0.811).</a:t>
            </a:r>
            <a:endParaRPr lang="en-US" sz="1300" dirty="0"/>
          </a:p>
        </p:txBody>
      </p:sp>
      <p:sp>
        <p:nvSpPr>
          <p:cNvPr id="11" name="Shape 6"/>
          <p:cNvSpPr/>
          <p:nvPr/>
        </p:nvSpPr>
        <p:spPr>
          <a:xfrm>
            <a:off x="6965278" y="3813048"/>
            <a:ext cx="4693322" cy="749808"/>
          </a:xfrm>
          <a:prstGeom prst="rect">
            <a:avLst/>
          </a:prstGeom>
          <a:solidFill>
            <a:srgbClr val="FFF1D6"/>
          </a:solidFill>
          <a:ln w="12700">
            <a:solidFill>
              <a:srgbClr val="FFF1D6"/>
            </a:solidFill>
            <a:prstDash val="solid"/>
          </a:ln>
        </p:spPr>
      </p:sp>
      <p:sp>
        <p:nvSpPr>
          <p:cNvPr id="12" name="Text 7"/>
          <p:cNvSpPr txBox="1"/>
          <p:nvPr/>
        </p:nvSpPr>
        <p:spPr>
          <a:xfrm>
            <a:off x="7148158" y="3813048"/>
            <a:ext cx="4373282" cy="749808"/>
          </a:xfrm>
          <a:prstGeom prst="rect">
            <a:avLst/>
          </a:prstGeom>
          <a:noFill/>
          <a:ln/>
        </p:spPr>
        <p:txBody>
          <a:bodyPr wrap="square" lIns="0" tIns="0" rIns="0" bIns="0" rtlCol="0" anchor="ctr"/>
          <a:lstStyle/>
          <a:p>
            <a:pPr indent="0" marL="0">
              <a:buNone/>
            </a:pPr>
            <a:r>
              <a:rPr lang="en-US" sz="1300" dirty="0">
                <a:solidFill>
                  <a:srgbClr val="1D1438"/>
                </a:solidFill>
                <a:latin typeface="Times New Roman" pitchFamily="34" charset="0"/>
                <a:ea typeface="Times New Roman" pitchFamily="34" charset="-122"/>
                <a:cs typeface="Times New Roman" pitchFamily="34" charset="-120"/>
              </a:rPr>
              <a:t>Without G1/G2 (bottom): predictions bunch around 9–13; the model mostly guesses an average student.</a:t>
            </a:r>
            <a:endParaRPr lang="en-US" sz="1300" dirty="0"/>
          </a:p>
        </p:txBody>
      </p:sp>
      <p:sp>
        <p:nvSpPr>
          <p:cNvPr id="13" name="Shape 8"/>
          <p:cNvSpPr/>
          <p:nvPr/>
        </p:nvSpPr>
        <p:spPr>
          <a:xfrm>
            <a:off x="6965278" y="4654296"/>
            <a:ext cx="4693322" cy="749808"/>
          </a:xfrm>
          <a:prstGeom prst="rect">
            <a:avLst/>
          </a:prstGeom>
          <a:solidFill>
            <a:srgbClr val="FFE3EF"/>
          </a:solidFill>
          <a:ln w="12700">
            <a:solidFill>
              <a:srgbClr val="FFE3EF"/>
            </a:solidFill>
            <a:prstDash val="solid"/>
          </a:ln>
        </p:spPr>
      </p:sp>
      <p:sp>
        <p:nvSpPr>
          <p:cNvPr id="14" name="Text 9"/>
          <p:cNvSpPr txBox="1"/>
          <p:nvPr/>
        </p:nvSpPr>
        <p:spPr>
          <a:xfrm>
            <a:off x="7148158" y="4654296"/>
            <a:ext cx="4373282" cy="749808"/>
          </a:xfrm>
          <a:prstGeom prst="rect">
            <a:avLst/>
          </a:prstGeom>
          <a:noFill/>
          <a:ln/>
        </p:spPr>
        <p:txBody>
          <a:bodyPr wrap="square" lIns="0" tIns="0" rIns="0" bIns="0" rtlCol="0" anchor="ctr"/>
          <a:lstStyle/>
          <a:p>
            <a:pPr indent="0" marL="0">
              <a:buNone/>
            </a:pPr>
            <a:r>
              <a:rPr lang="en-US" sz="1300" dirty="0">
                <a:solidFill>
                  <a:srgbClr val="1D1438"/>
                </a:solidFill>
                <a:latin typeface="Times New Roman" pitchFamily="34" charset="0"/>
                <a:ea typeface="Times New Roman" pitchFamily="34" charset="-122"/>
                <a:cs typeface="Times New Roman" pitchFamily="34" charset="-120"/>
              </a:rPr>
              <a:t>Pink X (actual G3 = 0) are the largest errors in every panel. Most had normal earlier grades.</a:t>
            </a:r>
            <a:endParaRPr lang="en-US" sz="1300" dirty="0"/>
          </a:p>
        </p:txBody>
      </p:sp>
      <p:sp>
        <p:nvSpPr>
          <p:cNvPr id="15" name="Shape 10"/>
          <p:cNvSpPr/>
          <p:nvPr/>
        </p:nvSpPr>
        <p:spPr>
          <a:xfrm>
            <a:off x="6965278" y="5495544"/>
            <a:ext cx="4693322" cy="749808"/>
          </a:xfrm>
          <a:prstGeom prst="rect">
            <a:avLst/>
          </a:prstGeom>
          <a:solidFill>
            <a:srgbClr val="DDF2FC"/>
          </a:solidFill>
          <a:ln w="12700">
            <a:solidFill>
              <a:srgbClr val="DDF2FC"/>
            </a:solidFill>
            <a:prstDash val="solid"/>
          </a:ln>
        </p:spPr>
      </p:sp>
      <p:sp>
        <p:nvSpPr>
          <p:cNvPr id="16" name="Text 11"/>
          <p:cNvSpPr txBox="1"/>
          <p:nvPr/>
        </p:nvSpPr>
        <p:spPr>
          <a:xfrm>
            <a:off x="7148158" y="5495544"/>
            <a:ext cx="4373282" cy="749808"/>
          </a:xfrm>
          <a:prstGeom prst="rect">
            <a:avLst/>
          </a:prstGeom>
          <a:noFill/>
          <a:ln/>
        </p:spPr>
        <p:txBody>
          <a:bodyPr wrap="square" lIns="0" tIns="0" rIns="0" bIns="0" rtlCol="0" anchor="ctr"/>
          <a:lstStyle/>
          <a:p>
            <a:pPr indent="0" marL="0">
              <a:buNone/>
            </a:pPr>
            <a:r>
              <a:rPr lang="en-US" sz="1300" dirty="0">
                <a:solidFill>
                  <a:srgbClr val="1D1438"/>
                </a:solidFill>
                <a:latin typeface="Times New Roman" pitchFamily="34" charset="0"/>
                <a:ea typeface="Times New Roman" pitchFamily="34" charset="-122"/>
                <a:cs typeface="Times New Roman" pitchFamily="34" charset="-120"/>
              </a:rPr>
              <a:t>Linear Regression even predicts impossible grades (about -2.6 and above 20).</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Results &amp; Observations</a:t>
            </a:r>
            <a:endParaRPr lang="en-US" sz="3200" dirty="0"/>
          </a:p>
        </p:txBody>
      </p:sp>
      <p:sp>
        <p:nvSpPr>
          <p:cNvPr id="5" name="Shape 1"/>
          <p:cNvSpPr/>
          <p:nvPr/>
        </p:nvSpPr>
        <p:spPr>
          <a:xfrm>
            <a:off x="502920" y="1325880"/>
            <a:ext cx="3566160" cy="1554480"/>
          </a:xfrm>
          <a:prstGeom prst="rect">
            <a:avLst/>
          </a:prstGeom>
          <a:solidFill>
            <a:srgbClr val="0FA47A"/>
          </a:solidFill>
          <a:ln w="12700">
            <a:solidFill>
              <a:srgbClr val="0FA47A"/>
            </a:solidFill>
            <a:prstDash val="solid"/>
          </a:ln>
        </p:spPr>
      </p:sp>
      <p:sp>
        <p:nvSpPr>
          <p:cNvPr id="6" name="Text 2"/>
          <p:cNvSpPr txBox="1"/>
          <p:nvPr/>
        </p:nvSpPr>
        <p:spPr>
          <a:xfrm>
            <a:off x="502920" y="1435608"/>
            <a:ext cx="3566160" cy="901598"/>
          </a:xfrm>
          <a:prstGeom prst="rect">
            <a:avLst/>
          </a:prstGeom>
          <a:noFill/>
          <a:ln/>
        </p:spPr>
        <p:txBody>
          <a:bodyPr wrap="square" lIns="0" tIns="0" rIns="0" bIns="0" rtlCol="0" anchor="ctr"/>
          <a:lstStyle/>
          <a:p>
            <a:pPr algn="ctr" indent="0" marL="0">
              <a:buNone/>
            </a:pPr>
            <a:r>
              <a:rPr lang="en-US" sz="3600" b="1" dirty="0">
                <a:solidFill>
                  <a:srgbClr val="FFFFFF"/>
                </a:solidFill>
                <a:latin typeface="Times New Roman" pitchFamily="34" charset="0"/>
                <a:ea typeface="Times New Roman" pitchFamily="34" charset="-122"/>
                <a:cs typeface="Times New Roman" pitchFamily="34" charset="-120"/>
              </a:rPr>
              <a:t>R² 0.81</a:t>
            </a:r>
            <a:endParaRPr lang="en-US" sz="3600" dirty="0"/>
          </a:p>
        </p:txBody>
      </p:sp>
      <p:sp>
        <p:nvSpPr>
          <p:cNvPr id="7" name="Text 3"/>
          <p:cNvSpPr txBox="1"/>
          <p:nvPr/>
        </p:nvSpPr>
        <p:spPr>
          <a:xfrm>
            <a:off x="640080" y="2289658"/>
            <a:ext cx="3291840" cy="497434"/>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Random Forest, with G1/G2 (CV 0.87)</a:t>
            </a:r>
            <a:endParaRPr lang="en-US" sz="1300" dirty="0"/>
          </a:p>
        </p:txBody>
      </p:sp>
      <p:sp>
        <p:nvSpPr>
          <p:cNvPr id="8" name="Shape 4"/>
          <p:cNvSpPr/>
          <p:nvPr/>
        </p:nvSpPr>
        <p:spPr>
          <a:xfrm>
            <a:off x="4297680" y="1325880"/>
            <a:ext cx="3566160" cy="1554480"/>
          </a:xfrm>
          <a:prstGeom prst="rect">
            <a:avLst/>
          </a:prstGeom>
          <a:solidFill>
            <a:srgbClr val="0096D6"/>
          </a:solidFill>
          <a:ln w="12700">
            <a:solidFill>
              <a:srgbClr val="0096D6"/>
            </a:solidFill>
            <a:prstDash val="solid"/>
          </a:ln>
        </p:spPr>
      </p:sp>
      <p:sp>
        <p:nvSpPr>
          <p:cNvPr id="9" name="Text 5"/>
          <p:cNvSpPr txBox="1"/>
          <p:nvPr/>
        </p:nvSpPr>
        <p:spPr>
          <a:xfrm>
            <a:off x="4297680" y="1435608"/>
            <a:ext cx="3566160" cy="901598"/>
          </a:xfrm>
          <a:prstGeom prst="rect">
            <a:avLst/>
          </a:prstGeom>
          <a:noFill/>
          <a:ln/>
        </p:spPr>
        <p:txBody>
          <a:bodyPr wrap="square" lIns="0" tIns="0" rIns="0" bIns="0" rtlCol="0" anchor="ctr"/>
          <a:lstStyle/>
          <a:p>
            <a:pPr algn="ctr" indent="0" marL="0">
              <a:buNone/>
            </a:pPr>
            <a:r>
              <a:rPr lang="en-US" sz="3600" b="1" dirty="0">
                <a:solidFill>
                  <a:srgbClr val="FFFFFF"/>
                </a:solidFill>
                <a:latin typeface="Times New Roman" pitchFamily="34" charset="0"/>
                <a:ea typeface="Times New Roman" pitchFamily="34" charset="-122"/>
                <a:cs typeface="Times New Roman" pitchFamily="34" charset="-120"/>
              </a:rPr>
              <a:t>R² 0.72</a:t>
            </a:r>
            <a:endParaRPr lang="en-US" sz="3600" dirty="0"/>
          </a:p>
        </p:txBody>
      </p:sp>
      <p:sp>
        <p:nvSpPr>
          <p:cNvPr id="10" name="Text 6"/>
          <p:cNvSpPr txBox="1"/>
          <p:nvPr/>
        </p:nvSpPr>
        <p:spPr>
          <a:xfrm>
            <a:off x="4434840" y="2289658"/>
            <a:ext cx="3291840" cy="497434"/>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Linear Regression, with G1/G2 (CV 0.79)</a:t>
            </a:r>
            <a:endParaRPr lang="en-US" sz="1300" dirty="0"/>
          </a:p>
        </p:txBody>
      </p:sp>
      <p:sp>
        <p:nvSpPr>
          <p:cNvPr id="11" name="Shape 7"/>
          <p:cNvSpPr/>
          <p:nvPr/>
        </p:nvSpPr>
        <p:spPr>
          <a:xfrm>
            <a:off x="8092440" y="1325880"/>
            <a:ext cx="3566160" cy="1554480"/>
          </a:xfrm>
          <a:prstGeom prst="rect">
            <a:avLst/>
          </a:prstGeom>
          <a:solidFill>
            <a:srgbClr val="F25C1F"/>
          </a:solidFill>
          <a:ln w="12700">
            <a:solidFill>
              <a:srgbClr val="F25C1F"/>
            </a:solidFill>
            <a:prstDash val="solid"/>
          </a:ln>
        </p:spPr>
      </p:sp>
      <p:sp>
        <p:nvSpPr>
          <p:cNvPr id="12" name="Text 8"/>
          <p:cNvSpPr txBox="1"/>
          <p:nvPr/>
        </p:nvSpPr>
        <p:spPr>
          <a:xfrm>
            <a:off x="8092440" y="1435608"/>
            <a:ext cx="3566160" cy="901598"/>
          </a:xfrm>
          <a:prstGeom prst="rect">
            <a:avLst/>
          </a:prstGeom>
          <a:noFill/>
          <a:ln/>
        </p:spPr>
        <p:txBody>
          <a:bodyPr wrap="square" lIns="0" tIns="0" rIns="0" bIns="0" rtlCol="0" anchor="ctr"/>
          <a:lstStyle/>
          <a:p>
            <a:pPr algn="ctr" indent="0" marL="0">
              <a:buNone/>
            </a:pPr>
            <a:r>
              <a:rPr lang="en-US" sz="3600" b="1" dirty="0">
                <a:solidFill>
                  <a:srgbClr val="FFFFFF"/>
                </a:solidFill>
                <a:latin typeface="Times New Roman" pitchFamily="34" charset="0"/>
                <a:ea typeface="Times New Roman" pitchFamily="34" charset="-122"/>
                <a:cs typeface="Times New Roman" pitchFamily="34" charset="-120"/>
              </a:rPr>
              <a:t>R² 0.27</a:t>
            </a:r>
            <a:endParaRPr lang="en-US" sz="3600" dirty="0"/>
          </a:p>
        </p:txBody>
      </p:sp>
      <p:sp>
        <p:nvSpPr>
          <p:cNvPr id="13" name="Text 9"/>
          <p:cNvSpPr txBox="1"/>
          <p:nvPr/>
        </p:nvSpPr>
        <p:spPr>
          <a:xfrm>
            <a:off x="8229600" y="2289658"/>
            <a:ext cx="3291840" cy="497434"/>
          </a:xfrm>
          <a:prstGeom prst="rect">
            <a:avLst/>
          </a:prstGeom>
          <a:noFill/>
          <a:ln/>
        </p:spPr>
        <p:txBody>
          <a:bodyPr wrap="square" lIns="0" tIns="0" rIns="0" bIns="0" rtlCol="0" anchor="t"/>
          <a:lstStyle/>
          <a:p>
            <a:pPr algn="ctr" indent="0" marL="0">
              <a:buNone/>
            </a:pPr>
            <a:r>
              <a:rPr lang="en-US" sz="1300" dirty="0">
                <a:solidFill>
                  <a:srgbClr val="FFFFFF"/>
                </a:solidFill>
                <a:latin typeface="Times New Roman" pitchFamily="34" charset="0"/>
                <a:ea typeface="Times New Roman" pitchFamily="34" charset="-122"/>
                <a:cs typeface="Times New Roman" pitchFamily="34" charset="-120"/>
              </a:rPr>
              <a:t>Random Forest, without G1/G2 (CV 0.29)</a:t>
            </a:r>
            <a:endParaRPr lang="en-US" sz="1300" dirty="0"/>
          </a:p>
        </p:txBody>
      </p:sp>
      <p:sp>
        <p:nvSpPr>
          <p:cNvPr id="14" name="Text 10"/>
          <p:cNvSpPr txBox="1"/>
          <p:nvPr/>
        </p:nvSpPr>
        <p:spPr>
          <a:xfrm>
            <a:off x="548640" y="3200400"/>
            <a:ext cx="11064240" cy="3108960"/>
          </a:xfrm>
          <a:prstGeom prst="rect">
            <a:avLst/>
          </a:prstGeom>
          <a:noFill/>
          <a:ln/>
        </p:spPr>
        <p:txBody>
          <a:bodyPr wrap="square" lIns="0" tIns="0" rIns="0" bIns="0" rtlCol="0" anchor="t"/>
          <a:lstStyle/>
          <a:p>
            <a:pPr marL="228600" indent="-228600">
              <a:spcAft>
                <a:spcPts val="900"/>
              </a:spcAft>
              <a:buSzPct val="100000"/>
              <a:buChar char="•"/>
            </a:pPr>
            <a:r>
              <a:rPr lang="en-US" sz="1800" dirty="0">
                <a:solidFill>
                  <a:srgbClr val="1D1438"/>
                </a:solidFill>
                <a:latin typeface="Times New Roman" pitchFamily="34" charset="0"/>
                <a:ea typeface="Times New Roman" pitchFamily="34" charset="-122"/>
                <a:cs typeface="Times New Roman" pitchFamily="34" charset="-120"/>
              </a:rPr>
              <a:t>Random Forest is best: it explains 81% (test) to 87% (CV) of the variation in final grades, around the 0.6–0.85 reference range.</a:t>
            </a:r>
            <a:endParaRPr lang="en-US" sz="1800" dirty="0"/>
          </a:p>
          <a:p>
            <a:pPr marL="228600" indent="-228600">
              <a:spcAft>
                <a:spcPts val="900"/>
              </a:spcAft>
              <a:buSzPct val="100000"/>
              <a:buChar char="•"/>
            </a:pPr>
            <a:r>
              <a:rPr lang="en-US" sz="1800" dirty="0">
                <a:solidFill>
                  <a:srgbClr val="1D1438"/>
                </a:solidFill>
                <a:latin typeface="Times New Roman" pitchFamily="34" charset="0"/>
                <a:ea typeface="Times New Roman" pitchFamily="34" charset="-122"/>
                <a:cs typeface="Times New Roman" pitchFamily="34" charset="-120"/>
              </a:rPr>
              <a:t>Random Forest beats Linear Regression because it handles non-linear patterns such as the zero-grade students.</a:t>
            </a:r>
            <a:endParaRPr lang="en-US" sz="1800" dirty="0"/>
          </a:p>
          <a:p>
            <a:pPr marL="228600" indent="-228600">
              <a:spcAft>
                <a:spcPts val="900"/>
              </a:spcAft>
              <a:buSzPct val="100000"/>
              <a:buChar char="•"/>
            </a:pPr>
            <a:r>
              <a:rPr lang="en-US" sz="1800" dirty="0">
                <a:solidFill>
                  <a:srgbClr val="1D1438"/>
                </a:solidFill>
                <a:latin typeface="Times New Roman" pitchFamily="34" charset="0"/>
                <a:ea typeface="Times New Roman" pitchFamily="34" charset="-122"/>
                <a:cs typeface="Times New Roman" pitchFamily="34" charset="-120"/>
              </a:rPr>
              <a:t>Removing G1/G2 drops R² from 0.81 to 0.27: past grades drive the prediction.</a:t>
            </a:r>
            <a:endParaRPr lang="en-US" sz="1800" dirty="0"/>
          </a:p>
          <a:p>
            <a:pPr marL="228600" indent="-228600">
              <a:spcAft>
                <a:spcPts val="900"/>
              </a:spcAft>
              <a:buSzPct val="100000"/>
              <a:buChar char="•"/>
            </a:pPr>
            <a:r>
              <a:rPr lang="en-US" sz="1800" dirty="0">
                <a:solidFill>
                  <a:srgbClr val="1D1438"/>
                </a:solidFill>
                <a:latin typeface="Times New Roman" pitchFamily="34" charset="0"/>
                <a:ea typeface="Times New Roman" pitchFamily="34" charset="-122"/>
                <a:cs typeface="Times New Roman" pitchFamily="34" charset="-120"/>
              </a:rPr>
              <a:t>Without G1/G2 the model still beats guessing the average (MSE 14.97 vs 20.7).</a:t>
            </a:r>
            <a:endParaRPr lang="en-US" sz="1800" dirty="0"/>
          </a:p>
          <a:p>
            <a:pPr marL="228600" indent="-228600">
              <a:spcAft>
                <a:spcPts val="900"/>
              </a:spcAft>
              <a:buSzPct val="100000"/>
              <a:buChar char="•"/>
            </a:pPr>
            <a:r>
              <a:rPr lang="en-US" sz="1800" dirty="0">
                <a:solidFill>
                  <a:srgbClr val="1D1438"/>
                </a:solidFill>
                <a:latin typeface="Times New Roman" pitchFamily="34" charset="0"/>
                <a:ea typeface="Times New Roman" pitchFamily="34" charset="-122"/>
                <a:cs typeface="Times New Roman" pitchFamily="34" charset="-120"/>
              </a:rPr>
              <a:t>Excluding the zero-grade students, Random Forest reaches R² = 0.83.</a:t>
            </a:r>
            <a:endParaRPr lang="en-US" sz="18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icons/border.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502920" y="329184"/>
            <a:ext cx="11155680" cy="685800"/>
          </a:xfrm>
          <a:prstGeom prst="rect">
            <a:avLst/>
          </a:prstGeom>
          <a:noFill/>
          <a:ln/>
        </p:spPr>
        <p:txBody>
          <a:bodyPr wrap="square" lIns="0" tIns="0" rIns="0" bIns="0" rtlCol="0" anchor="ctr"/>
          <a:lstStyle/>
          <a:p>
            <a:pPr indent="0" marL="0">
              <a:buNone/>
            </a:pPr>
            <a:r>
              <a:rPr lang="en-US" sz="3200" b="1" dirty="0">
                <a:solidFill>
                  <a:srgbClr val="1D1438"/>
                </a:solidFill>
                <a:latin typeface="Times New Roman" pitchFamily="34" charset="0"/>
                <a:ea typeface="Times New Roman" pitchFamily="34" charset="-122"/>
                <a:cs typeface="Times New Roman" pitchFamily="34" charset="-120"/>
              </a:rPr>
              <a:t>Challenges Encountered</a:t>
            </a:r>
            <a:endParaRPr lang="en-US" sz="3200" dirty="0"/>
          </a:p>
        </p:txBody>
      </p:sp>
      <p:sp>
        <p:nvSpPr>
          <p:cNvPr id="5" name="Shape 1"/>
          <p:cNvSpPr/>
          <p:nvPr/>
        </p:nvSpPr>
        <p:spPr>
          <a:xfrm>
            <a:off x="502920" y="1280160"/>
            <a:ext cx="3566160" cy="2377440"/>
          </a:xfrm>
          <a:prstGeom prst="rect">
            <a:avLst/>
          </a:prstGeom>
          <a:solidFill>
            <a:srgbClr val="DDF2FC"/>
          </a:solidFill>
          <a:ln w="12700">
            <a:solidFill>
              <a:srgbClr val="DDF2FC"/>
            </a:solidFill>
            <a:prstDash val="solid"/>
          </a:ln>
        </p:spPr>
      </p:sp>
      <p:sp>
        <p:nvSpPr>
          <p:cNvPr id="6" name="Text 2"/>
          <p:cNvSpPr txBox="1"/>
          <p:nvPr/>
        </p:nvSpPr>
        <p:spPr>
          <a:xfrm>
            <a:off x="731520" y="1417320"/>
            <a:ext cx="3108960" cy="411480"/>
          </a:xfrm>
          <a:prstGeom prst="rect">
            <a:avLst/>
          </a:prstGeom>
          <a:noFill/>
          <a:ln/>
        </p:spPr>
        <p:txBody>
          <a:bodyPr wrap="square" lIns="0" tIns="0" rIns="0" bIns="0" rtlCol="0" anchor="ctr"/>
          <a:lstStyle/>
          <a:p>
            <a:pPr indent="0" marL="0">
              <a:buNone/>
            </a:pPr>
            <a:r>
              <a:rPr lang="en-US" sz="1700" b="1" dirty="0">
                <a:solidFill>
                  <a:srgbClr val="1D1438"/>
                </a:solidFill>
                <a:latin typeface="Times New Roman" pitchFamily="34" charset="0"/>
                <a:ea typeface="Times New Roman" pitchFamily="34" charset="-122"/>
                <a:cs typeface="Times New Roman" pitchFamily="34" charset="-120"/>
              </a:rPr>
              <a:t>Should G1/G2 be used?</a:t>
            </a:r>
            <a:endParaRPr lang="en-US" sz="1700" dirty="0"/>
          </a:p>
        </p:txBody>
      </p:sp>
      <p:sp>
        <p:nvSpPr>
          <p:cNvPr id="7" name="Text 3"/>
          <p:cNvSpPr txBox="1"/>
          <p:nvPr/>
        </p:nvSpPr>
        <p:spPr>
          <a:xfrm>
            <a:off x="731520" y="1874520"/>
            <a:ext cx="3108960" cy="868680"/>
          </a:xfrm>
          <a:prstGeom prst="rect">
            <a:avLst/>
          </a:prstGeom>
          <a:noFill/>
          <a:ln/>
        </p:spPr>
        <p:txBody>
          <a:bodyPr wrap="square" lIns="0" tIns="0" rIns="0" bIns="0" rtlCol="0" anchor="t"/>
          <a:lstStyle/>
          <a:p>
            <a:pPr indent="0" marL="0">
              <a:buNone/>
            </a:pPr>
            <a:r>
              <a:rPr lang="en-US" sz="1400" dirty="0">
                <a:solidFill>
                  <a:srgbClr val="1D1438"/>
                </a:solidFill>
                <a:latin typeface="Times New Roman" pitchFamily="34" charset="0"/>
                <a:ea typeface="Times New Roman" pitchFamily="34" charset="-122"/>
                <a:cs typeface="Times New Roman" pitchFamily="34" charset="-120"/>
              </a:rPr>
              <a:t>They make prediction easy but aren't available at the start of the year.</a:t>
            </a:r>
            <a:endParaRPr lang="en-US" sz="1400" dirty="0"/>
          </a:p>
        </p:txBody>
      </p:sp>
      <p:sp>
        <p:nvSpPr>
          <p:cNvPr id="8" name="Shape 4"/>
          <p:cNvSpPr/>
          <p:nvPr/>
        </p:nvSpPr>
        <p:spPr>
          <a:xfrm>
            <a:off x="685800" y="2788920"/>
            <a:ext cx="3200400" cy="731520"/>
          </a:xfrm>
          <a:prstGeom prst="rect">
            <a:avLst/>
          </a:prstGeom>
          <a:solidFill>
            <a:srgbClr val="FFFFFF"/>
          </a:solidFill>
          <a:ln w="12700">
            <a:solidFill>
              <a:srgbClr val="FFFFFF"/>
            </a:solidFill>
            <a:prstDash val="solid"/>
          </a:ln>
        </p:spPr>
      </p:sp>
      <p:sp>
        <p:nvSpPr>
          <p:cNvPr id="9" name="Text 5"/>
          <p:cNvSpPr txBox="1"/>
          <p:nvPr/>
        </p:nvSpPr>
        <p:spPr>
          <a:xfrm>
            <a:off x="822960" y="2788920"/>
            <a:ext cx="2971800" cy="731520"/>
          </a:xfrm>
          <a:prstGeom prst="rect">
            <a:avLst/>
          </a:prstGeom>
          <a:noFill/>
          <a:ln/>
        </p:spPr>
        <p:txBody>
          <a:bodyPr wrap="square" lIns="0" tIns="0" rIns="0" bIns="0" rtlCol="0" anchor="ctr"/>
          <a:lstStyle/>
          <a:p>
            <a:pPr indent="0" marL="0">
              <a:buNone/>
            </a:pPr>
            <a:r>
              <a:rPr lang="en-US" sz="1300" b="1" dirty="0">
                <a:solidFill>
                  <a:srgbClr val="0096D6"/>
                </a:solidFill>
                <a:latin typeface="Times New Roman" pitchFamily="34" charset="0"/>
                <a:ea typeface="Times New Roman" pitchFamily="34" charset="-122"/>
                <a:cs typeface="Times New Roman" pitchFamily="34" charset="-120"/>
              </a:rPr>
              <a:t>What we did: </a:t>
            </a:r>
            <a:pPr indent="0" marL="0">
              <a:buNone/>
            </a:pPr>
            <a:r>
              <a:rPr lang="en-US" sz="1300" dirty="0">
                <a:solidFill>
                  <a:srgbClr val="1D1438"/>
                </a:solidFill>
                <a:latin typeface="Times New Roman" pitchFamily="34" charset="0"/>
                <a:ea typeface="Times New Roman" pitchFamily="34" charset="-122"/>
                <a:cs typeface="Times New Roman" pitchFamily="34" charset="-120"/>
              </a:rPr>
              <a:t>Trained and compared both feature sets.</a:t>
            </a:r>
            <a:endParaRPr lang="en-US" sz="1300" dirty="0"/>
          </a:p>
        </p:txBody>
      </p:sp>
      <p:sp>
        <p:nvSpPr>
          <p:cNvPr id="10" name="Shape 6"/>
          <p:cNvSpPr/>
          <p:nvPr/>
        </p:nvSpPr>
        <p:spPr>
          <a:xfrm>
            <a:off x="4251960" y="1280160"/>
            <a:ext cx="3566160" cy="2377440"/>
          </a:xfrm>
          <a:prstGeom prst="rect">
            <a:avLst/>
          </a:prstGeom>
          <a:solidFill>
            <a:srgbClr val="FFE3EF"/>
          </a:solidFill>
          <a:ln w="12700">
            <a:solidFill>
              <a:srgbClr val="FFE3EF"/>
            </a:solidFill>
            <a:prstDash val="solid"/>
          </a:ln>
        </p:spPr>
      </p:sp>
      <p:sp>
        <p:nvSpPr>
          <p:cNvPr id="11" name="Text 7"/>
          <p:cNvSpPr txBox="1"/>
          <p:nvPr/>
        </p:nvSpPr>
        <p:spPr>
          <a:xfrm>
            <a:off x="4480560" y="1417320"/>
            <a:ext cx="3108960" cy="411480"/>
          </a:xfrm>
          <a:prstGeom prst="rect">
            <a:avLst/>
          </a:prstGeom>
          <a:noFill/>
          <a:ln/>
        </p:spPr>
        <p:txBody>
          <a:bodyPr wrap="square" lIns="0" tIns="0" rIns="0" bIns="0" rtlCol="0" anchor="ctr"/>
          <a:lstStyle/>
          <a:p>
            <a:pPr indent="0" marL="0">
              <a:buNone/>
            </a:pPr>
            <a:r>
              <a:rPr lang="en-US" sz="1700" b="1" dirty="0">
                <a:solidFill>
                  <a:srgbClr val="1D1438"/>
                </a:solidFill>
                <a:latin typeface="Times New Roman" pitchFamily="34" charset="0"/>
                <a:ea typeface="Times New Roman" pitchFamily="34" charset="-122"/>
                <a:cs typeface="Times New Roman" pitchFamily="34" charset="-120"/>
              </a:rPr>
              <a:t>Zero-grade outliers</a:t>
            </a:r>
            <a:endParaRPr lang="en-US" sz="1700" dirty="0"/>
          </a:p>
        </p:txBody>
      </p:sp>
      <p:sp>
        <p:nvSpPr>
          <p:cNvPr id="12" name="Text 8"/>
          <p:cNvSpPr txBox="1"/>
          <p:nvPr/>
        </p:nvSpPr>
        <p:spPr>
          <a:xfrm>
            <a:off x="4480560" y="1874520"/>
            <a:ext cx="3108960" cy="868680"/>
          </a:xfrm>
          <a:prstGeom prst="rect">
            <a:avLst/>
          </a:prstGeom>
          <a:noFill/>
          <a:ln/>
        </p:spPr>
        <p:txBody>
          <a:bodyPr wrap="square" lIns="0" tIns="0" rIns="0" bIns="0" rtlCol="0" anchor="t"/>
          <a:lstStyle/>
          <a:p>
            <a:pPr indent="0" marL="0">
              <a:buNone/>
            </a:pPr>
            <a:r>
              <a:rPr lang="en-US" sz="1400" dirty="0">
                <a:solidFill>
                  <a:srgbClr val="1D1438"/>
                </a:solidFill>
                <a:latin typeface="Times New Roman" pitchFamily="34" charset="0"/>
                <a:ea typeface="Times New Roman" pitchFamily="34" charset="-122"/>
                <a:cs typeface="Times New Roman" pitchFamily="34" charset="-120"/>
              </a:rPr>
              <a:t>38 students (about 10%) have G3 = 0, likely dropouts no model can foresee.</a:t>
            </a:r>
            <a:endParaRPr lang="en-US" sz="1400" dirty="0"/>
          </a:p>
        </p:txBody>
      </p:sp>
      <p:sp>
        <p:nvSpPr>
          <p:cNvPr id="13" name="Shape 9"/>
          <p:cNvSpPr/>
          <p:nvPr/>
        </p:nvSpPr>
        <p:spPr>
          <a:xfrm>
            <a:off x="4434840" y="2788920"/>
            <a:ext cx="3200400" cy="731520"/>
          </a:xfrm>
          <a:prstGeom prst="rect">
            <a:avLst/>
          </a:prstGeom>
          <a:solidFill>
            <a:srgbClr val="FFFFFF"/>
          </a:solidFill>
          <a:ln w="12700">
            <a:solidFill>
              <a:srgbClr val="FFFFFF"/>
            </a:solidFill>
            <a:prstDash val="solid"/>
          </a:ln>
        </p:spPr>
      </p:sp>
      <p:sp>
        <p:nvSpPr>
          <p:cNvPr id="14" name="Text 10"/>
          <p:cNvSpPr txBox="1"/>
          <p:nvPr/>
        </p:nvSpPr>
        <p:spPr>
          <a:xfrm>
            <a:off x="4572000" y="2788920"/>
            <a:ext cx="2971800" cy="731520"/>
          </a:xfrm>
          <a:prstGeom prst="rect">
            <a:avLst/>
          </a:prstGeom>
          <a:noFill/>
          <a:ln/>
        </p:spPr>
        <p:txBody>
          <a:bodyPr wrap="square" lIns="0" tIns="0" rIns="0" bIns="0" rtlCol="0" anchor="ctr"/>
          <a:lstStyle/>
          <a:p>
            <a:pPr indent="0" marL="0">
              <a:buNone/>
            </a:pPr>
            <a:r>
              <a:rPr lang="en-US" sz="1300" b="1" dirty="0">
                <a:solidFill>
                  <a:srgbClr val="F0287A"/>
                </a:solidFill>
                <a:latin typeface="Times New Roman" pitchFamily="34" charset="0"/>
                <a:ea typeface="Times New Roman" pitchFamily="34" charset="-122"/>
                <a:cs typeface="Times New Roman" pitchFamily="34" charset="-120"/>
              </a:rPr>
              <a:t>What we did: </a:t>
            </a:r>
            <a:pPr indent="0" marL="0">
              <a:buNone/>
            </a:pPr>
            <a:r>
              <a:rPr lang="en-US" sz="1300" dirty="0">
                <a:solidFill>
                  <a:srgbClr val="1D1438"/>
                </a:solidFill>
                <a:latin typeface="Times New Roman" pitchFamily="34" charset="0"/>
                <a:ea typeface="Times New Roman" pitchFamily="34" charset="-122"/>
                <a:cs typeface="Times New Roman" pitchFamily="34" charset="-120"/>
              </a:rPr>
              <a:t>Highlighted them in plots and measured their effect.</a:t>
            </a:r>
            <a:endParaRPr lang="en-US" sz="1300" dirty="0"/>
          </a:p>
        </p:txBody>
      </p:sp>
      <p:sp>
        <p:nvSpPr>
          <p:cNvPr id="15" name="Shape 11"/>
          <p:cNvSpPr/>
          <p:nvPr/>
        </p:nvSpPr>
        <p:spPr>
          <a:xfrm>
            <a:off x="8001000" y="1280160"/>
            <a:ext cx="3566160" cy="2377440"/>
          </a:xfrm>
          <a:prstGeom prst="rect">
            <a:avLst/>
          </a:prstGeom>
          <a:solidFill>
            <a:srgbClr val="DBF5EC"/>
          </a:solidFill>
          <a:ln w="12700">
            <a:solidFill>
              <a:srgbClr val="DBF5EC"/>
            </a:solidFill>
            <a:prstDash val="solid"/>
          </a:ln>
        </p:spPr>
      </p:sp>
      <p:sp>
        <p:nvSpPr>
          <p:cNvPr id="16" name="Text 12"/>
          <p:cNvSpPr txBox="1"/>
          <p:nvPr/>
        </p:nvSpPr>
        <p:spPr>
          <a:xfrm>
            <a:off x="8229600" y="1417320"/>
            <a:ext cx="3108960" cy="411480"/>
          </a:xfrm>
          <a:prstGeom prst="rect">
            <a:avLst/>
          </a:prstGeom>
          <a:noFill/>
          <a:ln/>
        </p:spPr>
        <p:txBody>
          <a:bodyPr wrap="square" lIns="0" tIns="0" rIns="0" bIns="0" rtlCol="0" anchor="ctr"/>
          <a:lstStyle/>
          <a:p>
            <a:pPr indent="0" marL="0">
              <a:buNone/>
            </a:pPr>
            <a:r>
              <a:rPr lang="en-US" sz="1700" b="1" dirty="0">
                <a:solidFill>
                  <a:srgbClr val="1D1438"/>
                </a:solidFill>
                <a:latin typeface="Times New Roman" pitchFamily="34" charset="0"/>
                <a:ea typeface="Times New Roman" pitchFamily="34" charset="-122"/>
                <a:cs typeface="Times New Roman" pitchFamily="34" charset="-120"/>
              </a:rPr>
              <a:t>Small dataset</a:t>
            </a:r>
            <a:endParaRPr lang="en-US" sz="1700" dirty="0"/>
          </a:p>
        </p:txBody>
      </p:sp>
      <p:sp>
        <p:nvSpPr>
          <p:cNvPr id="17" name="Text 13"/>
          <p:cNvSpPr txBox="1"/>
          <p:nvPr/>
        </p:nvSpPr>
        <p:spPr>
          <a:xfrm>
            <a:off x="8229600" y="1874520"/>
            <a:ext cx="3108960" cy="868680"/>
          </a:xfrm>
          <a:prstGeom prst="rect">
            <a:avLst/>
          </a:prstGeom>
          <a:noFill/>
          <a:ln/>
        </p:spPr>
        <p:txBody>
          <a:bodyPr wrap="square" lIns="0" tIns="0" rIns="0" bIns="0" rtlCol="0" anchor="t"/>
          <a:lstStyle/>
          <a:p>
            <a:pPr indent="0" marL="0">
              <a:buNone/>
            </a:pPr>
            <a:r>
              <a:rPr lang="en-US" sz="1400" dirty="0">
                <a:solidFill>
                  <a:srgbClr val="1D1438"/>
                </a:solidFill>
                <a:latin typeface="Times New Roman" pitchFamily="34" charset="0"/>
                <a:ea typeface="Times New Roman" pitchFamily="34" charset="-122"/>
                <a:cs typeface="Times New Roman" pitchFamily="34" charset="-120"/>
              </a:rPr>
              <a:t>Only 395 students; one 79-student test set gives noisy scores.</a:t>
            </a:r>
            <a:endParaRPr lang="en-US" sz="1400" dirty="0"/>
          </a:p>
        </p:txBody>
      </p:sp>
      <p:sp>
        <p:nvSpPr>
          <p:cNvPr id="18" name="Shape 14"/>
          <p:cNvSpPr/>
          <p:nvPr/>
        </p:nvSpPr>
        <p:spPr>
          <a:xfrm>
            <a:off x="8183880" y="2788920"/>
            <a:ext cx="3200400" cy="731520"/>
          </a:xfrm>
          <a:prstGeom prst="rect">
            <a:avLst/>
          </a:prstGeom>
          <a:solidFill>
            <a:srgbClr val="FFFFFF"/>
          </a:solidFill>
          <a:ln w="12700">
            <a:solidFill>
              <a:srgbClr val="FFFFFF"/>
            </a:solidFill>
            <a:prstDash val="solid"/>
          </a:ln>
        </p:spPr>
      </p:sp>
      <p:sp>
        <p:nvSpPr>
          <p:cNvPr id="19" name="Text 15"/>
          <p:cNvSpPr txBox="1"/>
          <p:nvPr/>
        </p:nvSpPr>
        <p:spPr>
          <a:xfrm>
            <a:off x="8321040" y="2788920"/>
            <a:ext cx="2971800" cy="731520"/>
          </a:xfrm>
          <a:prstGeom prst="rect">
            <a:avLst/>
          </a:prstGeom>
          <a:noFill/>
          <a:ln/>
        </p:spPr>
        <p:txBody>
          <a:bodyPr wrap="square" lIns="0" tIns="0" rIns="0" bIns="0" rtlCol="0" anchor="ctr"/>
          <a:lstStyle/>
          <a:p>
            <a:pPr indent="0" marL="0">
              <a:buNone/>
            </a:pPr>
            <a:r>
              <a:rPr lang="en-US" sz="1300" b="1" dirty="0">
                <a:solidFill>
                  <a:srgbClr val="0FA47A"/>
                </a:solidFill>
                <a:latin typeface="Times New Roman" pitchFamily="34" charset="0"/>
                <a:ea typeface="Times New Roman" pitchFamily="34" charset="-122"/>
                <a:cs typeface="Times New Roman" pitchFamily="34" charset="-120"/>
              </a:rPr>
              <a:t>What we did: </a:t>
            </a:r>
            <a:pPr indent="0" marL="0">
              <a:buNone/>
            </a:pPr>
            <a:r>
              <a:rPr lang="en-US" sz="1300" dirty="0">
                <a:solidFill>
                  <a:srgbClr val="1D1438"/>
                </a:solidFill>
                <a:latin typeface="Times New Roman" pitchFamily="34" charset="0"/>
                <a:ea typeface="Times New Roman" pitchFamily="34" charset="-122"/>
                <a:cs typeface="Times New Roman" pitchFamily="34" charset="-120"/>
              </a:rPr>
              <a:t>Added 5-fold cross-validation for a stable estimate.</a:t>
            </a:r>
            <a:endParaRPr lang="en-US" sz="1300" dirty="0"/>
          </a:p>
        </p:txBody>
      </p:sp>
      <p:sp>
        <p:nvSpPr>
          <p:cNvPr id="20" name="Shape 16"/>
          <p:cNvSpPr/>
          <p:nvPr/>
        </p:nvSpPr>
        <p:spPr>
          <a:xfrm>
            <a:off x="502920" y="3840480"/>
            <a:ext cx="3566160" cy="2377440"/>
          </a:xfrm>
          <a:prstGeom prst="rect">
            <a:avLst/>
          </a:prstGeom>
          <a:solidFill>
            <a:srgbClr val="ECE4FF"/>
          </a:solidFill>
          <a:ln w="12700">
            <a:solidFill>
              <a:srgbClr val="ECE4FF"/>
            </a:solidFill>
            <a:prstDash val="solid"/>
          </a:ln>
        </p:spPr>
      </p:sp>
      <p:sp>
        <p:nvSpPr>
          <p:cNvPr id="21" name="Text 17"/>
          <p:cNvSpPr txBox="1"/>
          <p:nvPr/>
        </p:nvSpPr>
        <p:spPr>
          <a:xfrm>
            <a:off x="731520" y="3977640"/>
            <a:ext cx="3108960" cy="411480"/>
          </a:xfrm>
          <a:prstGeom prst="rect">
            <a:avLst/>
          </a:prstGeom>
          <a:noFill/>
          <a:ln/>
        </p:spPr>
        <p:txBody>
          <a:bodyPr wrap="square" lIns="0" tIns="0" rIns="0" bIns="0" rtlCol="0" anchor="ctr"/>
          <a:lstStyle/>
          <a:p>
            <a:pPr indent="0" marL="0">
              <a:buNone/>
            </a:pPr>
            <a:r>
              <a:rPr lang="en-US" sz="1700" b="1" dirty="0">
                <a:solidFill>
                  <a:srgbClr val="1D1438"/>
                </a:solidFill>
                <a:latin typeface="Times New Roman" pitchFamily="34" charset="0"/>
                <a:ea typeface="Times New Roman" pitchFamily="34" charset="-122"/>
                <a:cs typeface="Times New Roman" pitchFamily="34" charset="-120"/>
              </a:rPr>
              <a:t>Technical issue</a:t>
            </a:r>
            <a:endParaRPr lang="en-US" sz="1700" dirty="0"/>
          </a:p>
        </p:txBody>
      </p:sp>
      <p:sp>
        <p:nvSpPr>
          <p:cNvPr id="22" name="Text 18"/>
          <p:cNvSpPr txBox="1"/>
          <p:nvPr/>
        </p:nvSpPr>
        <p:spPr>
          <a:xfrm>
            <a:off x="731520" y="4434840"/>
            <a:ext cx="3108960" cy="868680"/>
          </a:xfrm>
          <a:prstGeom prst="rect">
            <a:avLst/>
          </a:prstGeom>
          <a:noFill/>
          <a:ln/>
        </p:spPr>
        <p:txBody>
          <a:bodyPr wrap="square" lIns="0" tIns="0" rIns="0" bIns="0" rtlCol="0" anchor="t"/>
          <a:lstStyle/>
          <a:p>
            <a:pPr indent="0" marL="0">
              <a:buNone/>
            </a:pPr>
            <a:r>
              <a:rPr lang="en-US" sz="1400" dirty="0">
                <a:solidFill>
                  <a:srgbClr val="1D1438"/>
                </a:solidFill>
                <a:latin typeface="Times New Roman" pitchFamily="34" charset="0"/>
                <a:ea typeface="Times New Roman" pitchFamily="34" charset="-122"/>
                <a:cs typeface="Times New Roman" pitchFamily="34" charset="-120"/>
              </a:rPr>
              <a:t>NumPy 2.0 on macOS printed false math warnings in Linear Regression.</a:t>
            </a:r>
            <a:endParaRPr lang="en-US" sz="1400" dirty="0"/>
          </a:p>
        </p:txBody>
      </p:sp>
      <p:sp>
        <p:nvSpPr>
          <p:cNvPr id="23" name="Shape 19"/>
          <p:cNvSpPr/>
          <p:nvPr/>
        </p:nvSpPr>
        <p:spPr>
          <a:xfrm>
            <a:off x="685800" y="5349240"/>
            <a:ext cx="3200400" cy="731520"/>
          </a:xfrm>
          <a:prstGeom prst="rect">
            <a:avLst/>
          </a:prstGeom>
          <a:solidFill>
            <a:srgbClr val="FFFFFF"/>
          </a:solidFill>
          <a:ln w="12700">
            <a:solidFill>
              <a:srgbClr val="FFFFFF"/>
            </a:solidFill>
            <a:prstDash val="solid"/>
          </a:ln>
        </p:spPr>
      </p:sp>
      <p:sp>
        <p:nvSpPr>
          <p:cNvPr id="24" name="Text 20"/>
          <p:cNvSpPr txBox="1"/>
          <p:nvPr/>
        </p:nvSpPr>
        <p:spPr>
          <a:xfrm>
            <a:off x="822960" y="5349240"/>
            <a:ext cx="2971800" cy="731520"/>
          </a:xfrm>
          <a:prstGeom prst="rect">
            <a:avLst/>
          </a:prstGeom>
          <a:noFill/>
          <a:ln/>
        </p:spPr>
        <p:txBody>
          <a:bodyPr wrap="square" lIns="0" tIns="0" rIns="0" bIns="0" rtlCol="0" anchor="ctr"/>
          <a:lstStyle/>
          <a:p>
            <a:pPr indent="0" marL="0">
              <a:buNone/>
            </a:pPr>
            <a:r>
              <a:rPr lang="en-US" sz="1300" b="1" dirty="0">
                <a:solidFill>
                  <a:srgbClr val="7C4DFF"/>
                </a:solidFill>
                <a:latin typeface="Times New Roman" pitchFamily="34" charset="0"/>
                <a:ea typeface="Times New Roman" pitchFamily="34" charset="-122"/>
                <a:cs typeface="Times New Roman" pitchFamily="34" charset="-120"/>
              </a:rPr>
              <a:t>What we did: </a:t>
            </a:r>
            <a:pPr indent="0" marL="0">
              <a:buNone/>
            </a:pPr>
            <a:r>
              <a:rPr lang="en-US" sz="1300" dirty="0">
                <a:solidFill>
                  <a:srgbClr val="1D1438"/>
                </a:solidFill>
                <a:latin typeface="Times New Roman" pitchFamily="34" charset="0"/>
                <a:ea typeface="Times New Roman" pitchFamily="34" charset="-122"/>
                <a:cs typeface="Times New Roman" pitchFamily="34" charset="-120"/>
              </a:rPr>
              <a:t>Pinned NumPy 1.26 in requirements.txt (results unchanged).</a:t>
            </a:r>
            <a:endParaRPr lang="en-US" sz="1300" dirty="0"/>
          </a:p>
        </p:txBody>
      </p:sp>
      <p:sp>
        <p:nvSpPr>
          <p:cNvPr id="25" name="Shape 21"/>
          <p:cNvSpPr/>
          <p:nvPr/>
        </p:nvSpPr>
        <p:spPr>
          <a:xfrm>
            <a:off x="4251960" y="3840480"/>
            <a:ext cx="3566160" cy="2377440"/>
          </a:xfrm>
          <a:prstGeom prst="rect">
            <a:avLst/>
          </a:prstGeom>
          <a:solidFill>
            <a:srgbClr val="FFE6DA"/>
          </a:solidFill>
          <a:ln w="12700">
            <a:solidFill>
              <a:srgbClr val="FFE6DA"/>
            </a:solidFill>
            <a:prstDash val="solid"/>
          </a:ln>
        </p:spPr>
      </p:sp>
      <p:sp>
        <p:nvSpPr>
          <p:cNvPr id="26" name="Text 22"/>
          <p:cNvSpPr txBox="1"/>
          <p:nvPr/>
        </p:nvSpPr>
        <p:spPr>
          <a:xfrm>
            <a:off x="4480560" y="3977640"/>
            <a:ext cx="3108960" cy="411480"/>
          </a:xfrm>
          <a:prstGeom prst="rect">
            <a:avLst/>
          </a:prstGeom>
          <a:noFill/>
          <a:ln/>
        </p:spPr>
        <p:txBody>
          <a:bodyPr wrap="square" lIns="0" tIns="0" rIns="0" bIns="0" rtlCol="0" anchor="ctr"/>
          <a:lstStyle/>
          <a:p>
            <a:pPr indent="0" marL="0">
              <a:buNone/>
            </a:pPr>
            <a:r>
              <a:rPr lang="en-US" sz="1700" b="1" dirty="0">
                <a:solidFill>
                  <a:srgbClr val="1D1438"/>
                </a:solidFill>
                <a:latin typeface="Times New Roman" pitchFamily="34" charset="0"/>
                <a:ea typeface="Times New Roman" pitchFamily="34" charset="-122"/>
                <a:cs typeface="Times New Roman" pitchFamily="34" charset="-120"/>
              </a:rPr>
              <a:t>Overfitting</a:t>
            </a:r>
            <a:endParaRPr lang="en-US" sz="1700" dirty="0"/>
          </a:p>
        </p:txBody>
      </p:sp>
      <p:sp>
        <p:nvSpPr>
          <p:cNvPr id="27" name="Text 23"/>
          <p:cNvSpPr txBox="1"/>
          <p:nvPr/>
        </p:nvSpPr>
        <p:spPr>
          <a:xfrm>
            <a:off x="4480560" y="4434840"/>
            <a:ext cx="3108960" cy="868680"/>
          </a:xfrm>
          <a:prstGeom prst="rect">
            <a:avLst/>
          </a:prstGeom>
          <a:noFill/>
          <a:ln/>
        </p:spPr>
        <p:txBody>
          <a:bodyPr wrap="square" lIns="0" tIns="0" rIns="0" bIns="0" rtlCol="0" anchor="t"/>
          <a:lstStyle/>
          <a:p>
            <a:pPr indent="0" marL="0">
              <a:buNone/>
            </a:pPr>
            <a:r>
              <a:rPr lang="en-US" sz="1400" dirty="0">
                <a:solidFill>
                  <a:srgbClr val="1D1438"/>
                </a:solidFill>
                <a:latin typeface="Times New Roman" pitchFamily="34" charset="0"/>
                <a:ea typeface="Times New Roman" pitchFamily="34" charset="-122"/>
                <a:cs typeface="Times New Roman" pitchFamily="34" charset="-120"/>
              </a:rPr>
              <a:t>Random Forest scores R² 0.98 on training data vs 0.81 on test data.</a:t>
            </a:r>
            <a:endParaRPr lang="en-US" sz="1400" dirty="0"/>
          </a:p>
        </p:txBody>
      </p:sp>
      <p:sp>
        <p:nvSpPr>
          <p:cNvPr id="28" name="Shape 24"/>
          <p:cNvSpPr/>
          <p:nvPr/>
        </p:nvSpPr>
        <p:spPr>
          <a:xfrm>
            <a:off x="4434840" y="5349240"/>
            <a:ext cx="3200400" cy="731520"/>
          </a:xfrm>
          <a:prstGeom prst="rect">
            <a:avLst/>
          </a:prstGeom>
          <a:solidFill>
            <a:srgbClr val="FFFFFF"/>
          </a:solidFill>
          <a:ln w="12700">
            <a:solidFill>
              <a:srgbClr val="FFFFFF"/>
            </a:solidFill>
            <a:prstDash val="solid"/>
          </a:ln>
        </p:spPr>
      </p:sp>
      <p:sp>
        <p:nvSpPr>
          <p:cNvPr id="29" name="Text 25"/>
          <p:cNvSpPr txBox="1"/>
          <p:nvPr/>
        </p:nvSpPr>
        <p:spPr>
          <a:xfrm>
            <a:off x="4572000" y="5349240"/>
            <a:ext cx="2971800" cy="731520"/>
          </a:xfrm>
          <a:prstGeom prst="rect">
            <a:avLst/>
          </a:prstGeom>
          <a:noFill/>
          <a:ln/>
        </p:spPr>
        <p:txBody>
          <a:bodyPr wrap="square" lIns="0" tIns="0" rIns="0" bIns="0" rtlCol="0" anchor="ctr"/>
          <a:lstStyle/>
          <a:p>
            <a:pPr indent="0" marL="0">
              <a:buNone/>
            </a:pPr>
            <a:r>
              <a:rPr lang="en-US" sz="1300" b="1" dirty="0">
                <a:solidFill>
                  <a:srgbClr val="F25C1F"/>
                </a:solidFill>
                <a:latin typeface="Times New Roman" pitchFamily="34" charset="0"/>
                <a:ea typeface="Times New Roman" pitchFamily="34" charset="-122"/>
                <a:cs typeface="Times New Roman" pitchFamily="34" charset="-120"/>
              </a:rPr>
              <a:t>What we did: </a:t>
            </a:r>
            <a:pPr indent="0" marL="0">
              <a:buNone/>
            </a:pPr>
            <a:r>
              <a:rPr lang="en-US" sz="1300" dirty="0">
                <a:solidFill>
                  <a:srgbClr val="1D1438"/>
                </a:solidFill>
                <a:latin typeface="Times New Roman" pitchFamily="34" charset="0"/>
                <a:ea typeface="Times New Roman" pitchFamily="34" charset="-122"/>
                <a:cs typeface="Times New Roman" pitchFamily="34" charset="-120"/>
              </a:rPr>
              <a:t>Judged models only on unseen test data and CV.</a:t>
            </a:r>
            <a:endParaRPr lang="en-US" sz="1300" dirty="0"/>
          </a:p>
        </p:txBody>
      </p:sp>
      <p:sp>
        <p:nvSpPr>
          <p:cNvPr id="30" name="Shape 26"/>
          <p:cNvSpPr/>
          <p:nvPr/>
        </p:nvSpPr>
        <p:spPr>
          <a:xfrm>
            <a:off x="8001000" y="3840480"/>
            <a:ext cx="3566160" cy="2377440"/>
          </a:xfrm>
          <a:prstGeom prst="rect">
            <a:avLst/>
          </a:prstGeom>
          <a:solidFill>
            <a:srgbClr val="FFF1D6"/>
          </a:solidFill>
          <a:ln w="12700">
            <a:solidFill>
              <a:srgbClr val="FFF1D6"/>
            </a:solidFill>
            <a:prstDash val="solid"/>
          </a:ln>
        </p:spPr>
      </p:sp>
      <p:sp>
        <p:nvSpPr>
          <p:cNvPr id="31" name="Text 27"/>
          <p:cNvSpPr txBox="1"/>
          <p:nvPr/>
        </p:nvSpPr>
        <p:spPr>
          <a:xfrm>
            <a:off x="8229600" y="3977640"/>
            <a:ext cx="3108960" cy="411480"/>
          </a:xfrm>
          <a:prstGeom prst="rect">
            <a:avLst/>
          </a:prstGeom>
          <a:noFill/>
          <a:ln/>
        </p:spPr>
        <p:txBody>
          <a:bodyPr wrap="square" lIns="0" tIns="0" rIns="0" bIns="0" rtlCol="0" anchor="ctr"/>
          <a:lstStyle/>
          <a:p>
            <a:pPr indent="0" marL="0">
              <a:buNone/>
            </a:pPr>
            <a:r>
              <a:rPr lang="en-US" sz="1700" b="1" dirty="0">
                <a:solidFill>
                  <a:srgbClr val="1D1438"/>
                </a:solidFill>
                <a:latin typeface="Times New Roman" pitchFamily="34" charset="0"/>
                <a:ea typeface="Times New Roman" pitchFamily="34" charset="-122"/>
                <a:cs typeface="Times New Roman" pitchFamily="34" charset="-120"/>
              </a:rPr>
              <a:t>Data leakage risk</a:t>
            </a:r>
            <a:endParaRPr lang="en-US" sz="1700" dirty="0"/>
          </a:p>
        </p:txBody>
      </p:sp>
      <p:sp>
        <p:nvSpPr>
          <p:cNvPr id="32" name="Text 28"/>
          <p:cNvSpPr txBox="1"/>
          <p:nvPr/>
        </p:nvSpPr>
        <p:spPr>
          <a:xfrm>
            <a:off x="8229600" y="4434840"/>
            <a:ext cx="3108960" cy="868680"/>
          </a:xfrm>
          <a:prstGeom prst="rect">
            <a:avLst/>
          </a:prstGeom>
          <a:noFill/>
          <a:ln/>
        </p:spPr>
        <p:txBody>
          <a:bodyPr wrap="square" lIns="0" tIns="0" rIns="0" bIns="0" rtlCol="0" anchor="t"/>
          <a:lstStyle/>
          <a:p>
            <a:pPr indent="0" marL="0">
              <a:buNone/>
            </a:pPr>
            <a:r>
              <a:rPr lang="en-US" sz="1400" dirty="0">
                <a:solidFill>
                  <a:srgbClr val="1D1438"/>
                </a:solidFill>
                <a:latin typeface="Times New Roman" pitchFamily="34" charset="0"/>
                <a:ea typeface="Times New Roman" pitchFamily="34" charset="-122"/>
                <a:cs typeface="Times New Roman" pitchFamily="34" charset="-120"/>
              </a:rPr>
              <a:t>Scaling before splitting would leak test information.</a:t>
            </a:r>
            <a:endParaRPr lang="en-US" sz="1400" dirty="0"/>
          </a:p>
        </p:txBody>
      </p:sp>
      <p:sp>
        <p:nvSpPr>
          <p:cNvPr id="33" name="Shape 29"/>
          <p:cNvSpPr/>
          <p:nvPr/>
        </p:nvSpPr>
        <p:spPr>
          <a:xfrm>
            <a:off x="8183880" y="5349240"/>
            <a:ext cx="3200400" cy="731520"/>
          </a:xfrm>
          <a:prstGeom prst="rect">
            <a:avLst/>
          </a:prstGeom>
          <a:solidFill>
            <a:srgbClr val="FFFFFF"/>
          </a:solidFill>
          <a:ln w="12700">
            <a:solidFill>
              <a:srgbClr val="FFFFFF"/>
            </a:solidFill>
            <a:prstDash val="solid"/>
          </a:ln>
        </p:spPr>
      </p:sp>
      <p:sp>
        <p:nvSpPr>
          <p:cNvPr id="34" name="Text 30"/>
          <p:cNvSpPr txBox="1"/>
          <p:nvPr/>
        </p:nvSpPr>
        <p:spPr>
          <a:xfrm>
            <a:off x="8321040" y="5349240"/>
            <a:ext cx="2971800" cy="731520"/>
          </a:xfrm>
          <a:prstGeom prst="rect">
            <a:avLst/>
          </a:prstGeom>
          <a:noFill/>
          <a:ln/>
        </p:spPr>
        <p:txBody>
          <a:bodyPr wrap="square" lIns="0" tIns="0" rIns="0" bIns="0" rtlCol="0" anchor="ctr"/>
          <a:lstStyle/>
          <a:p>
            <a:pPr indent="0" marL="0">
              <a:buNone/>
            </a:pPr>
            <a:r>
              <a:rPr lang="en-US" sz="1300" b="1" dirty="0">
                <a:solidFill>
                  <a:srgbClr val="B07400"/>
                </a:solidFill>
                <a:latin typeface="Times New Roman" pitchFamily="34" charset="0"/>
                <a:ea typeface="Times New Roman" pitchFamily="34" charset="-122"/>
                <a:cs typeface="Times New Roman" pitchFamily="34" charset="-120"/>
              </a:rPr>
              <a:t>What we did: </a:t>
            </a:r>
            <a:pPr indent="0" marL="0">
              <a:buNone/>
            </a:pPr>
            <a:r>
              <a:rPr lang="en-US" sz="1300" dirty="0">
                <a:solidFill>
                  <a:srgbClr val="1D1438"/>
                </a:solidFill>
                <a:latin typeface="Times New Roman" pitchFamily="34" charset="0"/>
                <a:ea typeface="Times New Roman" pitchFamily="34" charset="-122"/>
                <a:cs typeface="Times New Roman" pitchFamily="34" charset="-120"/>
              </a:rPr>
              <a:t>Fit the scaler on the training set only.</a:t>
            </a:r>
            <a:endParaRPr lang="en-US" sz="1300" dirty="0"/>
          </a:p>
        </p:txBody>
      </p:sp>
    </p:spTree>
  </p:cSld>
  <p:clrMapOvr>
    <a:masterClrMapping/>
  </p:clrMapOvr>
  <mc:AlternateContent xmlns:mc="http://schemas.openxmlformats.org/markup-compatibility/2006">
    <mc:Choice xmlns:p14="http://schemas.microsoft.com/office/powerpoint/2010/main" Requires="p14">
      <p:transition spd="slow" p14:dur="1000">
        <p14:prism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0B4B"/>
        </a:solidFill>
      </p:bgPr>
    </p:bg>
    <p:spTree>
      <p:nvGrpSpPr>
        <p:cNvPr id="1" name=""/>
        <p:cNvGrpSpPr/>
        <p:nvPr/>
      </p:nvGrpSpPr>
      <p:grpSpPr>
        <a:xfrm>
          <a:off x="0" y="0"/>
          <a:ext cx="0" cy="0"/>
          <a:chOff x="0" y="0"/>
          <a:chExt cx="0" cy="0"/>
        </a:xfrm>
      </p:grpSpPr>
      <p:sp>
        <p:nvSpPr>
          <p:cNvPr id="2" name="Shape 0"/>
          <p:cNvSpPr/>
          <p:nvPr/>
        </p:nvSpPr>
        <p:spPr>
          <a:xfrm>
            <a:off x="9966960" y="-548640"/>
            <a:ext cx="2743200" cy="2743200"/>
          </a:xfrm>
          <a:prstGeom prst="ellipse">
            <a:avLst/>
          </a:prstGeom>
          <a:solidFill>
            <a:srgbClr val="F0287A"/>
          </a:solidFill>
          <a:ln w="12700">
            <a:solidFill>
              <a:srgbClr val="F0287A"/>
            </a:solidFill>
            <a:prstDash val="solid"/>
          </a:ln>
        </p:spPr>
      </p:sp>
      <p:sp>
        <p:nvSpPr>
          <p:cNvPr id="3" name="Shape 1"/>
          <p:cNvSpPr/>
          <p:nvPr/>
        </p:nvSpPr>
        <p:spPr>
          <a:xfrm>
            <a:off x="10972800" y="1737360"/>
            <a:ext cx="1463040" cy="1463040"/>
          </a:xfrm>
          <a:prstGeom prst="ellipse">
            <a:avLst/>
          </a:prstGeom>
          <a:solidFill>
            <a:srgbClr val="E89A00"/>
          </a:solidFill>
          <a:ln w="12700">
            <a:solidFill>
              <a:srgbClr val="E89A00"/>
            </a:solidFill>
            <a:prstDash val="solid"/>
          </a:ln>
        </p:spPr>
      </p:sp>
      <p:sp>
        <p:nvSpPr>
          <p:cNvPr id="4" name="Shape 2"/>
          <p:cNvSpPr/>
          <p:nvPr/>
        </p:nvSpPr>
        <p:spPr>
          <a:xfrm>
            <a:off x="8869680" y="5120640"/>
            <a:ext cx="2194560" cy="2194560"/>
          </a:xfrm>
          <a:prstGeom prst="ellipse">
            <a:avLst/>
          </a:prstGeom>
          <a:solidFill>
            <a:srgbClr val="0096D6"/>
          </a:solidFill>
          <a:ln w="12700">
            <a:solidFill>
              <a:srgbClr val="0096D6"/>
            </a:solidFill>
            <a:prstDash val="solid"/>
          </a:ln>
        </p:spPr>
      </p:sp>
      <p:sp>
        <p:nvSpPr>
          <p:cNvPr id="5" name="Shape 3"/>
          <p:cNvSpPr/>
          <p:nvPr/>
        </p:nvSpPr>
        <p:spPr>
          <a:xfrm>
            <a:off x="10881360" y="4480560"/>
            <a:ext cx="1005840" cy="1005840"/>
          </a:xfrm>
          <a:prstGeom prst="ellipse">
            <a:avLst/>
          </a:prstGeom>
          <a:solidFill>
            <a:srgbClr val="0FA47A"/>
          </a:solidFill>
          <a:ln w="12700">
            <a:solidFill>
              <a:srgbClr val="0FA47A"/>
            </a:solidFill>
            <a:prstDash val="solid"/>
          </a:ln>
        </p:spPr>
      </p:sp>
      <p:sp>
        <p:nvSpPr>
          <p:cNvPr id="6" name="Shape 4"/>
          <p:cNvSpPr/>
          <p:nvPr/>
        </p:nvSpPr>
        <p:spPr>
          <a:xfrm>
            <a:off x="-960120" y="5897880"/>
            <a:ext cx="1554480" cy="1554480"/>
          </a:xfrm>
          <a:prstGeom prst="ellipse">
            <a:avLst/>
          </a:prstGeom>
          <a:solidFill>
            <a:srgbClr val="7C4DFF"/>
          </a:solidFill>
          <a:ln w="12700">
            <a:solidFill>
              <a:srgbClr val="7C4DFF"/>
            </a:solidFill>
            <a:prstDash val="solid"/>
          </a:ln>
        </p:spPr>
      </p:sp>
      <p:sp>
        <p:nvSpPr>
          <p:cNvPr id="7" name="Text 5"/>
          <p:cNvSpPr txBox="1"/>
          <p:nvPr/>
        </p:nvSpPr>
        <p:spPr>
          <a:xfrm>
            <a:off x="731520" y="411480"/>
            <a:ext cx="8229600" cy="777240"/>
          </a:xfrm>
          <a:prstGeom prst="rect">
            <a:avLst/>
          </a:prstGeom>
          <a:noFill/>
          <a:ln/>
        </p:spPr>
        <p:txBody>
          <a:bodyPr wrap="square" lIns="0" tIns="0" rIns="0" bIns="0" rtlCol="0" anchor="ctr"/>
          <a:lstStyle/>
          <a:p>
            <a:pPr indent="0" marL="0">
              <a:buNone/>
            </a:pPr>
            <a:r>
              <a:rPr lang="en-US" sz="4200" b="1" dirty="0">
                <a:solidFill>
                  <a:srgbClr val="FFFFFF"/>
                </a:solidFill>
                <a:latin typeface="Times New Roman" pitchFamily="34" charset="0"/>
                <a:ea typeface="Times New Roman" pitchFamily="34" charset="-122"/>
                <a:cs typeface="Times New Roman" pitchFamily="34" charset="-120"/>
              </a:rPr>
              <a:t>Conclusion</a:t>
            </a:r>
            <a:endParaRPr lang="en-US" sz="4200" dirty="0"/>
          </a:p>
        </p:txBody>
      </p:sp>
      <p:sp>
        <p:nvSpPr>
          <p:cNvPr id="8" name="Text 6"/>
          <p:cNvSpPr txBox="1"/>
          <p:nvPr/>
        </p:nvSpPr>
        <p:spPr>
          <a:xfrm>
            <a:off x="731520" y="1280160"/>
            <a:ext cx="2560320" cy="822960"/>
          </a:xfrm>
          <a:prstGeom prst="rect">
            <a:avLst/>
          </a:prstGeom>
          <a:noFill/>
          <a:ln/>
        </p:spPr>
        <p:txBody>
          <a:bodyPr wrap="square" lIns="0" tIns="0" rIns="0" bIns="0" rtlCol="0" anchor="ctr"/>
          <a:lstStyle/>
          <a:p>
            <a:pPr indent="0" marL="0">
              <a:buNone/>
            </a:pPr>
            <a:r>
              <a:rPr lang="en-US" sz="5000" b="1" dirty="0">
                <a:solidFill>
                  <a:srgbClr val="0FA47A"/>
                </a:solidFill>
                <a:latin typeface="Times New Roman" pitchFamily="34" charset="0"/>
                <a:ea typeface="Times New Roman" pitchFamily="34" charset="-122"/>
                <a:cs typeface="Times New Roman" pitchFamily="34" charset="-120"/>
              </a:rPr>
              <a:t>0.81</a:t>
            </a:r>
            <a:endParaRPr lang="en-US" sz="5000" dirty="0"/>
          </a:p>
        </p:txBody>
      </p:sp>
      <p:sp>
        <p:nvSpPr>
          <p:cNvPr id="9" name="Text 7"/>
          <p:cNvSpPr txBox="1"/>
          <p:nvPr/>
        </p:nvSpPr>
        <p:spPr>
          <a:xfrm>
            <a:off x="731520" y="2103120"/>
            <a:ext cx="2514600" cy="594360"/>
          </a:xfrm>
          <a:prstGeom prst="rect">
            <a:avLst/>
          </a:prstGeom>
          <a:noFill/>
          <a:ln/>
        </p:spPr>
        <p:txBody>
          <a:bodyPr wrap="square" lIns="0" tIns="0" rIns="0" bIns="0" rtlCol="0" anchor="ctr"/>
          <a:lstStyle/>
          <a:p>
            <a:pPr indent="0" marL="0">
              <a:buNone/>
            </a:pPr>
            <a:r>
              <a:rPr lang="en-US" sz="1400" dirty="0">
                <a:solidFill>
                  <a:srgbClr val="D9CCFF"/>
                </a:solidFill>
                <a:latin typeface="Times New Roman" pitchFamily="34" charset="0"/>
                <a:ea typeface="Times New Roman" pitchFamily="34" charset="-122"/>
                <a:cs typeface="Times New Roman" pitchFamily="34" charset="-120"/>
              </a:rPr>
              <a:t>best R² — Random Forest with G1/G2 (0.87 with CV)</a:t>
            </a:r>
            <a:endParaRPr lang="en-US" sz="1400" dirty="0"/>
          </a:p>
        </p:txBody>
      </p:sp>
      <p:sp>
        <p:nvSpPr>
          <p:cNvPr id="10" name="Text 8"/>
          <p:cNvSpPr txBox="1"/>
          <p:nvPr/>
        </p:nvSpPr>
        <p:spPr>
          <a:xfrm>
            <a:off x="3474720" y="1280160"/>
            <a:ext cx="2560320" cy="822960"/>
          </a:xfrm>
          <a:prstGeom prst="rect">
            <a:avLst/>
          </a:prstGeom>
          <a:noFill/>
          <a:ln/>
        </p:spPr>
        <p:txBody>
          <a:bodyPr wrap="square" lIns="0" tIns="0" rIns="0" bIns="0" rtlCol="0" anchor="ctr"/>
          <a:lstStyle/>
          <a:p>
            <a:pPr indent="0" marL="0">
              <a:buNone/>
            </a:pPr>
            <a:r>
              <a:rPr lang="en-US" sz="5000" b="1" dirty="0">
                <a:solidFill>
                  <a:srgbClr val="E89A00"/>
                </a:solidFill>
                <a:latin typeface="Times New Roman" pitchFamily="34" charset="0"/>
                <a:ea typeface="Times New Roman" pitchFamily="34" charset="-122"/>
                <a:cs typeface="Times New Roman" pitchFamily="34" charset="-120"/>
              </a:rPr>
              <a:t>0.27</a:t>
            </a:r>
            <a:endParaRPr lang="en-US" sz="5000" dirty="0"/>
          </a:p>
        </p:txBody>
      </p:sp>
      <p:sp>
        <p:nvSpPr>
          <p:cNvPr id="11" name="Text 9"/>
          <p:cNvSpPr txBox="1"/>
          <p:nvPr/>
        </p:nvSpPr>
        <p:spPr>
          <a:xfrm>
            <a:off x="3474720" y="2103120"/>
            <a:ext cx="2514600" cy="594360"/>
          </a:xfrm>
          <a:prstGeom prst="rect">
            <a:avLst/>
          </a:prstGeom>
          <a:noFill/>
          <a:ln/>
        </p:spPr>
        <p:txBody>
          <a:bodyPr wrap="square" lIns="0" tIns="0" rIns="0" bIns="0" rtlCol="0" anchor="ctr"/>
          <a:lstStyle/>
          <a:p>
            <a:pPr indent="0" marL="0">
              <a:buNone/>
            </a:pPr>
            <a:r>
              <a:rPr lang="en-US" sz="1400" dirty="0">
                <a:solidFill>
                  <a:srgbClr val="D9CCFF"/>
                </a:solidFill>
                <a:latin typeface="Times New Roman" pitchFamily="34" charset="0"/>
                <a:ea typeface="Times New Roman" pitchFamily="34" charset="-122"/>
                <a:cs typeface="Times New Roman" pitchFamily="34" charset="-120"/>
              </a:rPr>
              <a:t>R² without earlier grades</a:t>
            </a:r>
            <a:endParaRPr lang="en-US" sz="1400" dirty="0"/>
          </a:p>
        </p:txBody>
      </p:sp>
      <p:sp>
        <p:nvSpPr>
          <p:cNvPr id="12" name="Text 10"/>
          <p:cNvSpPr txBox="1"/>
          <p:nvPr/>
        </p:nvSpPr>
        <p:spPr>
          <a:xfrm>
            <a:off x="6217920" y="1280160"/>
            <a:ext cx="2560320" cy="822960"/>
          </a:xfrm>
          <a:prstGeom prst="rect">
            <a:avLst/>
          </a:prstGeom>
          <a:noFill/>
          <a:ln/>
        </p:spPr>
        <p:txBody>
          <a:bodyPr wrap="square" lIns="0" tIns="0" rIns="0" bIns="0" rtlCol="0" anchor="ctr"/>
          <a:lstStyle/>
          <a:p>
            <a:pPr indent="0" marL="0">
              <a:buNone/>
            </a:pPr>
            <a:r>
              <a:rPr lang="en-US" sz="5000" b="1" dirty="0">
                <a:solidFill>
                  <a:srgbClr val="F0287A"/>
                </a:solidFill>
                <a:latin typeface="Times New Roman" pitchFamily="34" charset="0"/>
                <a:ea typeface="Times New Roman" pitchFamily="34" charset="-122"/>
                <a:cs typeface="Times New Roman" pitchFamily="34" charset="-120"/>
              </a:rPr>
              <a:t>38</a:t>
            </a:r>
            <a:endParaRPr lang="en-US" sz="5000" dirty="0"/>
          </a:p>
        </p:txBody>
      </p:sp>
      <p:sp>
        <p:nvSpPr>
          <p:cNvPr id="13" name="Text 11"/>
          <p:cNvSpPr txBox="1"/>
          <p:nvPr/>
        </p:nvSpPr>
        <p:spPr>
          <a:xfrm>
            <a:off x="6217920" y="2103120"/>
            <a:ext cx="2514600" cy="594360"/>
          </a:xfrm>
          <a:prstGeom prst="rect">
            <a:avLst/>
          </a:prstGeom>
          <a:noFill/>
          <a:ln/>
        </p:spPr>
        <p:txBody>
          <a:bodyPr wrap="square" lIns="0" tIns="0" rIns="0" bIns="0" rtlCol="0" anchor="ctr"/>
          <a:lstStyle/>
          <a:p>
            <a:pPr indent="0" marL="0">
              <a:buNone/>
            </a:pPr>
            <a:r>
              <a:rPr lang="en-US" sz="1400" dirty="0">
                <a:solidFill>
                  <a:srgbClr val="D9CCFF"/>
                </a:solidFill>
                <a:latin typeface="Times New Roman" pitchFamily="34" charset="0"/>
                <a:ea typeface="Times New Roman" pitchFamily="34" charset="-122"/>
                <a:cs typeface="Times New Roman" pitchFamily="34" charset="-120"/>
              </a:rPr>
              <a:t>zero-grade students: the hardest cases</a:t>
            </a:r>
            <a:endParaRPr lang="en-US" sz="1400" dirty="0"/>
          </a:p>
        </p:txBody>
      </p:sp>
      <p:sp>
        <p:nvSpPr>
          <p:cNvPr id="14" name="Text 12"/>
          <p:cNvSpPr txBox="1"/>
          <p:nvPr/>
        </p:nvSpPr>
        <p:spPr>
          <a:xfrm>
            <a:off x="731520" y="2834640"/>
            <a:ext cx="8001000" cy="3246120"/>
          </a:xfrm>
          <a:prstGeom prst="rect">
            <a:avLst/>
          </a:prstGeom>
          <a:noFill/>
          <a:ln/>
        </p:spPr>
        <p:txBody>
          <a:bodyPr wrap="square" lIns="0" tIns="0" rIns="0" bIns="0" rtlCol="0" anchor="t"/>
          <a:lstStyle/>
          <a:p>
            <a:pPr marL="228600" indent="-228600">
              <a:spcAft>
                <a:spcPts val="700"/>
              </a:spcAft>
              <a:buSzPct val="100000"/>
              <a:buChar char="•"/>
            </a:pPr>
            <a:r>
              <a:rPr lang="en-US" sz="1500" dirty="0">
                <a:solidFill>
                  <a:srgbClr val="FFFFFF"/>
                </a:solidFill>
                <a:latin typeface="Times New Roman" pitchFamily="34" charset="0"/>
                <a:ea typeface="Times New Roman" pitchFamily="34" charset="-122"/>
                <a:cs typeface="Times New Roman" pitchFamily="34" charset="-120"/>
              </a:rPr>
              <a:t>Earlier grades are the strongest predictor. With G1 and G2, Random Forest explains 81% of grade variation (87% with cross-validation), within the 0.6–0.85 range for reasonable performance.</a:t>
            </a:r>
            <a:endParaRPr lang="en-US" sz="1500" dirty="0"/>
          </a:p>
          <a:p>
            <a:pPr marL="228600" indent="-228600">
              <a:spcAft>
                <a:spcPts val="700"/>
              </a:spcAft>
              <a:buSzPct val="100000"/>
              <a:buChar char="•"/>
            </a:pPr>
            <a:r>
              <a:rPr lang="en-US" sz="1500" dirty="0">
                <a:solidFill>
                  <a:srgbClr val="FFFFFF"/>
                </a:solidFill>
                <a:latin typeface="Times New Roman" pitchFamily="34" charset="0"/>
                <a:ea typeface="Times New Roman" pitchFamily="34" charset="-122"/>
                <a:cs typeface="Times New Roman" pitchFamily="34" charset="-120"/>
              </a:rPr>
              <a:t>Random Forest beat Linear Regression (R² 0.81 vs 0.72) because it captures non-linear patterns, like grades dropping to 0.</a:t>
            </a:r>
            <a:endParaRPr lang="en-US" sz="1500" dirty="0"/>
          </a:p>
          <a:p>
            <a:pPr marL="228600" indent="-228600">
              <a:spcAft>
                <a:spcPts val="700"/>
              </a:spcAft>
              <a:buSzPct val="100000"/>
              <a:buChar char="•"/>
            </a:pPr>
            <a:r>
              <a:rPr lang="en-US" sz="1500" dirty="0">
                <a:solidFill>
                  <a:srgbClr val="FFFFFF"/>
                </a:solidFill>
                <a:latin typeface="Times New Roman" pitchFamily="34" charset="0"/>
                <a:ea typeface="Times New Roman" pitchFamily="34" charset="-122"/>
                <a:cs typeface="Times New Roman" pitchFamily="34" charset="-120"/>
              </a:rPr>
              <a:t>Background factors alone explain only about 27% of grade variation, so early-warning prediction would need more or better data.</a:t>
            </a:r>
            <a:endParaRPr lang="en-US" sz="1500" dirty="0"/>
          </a:p>
          <a:p>
            <a:pPr marL="228600" indent="-228600">
              <a:spcAft>
                <a:spcPts val="700"/>
              </a:spcAft>
              <a:buSzPct val="100000"/>
              <a:buChar char="•"/>
            </a:pPr>
            <a:r>
              <a:rPr lang="en-US" sz="1500" dirty="0">
                <a:solidFill>
                  <a:srgbClr val="FFFFFF"/>
                </a:solidFill>
                <a:latin typeface="Times New Roman" pitchFamily="34" charset="0"/>
                <a:ea typeface="Times New Roman" pitchFamily="34" charset="-122"/>
                <a:cs typeface="Times New Roman" pitchFamily="34" charset="-120"/>
              </a:rPr>
              <a:t>Practical meaning: useful as a mid-year prediction tool. The 38 students who scored 0 (likely dropouts) are the biggest source of error.</a:t>
            </a:r>
            <a:endParaRPr lang="en-US" sz="1500" dirty="0"/>
          </a:p>
          <a:p>
            <a:pPr marL="228600" indent="-228600">
              <a:spcAft>
                <a:spcPts val="700"/>
              </a:spcAft>
              <a:buSzPct val="100000"/>
              <a:buChar char="•"/>
            </a:pPr>
            <a:r>
              <a:rPr lang="en-US" sz="1500" dirty="0">
                <a:solidFill>
                  <a:srgbClr val="FFFFFF"/>
                </a:solidFill>
                <a:latin typeface="Times New Roman" pitchFamily="34" charset="0"/>
                <a:ea typeface="Times New Roman" pitchFamily="34" charset="-122"/>
                <a:cs typeface="Times New Roman" pitchFamily="34" charset="-120"/>
              </a:rPr>
              <a:t>Future work: predict dropouts separately (classification), tune the Random Forest, and try gradient boosting.</a:t>
            </a:r>
            <a:endParaRPr lang="en-US" sz="1500" dirty="0"/>
          </a:p>
        </p:txBody>
      </p:sp>
      <p:sp>
        <p:nvSpPr>
          <p:cNvPr id="15" name="Text 13"/>
          <p:cNvSpPr txBox="1"/>
          <p:nvPr/>
        </p:nvSpPr>
        <p:spPr>
          <a:xfrm>
            <a:off x="731520" y="6172200"/>
            <a:ext cx="7315200" cy="457200"/>
          </a:xfrm>
          <a:prstGeom prst="rect">
            <a:avLst/>
          </a:prstGeom>
          <a:noFill/>
          <a:ln/>
        </p:spPr>
        <p:txBody>
          <a:bodyPr wrap="square" lIns="0" tIns="0" rIns="0" bIns="0" rtlCol="0" anchor="ctr"/>
          <a:lstStyle/>
          <a:p>
            <a:pPr indent="0" marL="0">
              <a:buNone/>
            </a:pPr>
            <a:r>
              <a:rPr lang="en-US" sz="2200" b="1" dirty="0">
                <a:solidFill>
                  <a:srgbClr val="E89A00"/>
                </a:solidFill>
                <a:latin typeface="Times New Roman" pitchFamily="34" charset="0"/>
                <a:ea typeface="Times New Roman" pitchFamily="34" charset="-122"/>
                <a:cs typeface="Times New Roman" pitchFamily="34" charset="-120"/>
              </a:rPr>
              <a:t>Thank you!  Questions?</a:t>
            </a:r>
            <a:endParaRPr lang="en-US" sz="2200" dirty="0"/>
          </a:p>
        </p:txBody>
      </p:sp>
    </p:spTree>
  </p:cSld>
  <p:clrMapOvr>
    <a:masterClrMapping/>
  </p:clrMapOvr>
  <mc:AlternateContent xmlns:mc="http://schemas.openxmlformats.org/markup-compatibility/2006">
    <mc:Choice xmlns:p14="http://schemas.microsoft.com/office/powerpoint/2010/main" Requires="p14">
      <p:transition spd="slow" p14:dur="2000">
        <p14:honeycomb/>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Student Performance</dc:title>
  <dc:subject>Student Performance Prediction</dc:subject>
  <dc:creator>Aleida Ramirez</dc:creator>
  <cp:lastModifiedBy>Aleida Ramirez</cp:lastModifiedBy>
  <cp:revision>1</cp:revision>
  <dcterms:created xsi:type="dcterms:W3CDTF">2026-10-01T02:27:16Z</dcterms:created>
  <dcterms:modified xsi:type="dcterms:W3CDTF">2026-10-01T02:27:16Z</dcterms:modified>
</cp:coreProperties>
</file>