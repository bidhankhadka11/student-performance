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F2A37"/>
                </a:solidFill>
                <a:latin typeface="Arial"/>
              </a:defRPr>
            </a:pPr>
            <a:r>
              <a:rPr sz="1000" b="0" i="0" u="none" strike="noStrike">
                <a:solidFill>
                  <a:srgbClr val="1F2A37"/>
                </a:solidFill>
                <a:latin typeface="Arial"/>
              </a:rPr>
              <a:t>Linear Regression, with G1/G2
R² = 0.724</a:t>
            </a:r>
          </a:p>
        </c:rich>
      </c:tx>
      <c:layout/>
      <c:overlay val="0"/>
    </c:title>
    <c:autoTitleDeleted val="0"/>
    <c:plotArea>
      <c:layout/>
      <c:scatterChart>
        <c:scatterStyle val="lineMarker"/>
        <c:varyColors val="0"/>
        <c:ser>
          <c:idx val="0"/>
          <c:order val="0"/>
          <c:tx>
            <c:strRef>
              <c:f>Sheet1!$B$1</c:f>
              <c:strCache>
                <c:ptCount val="1"/>
                <c:pt idx="0">
                  <c:v>Students</c:v>
                </c:pt>
              </c:strCache>
            </c:strRef>
          </c:tx>
          <c:spPr>
            <a:solidFill>
              <a:srgbClr val="4682B4"/>
            </a:solidFill>
            <a:ln>
              <a:noFill/>
            </a:ln>
            <a:effectLst/>
          </c:spPr>
          <c:marker>
            <c:symbol val="circle"/>
            <c:size val="5"/>
            <c:spPr>
              <a:solidFill>
                <a:srgbClr val="4682B4"/>
              </a:solidFill>
              <a:ln w="9525" cap="flat">
                <a:solidFill>
                  <a:srgbClr val="4682B4"/>
                </a:solidFill>
                <a:prstDash val="solid"/>
                <a:round/>
              </a:ln>
              <a:effectLst/>
            </c:spPr>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Sheet1!$B$2:$B$82</c:f>
              <c:numCache>
                <c:formatCode>General</c:formatCode>
                <c:ptCount val="81"/>
                <c:pt idx="0">
                  <c:v>6</c:v>
                </c:pt>
                <c:pt idx="1">
                  <c:v>11.53</c:v>
                </c:pt>
                <c:pt idx="2">
                  <c:v>2.87</c:v>
                </c:pt>
                <c:pt idx="3">
                  <c:v>8.8</c:v>
                </c:pt>
                <c:pt idx="4">
                  <c:v>8.55</c:v>
                </c:pt>
                <c:pt idx="5">
                  <c:v>11.89</c:v>
                </c:pt>
                <c:pt idx="6">
                  <c:v>19.1</c:v>
                </c:pt>
                <c:pt idx="7">
                  <c:v>7.17</c:v>
                </c:pt>
                <c:pt idx="9">
                  <c:v>12.31</c:v>
                </c:pt>
                <c:pt idx="10">
                  <c:v>14.5</c:v>
                </c:pt>
                <c:pt idx="11">
                  <c:v>5.52</c:v>
                </c:pt>
                <c:pt idx="12">
                  <c:v>13.64</c:v>
                </c:pt>
                <c:pt idx="13">
                  <c:v>11.94</c:v>
                </c:pt>
                <c:pt idx="14">
                  <c:v>14.64</c:v>
                </c:pt>
                <c:pt idx="15">
                  <c:v>8.47</c:v>
                </c:pt>
                <c:pt idx="16">
                  <c:v>5.84</c:v>
                </c:pt>
                <c:pt idx="17">
                  <c:v>10.75</c:v>
                </c:pt>
                <c:pt idx="18">
                  <c:v>14.23</c:v>
                </c:pt>
                <c:pt idx="20">
                  <c:v>13.79</c:v>
                </c:pt>
                <c:pt idx="21">
                  <c:v>16.35</c:v>
                </c:pt>
                <c:pt idx="22">
                  <c:v>13.57</c:v>
                </c:pt>
                <c:pt idx="23">
                  <c:v>5.89</c:v>
                </c:pt>
                <c:pt idx="25">
                  <c:v>20.82</c:v>
                </c:pt>
                <c:pt idx="26">
                  <c:v>10.55</c:v>
                </c:pt>
                <c:pt idx="27">
                  <c:v>9.28</c:v>
                </c:pt>
                <c:pt idx="28">
                  <c:v>17.12</c:v>
                </c:pt>
                <c:pt idx="29">
                  <c:v>11.58</c:v>
                </c:pt>
                <c:pt idx="30">
                  <c:v>9.39</c:v>
                </c:pt>
                <c:pt idx="31">
                  <c:v>6.69</c:v>
                </c:pt>
                <c:pt idx="32">
                  <c:v>14.44</c:v>
                </c:pt>
                <c:pt idx="33">
                  <c:v>12.78</c:v>
                </c:pt>
                <c:pt idx="34">
                  <c:v>5.32</c:v>
                </c:pt>
                <c:pt idx="35">
                  <c:v>4.15</c:v>
                </c:pt>
                <c:pt idx="37">
                  <c:v>15.53</c:v>
                </c:pt>
                <c:pt idx="38">
                  <c:v>12.1</c:v>
                </c:pt>
                <c:pt idx="39">
                  <c:v>6.57</c:v>
                </c:pt>
                <c:pt idx="40">
                  <c:v>5.45</c:v>
                </c:pt>
                <c:pt idx="41">
                  <c:v>9.84</c:v>
                </c:pt>
                <c:pt idx="42">
                  <c:v>14.48</c:v>
                </c:pt>
                <c:pt idx="43">
                  <c:v>6.91</c:v>
                </c:pt>
                <c:pt idx="44">
                  <c:v>16.89</c:v>
                </c:pt>
                <c:pt idx="45">
                  <c:v>9.18</c:v>
                </c:pt>
                <c:pt idx="46">
                  <c:v>11.35</c:v>
                </c:pt>
                <c:pt idx="47">
                  <c:v>13.77</c:v>
                </c:pt>
                <c:pt idx="48">
                  <c:v>11.05</c:v>
                </c:pt>
                <c:pt idx="49">
                  <c:v>15.87</c:v>
                </c:pt>
                <c:pt idx="50">
                  <c:v>14.01</c:v>
                </c:pt>
                <c:pt idx="51">
                  <c:v>14.34</c:v>
                </c:pt>
                <c:pt idx="52">
                  <c:v>9.73</c:v>
                </c:pt>
                <c:pt idx="53">
                  <c:v>7.38</c:v>
                </c:pt>
                <c:pt idx="54">
                  <c:v>3.26</c:v>
                </c:pt>
                <c:pt idx="55">
                  <c:v>12.69</c:v>
                </c:pt>
                <c:pt idx="56">
                  <c:v>10.46</c:v>
                </c:pt>
                <c:pt idx="58">
                  <c:v>15.59</c:v>
                </c:pt>
                <c:pt idx="59">
                  <c:v>16</c:v>
                </c:pt>
                <c:pt idx="60">
                  <c:v>13.54</c:v>
                </c:pt>
                <c:pt idx="61">
                  <c:v>7.62</c:v>
                </c:pt>
                <c:pt idx="62">
                  <c:v>8.1</c:v>
                </c:pt>
                <c:pt idx="63">
                  <c:v>4.06</c:v>
                </c:pt>
                <c:pt idx="64">
                  <c:v>3.16</c:v>
                </c:pt>
                <c:pt idx="65">
                  <c:v>16.36</c:v>
                </c:pt>
                <c:pt idx="66">
                  <c:v>7.93</c:v>
                </c:pt>
                <c:pt idx="67">
                  <c:v>8.31</c:v>
                </c:pt>
                <c:pt idx="68">
                  <c:v>9.2</c:v>
                </c:pt>
                <c:pt idx="69">
                  <c:v>16.24</c:v>
                </c:pt>
                <c:pt idx="70">
                  <c:v>8.24</c:v>
                </c:pt>
                <c:pt idx="71">
                  <c:v>8.59</c:v>
                </c:pt>
                <c:pt idx="72">
                  <c:v>13.89</c:v>
                </c:pt>
                <c:pt idx="73">
                  <c:v>20.48</c:v>
                </c:pt>
                <c:pt idx="74">
                  <c:v>10.16</c:v>
                </c:pt>
                <c:pt idx="75">
                  <c:v>6.28</c:v>
                </c:pt>
                <c:pt idx="76">
                  <c:v>7.69</c:v>
                </c:pt>
                <c:pt idx="77">
                  <c:v>12.41</c:v>
                </c:pt>
                <c:pt idx="78">
                  <c:v>4.34</c:v>
                </c:pt>
              </c:numCache>
            </c:numRef>
          </c:yVal>
          <c:smooth val="0"/>
        </c:ser>
        <c:ser>
          <c:idx val="1"/>
          <c:order val="1"/>
          <c:tx>
            <c:strRef>
              <c:f>Sheet1!$C$1</c:f>
              <c:strCache>
                <c:ptCount val="1"/>
                <c:pt idx="0">
                  <c:v>Actual G3 = 0</c:v>
                </c:pt>
              </c:strCache>
            </c:strRef>
          </c:tx>
          <c:spPr>
            <a:solidFill>
              <a:srgbClr val="DC143C"/>
            </a:solidFill>
            <a:ln>
              <a:noFill/>
            </a:ln>
            <a:effectLst/>
          </c:spPr>
          <c:marker>
            <c:symbol val="circle"/>
            <c:size val="5"/>
            <c:spPr>
              <a:solidFill>
                <a:srgbClr val="DC143C"/>
              </a:solidFill>
              <a:ln w="9525" cap="flat">
                <a:solidFill>
                  <a:srgbClr val="DC143C"/>
                </a:solidFill>
                <a:prstDash val="solid"/>
                <a:round/>
              </a:ln>
              <a:effectLst/>
            </c:spPr>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Sheet1!$C$2:$C$82</c:f>
              <c:numCache>
                <c:formatCode>General</c:formatCode>
                <c:ptCount val="81"/>
                <c:pt idx="8">
                  <c:v>7.41</c:v>
                </c:pt>
                <c:pt idx="19">
                  <c:v>8.4</c:v>
                </c:pt>
                <c:pt idx="24">
                  <c:v>8.41</c:v>
                </c:pt>
                <c:pt idx="36">
                  <c:v>-2.58</c:v>
                </c:pt>
                <c:pt idx="57">
                  <c:v>6.46</c:v>
                </c:pt>
              </c:numCache>
            </c:numRef>
          </c:yVal>
          <c:smooth val="0"/>
        </c:ser>
        <c:ser>
          <c:idx val="2"/>
          <c:order val="2"/>
          <c:tx>
            <c:strRef>
              <c:f>Sheet1!$D$1</c:f>
              <c:strCache>
                <c:ptCount val="1"/>
                <c:pt idx="0">
                  <c:v>Perfect (y = x)</c:v>
                </c:pt>
              </c:strCache>
            </c:strRef>
          </c:tx>
          <c:spPr>
            <a:solidFill>
              <a:srgbClr val="1F2A37"/>
            </a:solidFill>
            <a:ln w="19050" cap="flat">
              <a:solidFill>
                <a:srgbClr val="1F2A37"/>
              </a:solidFill>
              <a:prstDash val="dash"/>
            </a:ln>
            <a:effectLst/>
          </c:spPr>
          <c:marker>
            <c:symbol val="none"/>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Sheet1!$D$2:$D$82</c:f>
              <c:numCache>
                <c:formatCode>General</c:formatCode>
                <c:ptCount val="81"/>
                <c:pt idx="79">
                  <c:v>0</c:v>
                </c:pt>
                <c:pt idx="80">
                  <c:v>20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0"/>
        </c:scaling>
        <c:delete val="0"/>
        <c:axPos val="b"/>
        <c:majorGridlines>
          <c:spPr>
            <a:ln w="6350" cap="flat">
              <a:solidFill>
                <a:srgbClr val="E5E8EC"/>
              </a:solidFill>
              <a:prstDash val="solid"/>
              <a:round/>
            </a:ln>
          </c:spPr>
        </c:majorGridlines>
        <c:title>
          <c:tx>
            <c:rich>
              <a:bodyPr/>
              <a:lstStyle/>
              <a:p>
                <a:pPr>
                  <a:defRPr sz="900" b="0" i="0" u="none" strike="noStrike">
                    <a:solidFill>
                      <a:srgbClr val="5B6675"/>
                    </a:solidFill>
                    <a:latin typeface="Arial"/>
                  </a:defRPr>
                </a:pPr>
                <a:r>
                  <a:rPr sz="900" b="0" i="0" u="none" strike="noStrike">
                    <a:solidFill>
                      <a:srgbClr val="5B6675"/>
                    </a:solidFill>
                    <a:latin typeface="Arial"/>
                  </a:rPr>
                  <a:t>Actual G3</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5B6675"/>
                </a:solidFill>
                <a:latin typeface="Arial"/>
              </a:defRPr>
            </a:pPr>
            <a:endParaRPr lang="en-US"/>
          </a:p>
        </c:txPr>
        <c:crossAx val="2094734552"/>
        <c:crosses val="autoZero"/>
        <c:auto val="1"/>
        <c:lblAlgn val="ctr"/>
        <c:noMultiLvlLbl val="1"/>
        <c:majorUnit val="5"/>
      </c:valAx>
      <c:valAx>
        <c:axId val="2094734552"/>
        <c:scaling>
          <c:orientation val="minMax"/>
          <c:max val="25"/>
          <c:min val="-5"/>
        </c:scaling>
        <c:delete val="0"/>
        <c:axPos val="l"/>
        <c:majorGridlines>
          <c:spPr>
            <a:ln w="6350" cap="flat">
              <a:solidFill>
                <a:srgbClr val="E5E8EC"/>
              </a:solidFill>
              <a:prstDash val="solid"/>
              <a:round/>
            </a:ln>
          </c:spPr>
        </c:majorGridlines>
        <c:title>
          <c:tx>
            <c:rich>
              <a:bodyPr/>
              <a:lstStyle/>
              <a:p>
                <a:pPr>
                  <a:defRPr sz="900" b="0" i="0" u="none" strike="noStrike">
                    <a:solidFill>
                      <a:srgbClr val="5B6675"/>
                    </a:solidFill>
                    <a:latin typeface="Arial"/>
                  </a:defRPr>
                </a:pPr>
                <a:r>
                  <a:rPr sz="900" b="0" i="0" u="none" strike="noStrike">
                    <a:solidFill>
                      <a:srgbClr val="5B6675"/>
                    </a:solidFill>
                    <a:latin typeface="Arial"/>
                  </a:rPr>
                  <a:t>Predicted G3</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5B6675"/>
                </a:solidFill>
                <a:latin typeface="Arial"/>
              </a:defRPr>
            </a:pPr>
            <a:endParaRPr lang="en-US"/>
          </a:p>
        </c:txPr>
        <c:crossAx val="2094734554"/>
        <c:crosses val="autoZero"/>
        <c:crossBetween val="midCat"/>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F2A37"/>
                </a:solidFill>
                <a:latin typeface="Arial"/>
              </a:defRPr>
            </a:pPr>
            <a:r>
              <a:rPr sz="1000" b="0" i="0" u="none" strike="noStrike">
                <a:solidFill>
                  <a:srgbClr val="1F2A37"/>
                </a:solidFill>
                <a:latin typeface="Arial"/>
              </a:rPr>
              <a:t>Random Forest, with G1/G2
R² = 0.811</a:t>
            </a:r>
          </a:p>
        </c:rich>
      </c:tx>
      <c:layout/>
      <c:overlay val="0"/>
    </c:title>
    <c:autoTitleDeleted val="0"/>
    <c:plotArea>
      <c:layout/>
      <c:scatterChart>
        <c:scatterStyle val="lineMarker"/>
        <c:varyColors val="0"/>
        <c:ser>
          <c:idx val="0"/>
          <c:order val="0"/>
          <c:tx>
            <c:strRef>
              <c:f>Sheet1!$B$1</c:f>
              <c:strCache>
                <c:ptCount val="1"/>
                <c:pt idx="0">
                  <c:v>Students</c:v>
                </c:pt>
              </c:strCache>
            </c:strRef>
          </c:tx>
          <c:spPr>
            <a:solidFill>
              <a:srgbClr val="4682B4"/>
            </a:solidFill>
            <a:ln>
              <a:noFill/>
            </a:ln>
            <a:effectLst/>
          </c:spPr>
          <c:marker>
            <c:symbol val="circle"/>
            <c:size val="5"/>
            <c:spPr>
              <a:solidFill>
                <a:srgbClr val="4682B4"/>
              </a:solidFill>
              <a:ln w="9525" cap="flat">
                <a:solidFill>
                  <a:srgbClr val="4682B4"/>
                </a:solidFill>
                <a:prstDash val="solid"/>
                <a:round/>
              </a:ln>
              <a:effectLst/>
            </c:spPr>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Sheet1!$B$2:$B$82</c:f>
              <c:numCache>
                <c:formatCode>General</c:formatCode>
                <c:ptCount val="81"/>
                <c:pt idx="0">
                  <c:v>8.24</c:v>
                </c:pt>
                <c:pt idx="1">
                  <c:v>11.77</c:v>
                </c:pt>
                <c:pt idx="2">
                  <c:v>6.72</c:v>
                </c:pt>
                <c:pt idx="3">
                  <c:v>9.56</c:v>
                </c:pt>
                <c:pt idx="4">
                  <c:v>8.82</c:v>
                </c:pt>
                <c:pt idx="5">
                  <c:v>12.85</c:v>
                </c:pt>
                <c:pt idx="6">
                  <c:v>18.68</c:v>
                </c:pt>
                <c:pt idx="7">
                  <c:v>6.86</c:v>
                </c:pt>
                <c:pt idx="9">
                  <c:v>13.34</c:v>
                </c:pt>
                <c:pt idx="10">
                  <c:v>15.62</c:v>
                </c:pt>
                <c:pt idx="11">
                  <c:v>6.83</c:v>
                </c:pt>
                <c:pt idx="12">
                  <c:v>13.98</c:v>
                </c:pt>
                <c:pt idx="13">
                  <c:v>11.78</c:v>
                </c:pt>
                <c:pt idx="14">
                  <c:v>14.11</c:v>
                </c:pt>
                <c:pt idx="15">
                  <c:v>8.16</c:v>
                </c:pt>
                <c:pt idx="16">
                  <c:v>1.12</c:v>
                </c:pt>
                <c:pt idx="17">
                  <c:v>10.52</c:v>
                </c:pt>
                <c:pt idx="18">
                  <c:v>15.42</c:v>
                </c:pt>
                <c:pt idx="20">
                  <c:v>14.1</c:v>
                </c:pt>
                <c:pt idx="21">
                  <c:v>15.71</c:v>
                </c:pt>
                <c:pt idx="22">
                  <c:v>15.2</c:v>
                </c:pt>
                <c:pt idx="23">
                  <c:v>6.39</c:v>
                </c:pt>
                <c:pt idx="25">
                  <c:v>18.48</c:v>
                </c:pt>
                <c:pt idx="26">
                  <c:v>10.54</c:v>
                </c:pt>
                <c:pt idx="27">
                  <c:v>9.57</c:v>
                </c:pt>
                <c:pt idx="28">
                  <c:v>18.12</c:v>
                </c:pt>
                <c:pt idx="29">
                  <c:v>10.64</c:v>
                </c:pt>
                <c:pt idx="30">
                  <c:v>8.56</c:v>
                </c:pt>
                <c:pt idx="31">
                  <c:v>8.57</c:v>
                </c:pt>
                <c:pt idx="32">
                  <c:v>15.3</c:v>
                </c:pt>
                <c:pt idx="33">
                  <c:v>13.08</c:v>
                </c:pt>
                <c:pt idx="34">
                  <c:v>1</c:v>
                </c:pt>
                <c:pt idx="35">
                  <c:v>6.5</c:v>
                </c:pt>
                <c:pt idx="37">
                  <c:v>15</c:v>
                </c:pt>
                <c:pt idx="38">
                  <c:v>11.8</c:v>
                </c:pt>
                <c:pt idx="39">
                  <c:v>7.72</c:v>
                </c:pt>
                <c:pt idx="40">
                  <c:v>6.04</c:v>
                </c:pt>
                <c:pt idx="41">
                  <c:v>10.29</c:v>
                </c:pt>
                <c:pt idx="42">
                  <c:v>14.02</c:v>
                </c:pt>
                <c:pt idx="43">
                  <c:v>8.35</c:v>
                </c:pt>
                <c:pt idx="44">
                  <c:v>14.84</c:v>
                </c:pt>
                <c:pt idx="45">
                  <c:v>6.64</c:v>
                </c:pt>
                <c:pt idx="46">
                  <c:v>11.58</c:v>
                </c:pt>
                <c:pt idx="47">
                  <c:v>14.18</c:v>
                </c:pt>
                <c:pt idx="48">
                  <c:v>12.65</c:v>
                </c:pt>
                <c:pt idx="49">
                  <c:v>15.55</c:v>
                </c:pt>
                <c:pt idx="50">
                  <c:v>13.43</c:v>
                </c:pt>
                <c:pt idx="51">
                  <c:v>15.34</c:v>
                </c:pt>
                <c:pt idx="52">
                  <c:v>10.44</c:v>
                </c:pt>
                <c:pt idx="53">
                  <c:v>8.65</c:v>
                </c:pt>
                <c:pt idx="54">
                  <c:v>5.76</c:v>
                </c:pt>
                <c:pt idx="55">
                  <c:v>13.26</c:v>
                </c:pt>
                <c:pt idx="56">
                  <c:v>10.74</c:v>
                </c:pt>
                <c:pt idx="58">
                  <c:v>15.54</c:v>
                </c:pt>
                <c:pt idx="59">
                  <c:v>15.95</c:v>
                </c:pt>
                <c:pt idx="60">
                  <c:v>13.33</c:v>
                </c:pt>
                <c:pt idx="61">
                  <c:v>8.76</c:v>
                </c:pt>
                <c:pt idx="62">
                  <c:v>8.24</c:v>
                </c:pt>
                <c:pt idx="63">
                  <c:v>6.4</c:v>
                </c:pt>
                <c:pt idx="64">
                  <c:v>7.2</c:v>
                </c:pt>
                <c:pt idx="65">
                  <c:v>17.96</c:v>
                </c:pt>
                <c:pt idx="66">
                  <c:v>9.42</c:v>
                </c:pt>
                <c:pt idx="67">
                  <c:v>9.1</c:v>
                </c:pt>
                <c:pt idx="68">
                  <c:v>9.6</c:v>
                </c:pt>
                <c:pt idx="69">
                  <c:v>15.28</c:v>
                </c:pt>
                <c:pt idx="70">
                  <c:v>8.28</c:v>
                </c:pt>
                <c:pt idx="71">
                  <c:v>9.83</c:v>
                </c:pt>
                <c:pt idx="72">
                  <c:v>13.58</c:v>
                </c:pt>
                <c:pt idx="73">
                  <c:v>18.43</c:v>
                </c:pt>
                <c:pt idx="74">
                  <c:v>10.79</c:v>
                </c:pt>
                <c:pt idx="75">
                  <c:v>5.83</c:v>
                </c:pt>
                <c:pt idx="76">
                  <c:v>8.76</c:v>
                </c:pt>
                <c:pt idx="77">
                  <c:v>14.21</c:v>
                </c:pt>
                <c:pt idx="78">
                  <c:v>5.8</c:v>
                </c:pt>
              </c:numCache>
            </c:numRef>
          </c:yVal>
          <c:smooth val="0"/>
        </c:ser>
        <c:ser>
          <c:idx val="1"/>
          <c:order val="1"/>
          <c:tx>
            <c:strRef>
              <c:f>Sheet1!$C$1</c:f>
              <c:strCache>
                <c:ptCount val="1"/>
                <c:pt idx="0">
                  <c:v>Actual G3 = 0</c:v>
                </c:pt>
              </c:strCache>
            </c:strRef>
          </c:tx>
          <c:spPr>
            <a:solidFill>
              <a:srgbClr val="DC143C"/>
            </a:solidFill>
            <a:ln>
              <a:noFill/>
            </a:ln>
            <a:effectLst/>
          </c:spPr>
          <c:marker>
            <c:symbol val="circle"/>
            <c:size val="5"/>
            <c:spPr>
              <a:solidFill>
                <a:srgbClr val="DC143C"/>
              </a:solidFill>
              <a:ln w="9525" cap="flat">
                <a:solidFill>
                  <a:srgbClr val="DC143C"/>
                </a:solidFill>
                <a:prstDash val="solid"/>
                <a:round/>
              </a:ln>
              <a:effectLst/>
            </c:spPr>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Sheet1!$C$2:$C$82</c:f>
              <c:numCache>
                <c:formatCode>General</c:formatCode>
                <c:ptCount val="81"/>
                <c:pt idx="8">
                  <c:v>7</c:v>
                </c:pt>
                <c:pt idx="19">
                  <c:v>6.45</c:v>
                </c:pt>
                <c:pt idx="24">
                  <c:v>6.27</c:v>
                </c:pt>
                <c:pt idx="36">
                  <c:v>0.1</c:v>
                </c:pt>
                <c:pt idx="57">
                  <c:v>1.29</c:v>
                </c:pt>
              </c:numCache>
            </c:numRef>
          </c:yVal>
          <c:smooth val="0"/>
        </c:ser>
        <c:ser>
          <c:idx val="2"/>
          <c:order val="2"/>
          <c:tx>
            <c:strRef>
              <c:f>Sheet1!$D$1</c:f>
              <c:strCache>
                <c:ptCount val="1"/>
                <c:pt idx="0">
                  <c:v>Perfect (y = x)</c:v>
                </c:pt>
              </c:strCache>
            </c:strRef>
          </c:tx>
          <c:spPr>
            <a:solidFill>
              <a:srgbClr val="1F2A37"/>
            </a:solidFill>
            <a:ln w="19050" cap="flat">
              <a:solidFill>
                <a:srgbClr val="1F2A37"/>
              </a:solidFill>
              <a:prstDash val="dash"/>
            </a:ln>
            <a:effectLst/>
          </c:spPr>
          <c:marker>
            <c:symbol val="none"/>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Sheet1!$D$2:$D$82</c:f>
              <c:numCache>
                <c:formatCode>General</c:formatCode>
                <c:ptCount val="81"/>
                <c:pt idx="79">
                  <c:v>0</c:v>
                </c:pt>
                <c:pt idx="80">
                  <c:v>20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0"/>
        </c:scaling>
        <c:delete val="0"/>
        <c:axPos val="b"/>
        <c:majorGridlines>
          <c:spPr>
            <a:ln w="6350" cap="flat">
              <a:solidFill>
                <a:srgbClr val="E5E8EC"/>
              </a:solidFill>
              <a:prstDash val="solid"/>
              <a:round/>
            </a:ln>
          </c:spPr>
        </c:majorGridlines>
        <c:title>
          <c:tx>
            <c:rich>
              <a:bodyPr/>
              <a:lstStyle/>
              <a:p>
                <a:pPr>
                  <a:defRPr sz="900" b="0" i="0" u="none" strike="noStrike">
                    <a:solidFill>
                      <a:srgbClr val="5B6675"/>
                    </a:solidFill>
                    <a:latin typeface="Arial"/>
                  </a:defRPr>
                </a:pPr>
                <a:r>
                  <a:rPr sz="900" b="0" i="0" u="none" strike="noStrike">
                    <a:solidFill>
                      <a:srgbClr val="5B6675"/>
                    </a:solidFill>
                    <a:latin typeface="Arial"/>
                  </a:rPr>
                  <a:t>Actual G3</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5B6675"/>
                </a:solidFill>
                <a:latin typeface="Arial"/>
              </a:defRPr>
            </a:pPr>
            <a:endParaRPr lang="en-US"/>
          </a:p>
        </c:txPr>
        <c:crossAx val="2094734552"/>
        <c:crosses val="autoZero"/>
        <c:auto val="1"/>
        <c:lblAlgn val="ctr"/>
        <c:noMultiLvlLbl val="1"/>
        <c:majorUnit val="5"/>
      </c:valAx>
      <c:valAx>
        <c:axId val="2094734552"/>
        <c:scaling>
          <c:orientation val="minMax"/>
          <c:max val="25"/>
          <c:min val="-5"/>
        </c:scaling>
        <c:delete val="0"/>
        <c:axPos val="l"/>
        <c:majorGridlines>
          <c:spPr>
            <a:ln w="6350" cap="flat">
              <a:solidFill>
                <a:srgbClr val="E5E8EC"/>
              </a:solidFill>
              <a:prstDash val="solid"/>
              <a:round/>
            </a:ln>
          </c:spPr>
        </c:majorGridlines>
        <c:title>
          <c:tx>
            <c:rich>
              <a:bodyPr/>
              <a:lstStyle/>
              <a:p>
                <a:pPr>
                  <a:defRPr sz="900" b="0" i="0" u="none" strike="noStrike">
                    <a:solidFill>
                      <a:srgbClr val="5B6675"/>
                    </a:solidFill>
                    <a:latin typeface="Arial"/>
                  </a:defRPr>
                </a:pPr>
                <a:r>
                  <a:rPr sz="900" b="0" i="0" u="none" strike="noStrike">
                    <a:solidFill>
                      <a:srgbClr val="5B6675"/>
                    </a:solidFill>
                    <a:latin typeface="Arial"/>
                  </a:rPr>
                  <a:t>Predicted G3</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5B6675"/>
                </a:solidFill>
                <a:latin typeface="Arial"/>
              </a:defRPr>
            </a:pPr>
            <a:endParaRPr lang="en-US"/>
          </a:p>
        </c:txPr>
        <c:crossAx val="2094734554"/>
        <c:crosses val="autoZero"/>
        <c:crossBetween val="midCat"/>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F2A37"/>
                </a:solidFill>
                <a:latin typeface="Arial"/>
              </a:defRPr>
            </a:pPr>
            <a:r>
              <a:rPr sz="1000" b="0" i="0" u="none" strike="noStrike">
                <a:solidFill>
                  <a:srgbClr val="1F2A37"/>
                </a:solidFill>
                <a:latin typeface="Arial"/>
              </a:rPr>
              <a:t>Linear Regression, without G1/G2
R² = 0.141</a:t>
            </a:r>
          </a:p>
        </c:rich>
      </c:tx>
      <c:layout/>
      <c:overlay val="0"/>
    </c:title>
    <c:autoTitleDeleted val="0"/>
    <c:plotArea>
      <c:layout/>
      <c:scatterChart>
        <c:scatterStyle val="lineMarker"/>
        <c:varyColors val="0"/>
        <c:ser>
          <c:idx val="0"/>
          <c:order val="0"/>
          <c:tx>
            <c:strRef>
              <c:f>Sheet1!$B$1</c:f>
              <c:strCache>
                <c:ptCount val="1"/>
                <c:pt idx="0">
                  <c:v>Students</c:v>
                </c:pt>
              </c:strCache>
            </c:strRef>
          </c:tx>
          <c:spPr>
            <a:solidFill>
              <a:srgbClr val="4682B4"/>
            </a:solidFill>
            <a:ln>
              <a:noFill/>
            </a:ln>
            <a:effectLst/>
          </c:spPr>
          <c:marker>
            <c:symbol val="circle"/>
            <c:size val="5"/>
            <c:spPr>
              <a:solidFill>
                <a:srgbClr val="4682B4"/>
              </a:solidFill>
              <a:ln w="9525" cap="flat">
                <a:solidFill>
                  <a:srgbClr val="4682B4"/>
                </a:solidFill>
                <a:prstDash val="solid"/>
                <a:round/>
              </a:ln>
              <a:effectLst/>
            </c:spPr>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Sheet1!$B$2:$B$82</c:f>
              <c:numCache>
                <c:formatCode>General</c:formatCode>
                <c:ptCount val="81"/>
                <c:pt idx="0">
                  <c:v>1.89</c:v>
                </c:pt>
                <c:pt idx="1">
                  <c:v>7.45</c:v>
                </c:pt>
                <c:pt idx="2">
                  <c:v>8.31</c:v>
                </c:pt>
                <c:pt idx="3">
                  <c:v>11.55</c:v>
                </c:pt>
                <c:pt idx="4">
                  <c:v>10.2</c:v>
                </c:pt>
                <c:pt idx="5">
                  <c:v>9.43</c:v>
                </c:pt>
                <c:pt idx="6">
                  <c:v>13.21</c:v>
                </c:pt>
                <c:pt idx="7">
                  <c:v>12.69</c:v>
                </c:pt>
                <c:pt idx="9">
                  <c:v>12.34</c:v>
                </c:pt>
                <c:pt idx="10">
                  <c:v>12.54</c:v>
                </c:pt>
                <c:pt idx="11">
                  <c:v>9.55</c:v>
                </c:pt>
                <c:pt idx="12">
                  <c:v>11.12</c:v>
                </c:pt>
                <c:pt idx="13">
                  <c:v>13.57</c:v>
                </c:pt>
                <c:pt idx="14">
                  <c:v>10.6</c:v>
                </c:pt>
                <c:pt idx="15">
                  <c:v>11.1</c:v>
                </c:pt>
                <c:pt idx="16">
                  <c:v>9.88</c:v>
                </c:pt>
                <c:pt idx="17">
                  <c:v>9.14</c:v>
                </c:pt>
                <c:pt idx="18">
                  <c:v>10.42</c:v>
                </c:pt>
                <c:pt idx="20">
                  <c:v>10.59</c:v>
                </c:pt>
                <c:pt idx="21">
                  <c:v>13.1</c:v>
                </c:pt>
                <c:pt idx="22">
                  <c:v>11.9</c:v>
                </c:pt>
                <c:pt idx="23">
                  <c:v>10.93</c:v>
                </c:pt>
                <c:pt idx="25">
                  <c:v>13.87</c:v>
                </c:pt>
                <c:pt idx="26">
                  <c:v>12.45</c:v>
                </c:pt>
                <c:pt idx="27">
                  <c:v>14.1</c:v>
                </c:pt>
                <c:pt idx="28">
                  <c:v>13.24</c:v>
                </c:pt>
                <c:pt idx="29">
                  <c:v>14.34</c:v>
                </c:pt>
                <c:pt idx="30">
                  <c:v>9.54</c:v>
                </c:pt>
                <c:pt idx="31">
                  <c:v>10.02</c:v>
                </c:pt>
                <c:pt idx="32">
                  <c:v>13.35</c:v>
                </c:pt>
                <c:pt idx="33">
                  <c:v>9.29</c:v>
                </c:pt>
                <c:pt idx="34">
                  <c:v>9.8</c:v>
                </c:pt>
                <c:pt idx="35">
                  <c:v>10.41</c:v>
                </c:pt>
                <c:pt idx="37">
                  <c:v>10.53</c:v>
                </c:pt>
                <c:pt idx="38">
                  <c:v>11.5</c:v>
                </c:pt>
                <c:pt idx="39">
                  <c:v>6.61</c:v>
                </c:pt>
                <c:pt idx="40">
                  <c:v>3.29</c:v>
                </c:pt>
                <c:pt idx="41">
                  <c:v>10.45</c:v>
                </c:pt>
                <c:pt idx="42">
                  <c:v>10.94</c:v>
                </c:pt>
                <c:pt idx="43">
                  <c:v>7.33</c:v>
                </c:pt>
                <c:pt idx="44">
                  <c:v>10.75</c:v>
                </c:pt>
                <c:pt idx="45">
                  <c:v>9.6</c:v>
                </c:pt>
                <c:pt idx="46">
                  <c:v>10.21</c:v>
                </c:pt>
                <c:pt idx="47">
                  <c:v>8.1</c:v>
                </c:pt>
                <c:pt idx="48">
                  <c:v>9.66</c:v>
                </c:pt>
                <c:pt idx="49">
                  <c:v>13.66</c:v>
                </c:pt>
                <c:pt idx="50">
                  <c:v>9.35</c:v>
                </c:pt>
                <c:pt idx="51">
                  <c:v>13.4</c:v>
                </c:pt>
                <c:pt idx="52">
                  <c:v>14.53</c:v>
                </c:pt>
                <c:pt idx="53">
                  <c:v>11.75</c:v>
                </c:pt>
                <c:pt idx="54">
                  <c:v>7.8</c:v>
                </c:pt>
                <c:pt idx="55">
                  <c:v>7.86</c:v>
                </c:pt>
                <c:pt idx="56">
                  <c:v>12.73</c:v>
                </c:pt>
                <c:pt idx="58">
                  <c:v>13.59</c:v>
                </c:pt>
                <c:pt idx="59">
                  <c:v>12.9</c:v>
                </c:pt>
                <c:pt idx="60">
                  <c:v>14.59</c:v>
                </c:pt>
                <c:pt idx="61">
                  <c:v>11.32</c:v>
                </c:pt>
                <c:pt idx="62">
                  <c:v>0.02</c:v>
                </c:pt>
                <c:pt idx="63">
                  <c:v>11.75</c:v>
                </c:pt>
                <c:pt idx="64">
                  <c:v>6.53</c:v>
                </c:pt>
                <c:pt idx="65">
                  <c:v>9.09</c:v>
                </c:pt>
                <c:pt idx="66">
                  <c:v>8.52</c:v>
                </c:pt>
                <c:pt idx="67">
                  <c:v>10.62</c:v>
                </c:pt>
                <c:pt idx="68">
                  <c:v>9.22</c:v>
                </c:pt>
                <c:pt idx="69">
                  <c:v>15.22</c:v>
                </c:pt>
                <c:pt idx="70">
                  <c:v>10.83</c:v>
                </c:pt>
                <c:pt idx="71">
                  <c:v>8.87</c:v>
                </c:pt>
                <c:pt idx="72">
                  <c:v>14.46</c:v>
                </c:pt>
                <c:pt idx="73">
                  <c:v>14.71</c:v>
                </c:pt>
                <c:pt idx="74">
                  <c:v>9.24</c:v>
                </c:pt>
                <c:pt idx="75">
                  <c:v>13.25</c:v>
                </c:pt>
                <c:pt idx="76">
                  <c:v>13.68</c:v>
                </c:pt>
                <c:pt idx="77">
                  <c:v>11.34</c:v>
                </c:pt>
                <c:pt idx="78">
                  <c:v>5.72</c:v>
                </c:pt>
              </c:numCache>
            </c:numRef>
          </c:yVal>
          <c:smooth val="0"/>
        </c:ser>
        <c:ser>
          <c:idx val="1"/>
          <c:order val="1"/>
          <c:tx>
            <c:strRef>
              <c:f>Sheet1!$C$1</c:f>
              <c:strCache>
                <c:ptCount val="1"/>
                <c:pt idx="0">
                  <c:v>Actual G3 = 0</c:v>
                </c:pt>
              </c:strCache>
            </c:strRef>
          </c:tx>
          <c:spPr>
            <a:solidFill>
              <a:srgbClr val="DC143C"/>
            </a:solidFill>
            <a:ln>
              <a:noFill/>
            </a:ln>
            <a:effectLst/>
          </c:spPr>
          <c:marker>
            <c:symbol val="circle"/>
            <c:size val="5"/>
            <c:spPr>
              <a:solidFill>
                <a:srgbClr val="DC143C"/>
              </a:solidFill>
              <a:ln w="9525" cap="flat">
                <a:solidFill>
                  <a:srgbClr val="DC143C"/>
                </a:solidFill>
                <a:prstDash val="solid"/>
                <a:round/>
              </a:ln>
              <a:effectLst/>
            </c:spPr>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Sheet1!$C$2:$C$82</c:f>
              <c:numCache>
                <c:formatCode>General</c:formatCode>
                <c:ptCount val="81"/>
                <c:pt idx="8">
                  <c:v>10.27</c:v>
                </c:pt>
                <c:pt idx="19">
                  <c:v>9.43</c:v>
                </c:pt>
                <c:pt idx="24">
                  <c:v>10.94</c:v>
                </c:pt>
                <c:pt idx="36">
                  <c:v>5.17</c:v>
                </c:pt>
                <c:pt idx="57">
                  <c:v>8.93</c:v>
                </c:pt>
              </c:numCache>
            </c:numRef>
          </c:yVal>
          <c:smooth val="0"/>
        </c:ser>
        <c:ser>
          <c:idx val="2"/>
          <c:order val="2"/>
          <c:tx>
            <c:strRef>
              <c:f>Sheet1!$D$1</c:f>
              <c:strCache>
                <c:ptCount val="1"/>
                <c:pt idx="0">
                  <c:v>Perfect (y = x)</c:v>
                </c:pt>
              </c:strCache>
            </c:strRef>
          </c:tx>
          <c:spPr>
            <a:solidFill>
              <a:srgbClr val="1F2A37"/>
            </a:solidFill>
            <a:ln w="19050" cap="flat">
              <a:solidFill>
                <a:srgbClr val="1F2A37"/>
              </a:solidFill>
              <a:prstDash val="dash"/>
            </a:ln>
            <a:effectLst/>
          </c:spPr>
          <c:marker>
            <c:symbol val="none"/>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Sheet1!$D$2:$D$82</c:f>
              <c:numCache>
                <c:formatCode>General</c:formatCode>
                <c:ptCount val="81"/>
                <c:pt idx="79">
                  <c:v>0</c:v>
                </c:pt>
                <c:pt idx="80">
                  <c:v>20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0"/>
        </c:scaling>
        <c:delete val="0"/>
        <c:axPos val="b"/>
        <c:majorGridlines>
          <c:spPr>
            <a:ln w="6350" cap="flat">
              <a:solidFill>
                <a:srgbClr val="E5E8EC"/>
              </a:solidFill>
              <a:prstDash val="solid"/>
              <a:round/>
            </a:ln>
          </c:spPr>
        </c:majorGridlines>
        <c:title>
          <c:tx>
            <c:rich>
              <a:bodyPr/>
              <a:lstStyle/>
              <a:p>
                <a:pPr>
                  <a:defRPr sz="900" b="0" i="0" u="none" strike="noStrike">
                    <a:solidFill>
                      <a:srgbClr val="5B6675"/>
                    </a:solidFill>
                    <a:latin typeface="Arial"/>
                  </a:defRPr>
                </a:pPr>
                <a:r>
                  <a:rPr sz="900" b="0" i="0" u="none" strike="noStrike">
                    <a:solidFill>
                      <a:srgbClr val="5B6675"/>
                    </a:solidFill>
                    <a:latin typeface="Arial"/>
                  </a:rPr>
                  <a:t>Actual G3</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5B6675"/>
                </a:solidFill>
                <a:latin typeface="Arial"/>
              </a:defRPr>
            </a:pPr>
            <a:endParaRPr lang="en-US"/>
          </a:p>
        </c:txPr>
        <c:crossAx val="2094734552"/>
        <c:crosses val="autoZero"/>
        <c:auto val="1"/>
        <c:lblAlgn val="ctr"/>
        <c:noMultiLvlLbl val="1"/>
        <c:majorUnit val="5"/>
      </c:valAx>
      <c:valAx>
        <c:axId val="2094734552"/>
        <c:scaling>
          <c:orientation val="minMax"/>
          <c:max val="25"/>
          <c:min val="-5"/>
        </c:scaling>
        <c:delete val="0"/>
        <c:axPos val="l"/>
        <c:majorGridlines>
          <c:spPr>
            <a:ln w="6350" cap="flat">
              <a:solidFill>
                <a:srgbClr val="E5E8EC"/>
              </a:solidFill>
              <a:prstDash val="solid"/>
              <a:round/>
            </a:ln>
          </c:spPr>
        </c:majorGridlines>
        <c:title>
          <c:tx>
            <c:rich>
              <a:bodyPr/>
              <a:lstStyle/>
              <a:p>
                <a:pPr>
                  <a:defRPr sz="900" b="0" i="0" u="none" strike="noStrike">
                    <a:solidFill>
                      <a:srgbClr val="5B6675"/>
                    </a:solidFill>
                    <a:latin typeface="Arial"/>
                  </a:defRPr>
                </a:pPr>
                <a:r>
                  <a:rPr sz="900" b="0" i="0" u="none" strike="noStrike">
                    <a:solidFill>
                      <a:srgbClr val="5B6675"/>
                    </a:solidFill>
                    <a:latin typeface="Arial"/>
                  </a:rPr>
                  <a:t>Predicted G3</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5B6675"/>
                </a:solidFill>
                <a:latin typeface="Arial"/>
              </a:defRPr>
            </a:pPr>
            <a:endParaRPr lang="en-US"/>
          </a:p>
        </c:txPr>
        <c:crossAx val="2094734554"/>
        <c:crosses val="autoZero"/>
        <c:crossBetween val="midCat"/>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F2A37"/>
                </a:solidFill>
                <a:latin typeface="Arial"/>
              </a:defRPr>
            </a:pPr>
            <a:r>
              <a:rPr sz="1000" b="0" i="0" u="none" strike="noStrike">
                <a:solidFill>
                  <a:srgbClr val="1F2A37"/>
                </a:solidFill>
                <a:latin typeface="Arial"/>
              </a:rPr>
              <a:t>Random Forest, without G1/G2
R² = 0.270</a:t>
            </a:r>
          </a:p>
        </c:rich>
      </c:tx>
      <c:layout/>
      <c:overlay val="0"/>
    </c:title>
    <c:autoTitleDeleted val="0"/>
    <c:plotArea>
      <c:layout/>
      <c:scatterChart>
        <c:scatterStyle val="lineMarker"/>
        <c:varyColors val="0"/>
        <c:ser>
          <c:idx val="0"/>
          <c:order val="0"/>
          <c:tx>
            <c:strRef>
              <c:f>Sheet1!$B$1</c:f>
              <c:strCache>
                <c:ptCount val="1"/>
                <c:pt idx="0">
                  <c:v>Students</c:v>
                </c:pt>
              </c:strCache>
            </c:strRef>
          </c:tx>
          <c:spPr>
            <a:solidFill>
              <a:srgbClr val="4682B4"/>
            </a:solidFill>
            <a:ln>
              <a:noFill/>
            </a:ln>
            <a:effectLst/>
          </c:spPr>
          <c:marker>
            <c:symbol val="circle"/>
            <c:size val="5"/>
            <c:spPr>
              <a:solidFill>
                <a:srgbClr val="4682B4"/>
              </a:solidFill>
              <a:ln w="9525" cap="flat">
                <a:solidFill>
                  <a:srgbClr val="4682B4"/>
                </a:solidFill>
                <a:prstDash val="solid"/>
                <a:round/>
              </a:ln>
              <a:effectLst/>
            </c:spPr>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Sheet1!$B$2:$B$82</c:f>
              <c:numCache>
                <c:formatCode>General</c:formatCode>
                <c:ptCount val="81"/>
                <c:pt idx="0">
                  <c:v>9.68</c:v>
                </c:pt>
                <c:pt idx="1">
                  <c:v>9.72</c:v>
                </c:pt>
                <c:pt idx="2">
                  <c:v>10.1</c:v>
                </c:pt>
                <c:pt idx="3">
                  <c:v>12.29</c:v>
                </c:pt>
                <c:pt idx="4">
                  <c:v>9.98</c:v>
                </c:pt>
                <c:pt idx="5">
                  <c:v>8.85</c:v>
                </c:pt>
                <c:pt idx="6">
                  <c:v>14.34</c:v>
                </c:pt>
                <c:pt idx="7">
                  <c:v>11.36</c:v>
                </c:pt>
                <c:pt idx="9">
                  <c:v>12.22</c:v>
                </c:pt>
                <c:pt idx="10">
                  <c:v>12.61</c:v>
                </c:pt>
                <c:pt idx="11">
                  <c:v>12.66</c:v>
                </c:pt>
                <c:pt idx="12">
                  <c:v>11.72</c:v>
                </c:pt>
                <c:pt idx="13">
                  <c:v>9.32</c:v>
                </c:pt>
                <c:pt idx="14">
                  <c:v>11.08</c:v>
                </c:pt>
                <c:pt idx="15">
                  <c:v>10.18</c:v>
                </c:pt>
                <c:pt idx="16">
                  <c:v>9.44</c:v>
                </c:pt>
                <c:pt idx="17">
                  <c:v>9.72</c:v>
                </c:pt>
                <c:pt idx="18">
                  <c:v>8.19</c:v>
                </c:pt>
                <c:pt idx="20">
                  <c:v>12.33</c:v>
                </c:pt>
                <c:pt idx="21">
                  <c:v>11.28</c:v>
                </c:pt>
                <c:pt idx="22">
                  <c:v>10.44</c:v>
                </c:pt>
                <c:pt idx="23">
                  <c:v>10.14</c:v>
                </c:pt>
                <c:pt idx="25">
                  <c:v>11.6</c:v>
                </c:pt>
                <c:pt idx="26">
                  <c:v>11.39</c:v>
                </c:pt>
                <c:pt idx="27">
                  <c:v>10.84</c:v>
                </c:pt>
                <c:pt idx="28">
                  <c:v>9.6</c:v>
                </c:pt>
                <c:pt idx="29">
                  <c:v>13.02</c:v>
                </c:pt>
                <c:pt idx="30">
                  <c:v>10.22</c:v>
                </c:pt>
                <c:pt idx="31">
                  <c:v>10.62</c:v>
                </c:pt>
                <c:pt idx="32">
                  <c:v>13.21</c:v>
                </c:pt>
                <c:pt idx="33">
                  <c:v>11.5</c:v>
                </c:pt>
                <c:pt idx="34">
                  <c:v>8.99</c:v>
                </c:pt>
                <c:pt idx="35">
                  <c:v>9.7</c:v>
                </c:pt>
                <c:pt idx="37">
                  <c:v>12.38</c:v>
                </c:pt>
                <c:pt idx="38">
                  <c:v>12.13</c:v>
                </c:pt>
                <c:pt idx="39">
                  <c:v>10.16</c:v>
                </c:pt>
                <c:pt idx="40">
                  <c:v>8.14</c:v>
                </c:pt>
                <c:pt idx="41">
                  <c:v>11.18</c:v>
                </c:pt>
                <c:pt idx="42">
                  <c:v>11.78</c:v>
                </c:pt>
                <c:pt idx="43">
                  <c:v>9.52</c:v>
                </c:pt>
                <c:pt idx="44">
                  <c:v>11.23</c:v>
                </c:pt>
                <c:pt idx="45">
                  <c:v>11.94</c:v>
                </c:pt>
                <c:pt idx="46">
                  <c:v>9.16</c:v>
                </c:pt>
                <c:pt idx="47">
                  <c:v>9.51</c:v>
                </c:pt>
                <c:pt idx="48">
                  <c:v>12.56</c:v>
                </c:pt>
                <c:pt idx="49">
                  <c:v>13.22</c:v>
                </c:pt>
                <c:pt idx="50">
                  <c:v>10.01</c:v>
                </c:pt>
                <c:pt idx="51">
                  <c:v>13.35</c:v>
                </c:pt>
                <c:pt idx="52">
                  <c:v>11.72</c:v>
                </c:pt>
                <c:pt idx="53">
                  <c:v>11.92</c:v>
                </c:pt>
                <c:pt idx="54">
                  <c:v>11.14</c:v>
                </c:pt>
                <c:pt idx="55">
                  <c:v>10.96</c:v>
                </c:pt>
                <c:pt idx="56">
                  <c:v>11.43</c:v>
                </c:pt>
                <c:pt idx="58">
                  <c:v>12.41</c:v>
                </c:pt>
                <c:pt idx="59">
                  <c:v>11.82</c:v>
                </c:pt>
                <c:pt idx="60">
                  <c:v>13.02</c:v>
                </c:pt>
                <c:pt idx="61">
                  <c:v>11.64</c:v>
                </c:pt>
                <c:pt idx="62">
                  <c:v>9.04</c:v>
                </c:pt>
                <c:pt idx="63">
                  <c:v>11.97</c:v>
                </c:pt>
                <c:pt idx="64">
                  <c:v>10.54</c:v>
                </c:pt>
                <c:pt idx="65">
                  <c:v>10.4</c:v>
                </c:pt>
                <c:pt idx="66">
                  <c:v>10.3</c:v>
                </c:pt>
                <c:pt idx="67">
                  <c:v>10.12</c:v>
                </c:pt>
                <c:pt idx="68">
                  <c:v>11.14</c:v>
                </c:pt>
                <c:pt idx="69">
                  <c:v>12.28</c:v>
                </c:pt>
                <c:pt idx="70">
                  <c:v>10.76</c:v>
                </c:pt>
                <c:pt idx="71">
                  <c:v>10.54</c:v>
                </c:pt>
                <c:pt idx="72">
                  <c:v>12.48</c:v>
                </c:pt>
                <c:pt idx="73">
                  <c:v>14.6</c:v>
                </c:pt>
                <c:pt idx="74">
                  <c:v>9.64</c:v>
                </c:pt>
                <c:pt idx="75">
                  <c:v>11.66</c:v>
                </c:pt>
                <c:pt idx="76">
                  <c:v>12.88</c:v>
                </c:pt>
                <c:pt idx="77">
                  <c:v>12.64</c:v>
                </c:pt>
                <c:pt idx="78">
                  <c:v>8.74</c:v>
                </c:pt>
              </c:numCache>
            </c:numRef>
          </c:yVal>
          <c:smooth val="0"/>
        </c:ser>
        <c:ser>
          <c:idx val="1"/>
          <c:order val="1"/>
          <c:tx>
            <c:strRef>
              <c:f>Sheet1!$C$1</c:f>
              <c:strCache>
                <c:ptCount val="1"/>
                <c:pt idx="0">
                  <c:v>Actual G3 = 0</c:v>
                </c:pt>
              </c:strCache>
            </c:strRef>
          </c:tx>
          <c:spPr>
            <a:solidFill>
              <a:srgbClr val="DC143C"/>
            </a:solidFill>
            <a:ln>
              <a:noFill/>
            </a:ln>
            <a:effectLst/>
          </c:spPr>
          <c:marker>
            <c:symbol val="circle"/>
            <c:size val="5"/>
            <c:spPr>
              <a:solidFill>
                <a:srgbClr val="DC143C"/>
              </a:solidFill>
              <a:ln w="9525" cap="flat">
                <a:solidFill>
                  <a:srgbClr val="DC143C"/>
                </a:solidFill>
                <a:prstDash val="solid"/>
                <a:round/>
              </a:ln>
              <a:effectLst/>
            </c:spPr>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Sheet1!$C$2:$C$82</c:f>
              <c:numCache>
                <c:formatCode>General</c:formatCode>
                <c:ptCount val="81"/>
                <c:pt idx="8">
                  <c:v>10.71</c:v>
                </c:pt>
                <c:pt idx="19">
                  <c:v>8.16</c:v>
                </c:pt>
                <c:pt idx="24">
                  <c:v>10.83</c:v>
                </c:pt>
                <c:pt idx="36">
                  <c:v>1.56</c:v>
                </c:pt>
                <c:pt idx="57">
                  <c:v>7.96</c:v>
                </c:pt>
              </c:numCache>
            </c:numRef>
          </c:yVal>
          <c:smooth val="0"/>
        </c:ser>
        <c:ser>
          <c:idx val="2"/>
          <c:order val="2"/>
          <c:tx>
            <c:strRef>
              <c:f>Sheet1!$D$1</c:f>
              <c:strCache>
                <c:ptCount val="1"/>
                <c:pt idx="0">
                  <c:v>Perfect (y = x)</c:v>
                </c:pt>
              </c:strCache>
            </c:strRef>
          </c:tx>
          <c:spPr>
            <a:solidFill>
              <a:srgbClr val="1F2A37"/>
            </a:solidFill>
            <a:ln w="19050" cap="flat">
              <a:solidFill>
                <a:srgbClr val="1F2A37"/>
              </a:solidFill>
              <a:prstDash val="dash"/>
            </a:ln>
            <a:effectLst/>
          </c:spPr>
          <c:marker>
            <c:symbol val="none"/>
          </c:marker>
          <c:xVal>
            <c:numRef>
              <c:f>Sheet1!$A$2:$A$82</c:f>
              <c:numCache>
                <c:formatCode>General</c:formatCode>
                <c:ptCount val="81"/>
                <c:pt idx="0">
                  <c:v>10</c:v>
                </c:pt>
                <c:pt idx="1">
                  <c:v>12</c:v>
                </c:pt>
                <c:pt idx="2">
                  <c:v>5</c:v>
                </c:pt>
                <c:pt idx="3">
                  <c:v>10</c:v>
                </c:pt>
                <c:pt idx="4">
                  <c:v>9</c:v>
                </c:pt>
                <c:pt idx="5">
                  <c:v>13</c:v>
                </c:pt>
                <c:pt idx="6">
                  <c:v>18</c:v>
                </c:pt>
                <c:pt idx="7">
                  <c:v>6</c:v>
                </c:pt>
                <c:pt idx="8">
                  <c:v>0</c:v>
                </c:pt>
                <c:pt idx="9">
                  <c:v>14</c:v>
                </c:pt>
                <c:pt idx="10">
                  <c:v>15</c:v>
                </c:pt>
                <c:pt idx="11">
                  <c:v>7</c:v>
                </c:pt>
                <c:pt idx="12">
                  <c:v>15</c:v>
                </c:pt>
                <c:pt idx="13">
                  <c:v>10</c:v>
                </c:pt>
                <c:pt idx="14">
                  <c:v>14</c:v>
                </c:pt>
                <c:pt idx="15">
                  <c:v>8</c:v>
                </c:pt>
                <c:pt idx="16">
                  <c:v>8</c:v>
                </c:pt>
                <c:pt idx="17">
                  <c:v>11</c:v>
                </c:pt>
                <c:pt idx="18">
                  <c:v>15</c:v>
                </c:pt>
                <c:pt idx="19">
                  <c:v>0</c:v>
                </c:pt>
                <c:pt idx="20">
                  <c:v>14</c:v>
                </c:pt>
                <c:pt idx="21">
                  <c:v>16</c:v>
                </c:pt>
                <c:pt idx="22">
                  <c:v>16</c:v>
                </c:pt>
                <c:pt idx="23">
                  <c:v>6</c:v>
                </c:pt>
                <c:pt idx="24">
                  <c:v>0</c:v>
                </c:pt>
                <c:pt idx="25">
                  <c:v>19</c:v>
                </c:pt>
                <c:pt idx="26">
                  <c:v>11</c:v>
                </c:pt>
                <c:pt idx="27">
                  <c:v>12</c:v>
                </c:pt>
                <c:pt idx="28">
                  <c:v>17</c:v>
                </c:pt>
                <c:pt idx="29">
                  <c:v>10</c:v>
                </c:pt>
                <c:pt idx="30">
                  <c:v>8</c:v>
                </c:pt>
                <c:pt idx="31">
                  <c:v>10</c:v>
                </c:pt>
                <c:pt idx="32">
                  <c:v>15</c:v>
                </c:pt>
                <c:pt idx="33">
                  <c:v>13</c:v>
                </c:pt>
                <c:pt idx="34">
                  <c:v>8</c:v>
                </c:pt>
                <c:pt idx="35">
                  <c:v>5</c:v>
                </c:pt>
                <c:pt idx="36">
                  <c:v>0</c:v>
                </c:pt>
                <c:pt idx="37">
                  <c:v>15</c:v>
                </c:pt>
                <c:pt idx="38">
                  <c:v>14</c:v>
                </c:pt>
                <c:pt idx="39">
                  <c:v>8</c:v>
                </c:pt>
                <c:pt idx="40">
                  <c:v>5</c:v>
                </c:pt>
                <c:pt idx="41">
                  <c:v>11</c:v>
                </c:pt>
                <c:pt idx="42">
                  <c:v>14</c:v>
                </c:pt>
                <c:pt idx="43">
                  <c:v>9</c:v>
                </c:pt>
                <c:pt idx="44">
                  <c:v>15</c:v>
                </c:pt>
                <c:pt idx="45">
                  <c:v>10</c:v>
                </c:pt>
                <c:pt idx="46">
                  <c:v>11</c:v>
                </c:pt>
                <c:pt idx="47">
                  <c:v>13</c:v>
                </c:pt>
                <c:pt idx="48">
                  <c:v>13</c:v>
                </c:pt>
                <c:pt idx="49">
                  <c:v>16</c:v>
                </c:pt>
                <c:pt idx="50">
                  <c:v>13</c:v>
                </c:pt>
                <c:pt idx="51">
                  <c:v>15</c:v>
                </c:pt>
                <c:pt idx="52">
                  <c:v>12</c:v>
                </c:pt>
                <c:pt idx="53">
                  <c:v>10</c:v>
                </c:pt>
                <c:pt idx="54">
                  <c:v>6</c:v>
                </c:pt>
                <c:pt idx="55">
                  <c:v>12</c:v>
                </c:pt>
                <c:pt idx="56">
                  <c:v>11</c:v>
                </c:pt>
                <c:pt idx="57">
                  <c:v>0</c:v>
                </c:pt>
                <c:pt idx="58">
                  <c:v>16</c:v>
                </c:pt>
                <c:pt idx="59">
                  <c:v>17</c:v>
                </c:pt>
                <c:pt idx="60">
                  <c:v>14</c:v>
                </c:pt>
                <c:pt idx="61">
                  <c:v>10</c:v>
                </c:pt>
                <c:pt idx="62">
                  <c:v>10</c:v>
                </c:pt>
                <c:pt idx="63">
                  <c:v>6</c:v>
                </c:pt>
                <c:pt idx="64">
                  <c:v>9</c:v>
                </c:pt>
                <c:pt idx="65">
                  <c:v>17</c:v>
                </c:pt>
                <c:pt idx="66">
                  <c:v>8</c:v>
                </c:pt>
                <c:pt idx="67">
                  <c:v>10</c:v>
                </c:pt>
                <c:pt idx="68">
                  <c:v>9</c:v>
                </c:pt>
                <c:pt idx="69">
                  <c:v>15</c:v>
                </c:pt>
                <c:pt idx="70">
                  <c:v>6</c:v>
                </c:pt>
                <c:pt idx="71">
                  <c:v>10</c:v>
                </c:pt>
                <c:pt idx="72">
                  <c:v>15</c:v>
                </c:pt>
                <c:pt idx="73">
                  <c:v>19</c:v>
                </c:pt>
                <c:pt idx="74">
                  <c:v>12</c:v>
                </c:pt>
                <c:pt idx="75">
                  <c:v>6</c:v>
                </c:pt>
                <c:pt idx="76">
                  <c:v>9</c:v>
                </c:pt>
                <c:pt idx="77">
                  <c:v>15</c:v>
                </c:pt>
                <c:pt idx="78">
                  <c:v>5</c:v>
                </c:pt>
                <c:pt idx="79">
                  <c:v>0</c:v>
                </c:pt>
                <c:pt idx="80">
                  <c:v>20</c:v>
                </c:pt>
              </c:numCache>
            </c:numRef>
          </c:xVal>
          <c:yVal>
            <c:numRef>
              <c:f>Sheet1!$D$2:$D$82</c:f>
              <c:numCache>
                <c:formatCode>General</c:formatCode>
                <c:ptCount val="81"/>
                <c:pt idx="79">
                  <c:v>0</c:v>
                </c:pt>
                <c:pt idx="80">
                  <c:v>20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0"/>
        </c:scaling>
        <c:delete val="0"/>
        <c:axPos val="b"/>
        <c:majorGridlines>
          <c:spPr>
            <a:ln w="6350" cap="flat">
              <a:solidFill>
                <a:srgbClr val="E5E8EC"/>
              </a:solidFill>
              <a:prstDash val="solid"/>
              <a:round/>
            </a:ln>
          </c:spPr>
        </c:majorGridlines>
        <c:title>
          <c:tx>
            <c:rich>
              <a:bodyPr/>
              <a:lstStyle/>
              <a:p>
                <a:pPr>
                  <a:defRPr sz="900" b="0" i="0" u="none" strike="noStrike">
                    <a:solidFill>
                      <a:srgbClr val="5B6675"/>
                    </a:solidFill>
                    <a:latin typeface="Arial"/>
                  </a:defRPr>
                </a:pPr>
                <a:r>
                  <a:rPr sz="900" b="0" i="0" u="none" strike="noStrike">
                    <a:solidFill>
                      <a:srgbClr val="5B6675"/>
                    </a:solidFill>
                    <a:latin typeface="Arial"/>
                  </a:rPr>
                  <a:t>Actual G3</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5B6675"/>
                </a:solidFill>
                <a:latin typeface="Arial"/>
              </a:defRPr>
            </a:pPr>
            <a:endParaRPr lang="en-US"/>
          </a:p>
        </c:txPr>
        <c:crossAx val="2094734552"/>
        <c:crosses val="autoZero"/>
        <c:auto val="1"/>
        <c:lblAlgn val="ctr"/>
        <c:noMultiLvlLbl val="1"/>
        <c:majorUnit val="5"/>
      </c:valAx>
      <c:valAx>
        <c:axId val="2094734552"/>
        <c:scaling>
          <c:orientation val="minMax"/>
          <c:max val="25"/>
          <c:min val="-5"/>
        </c:scaling>
        <c:delete val="0"/>
        <c:axPos val="l"/>
        <c:majorGridlines>
          <c:spPr>
            <a:ln w="6350" cap="flat">
              <a:solidFill>
                <a:srgbClr val="E5E8EC"/>
              </a:solidFill>
              <a:prstDash val="solid"/>
              <a:round/>
            </a:ln>
          </c:spPr>
        </c:majorGridlines>
        <c:title>
          <c:tx>
            <c:rich>
              <a:bodyPr/>
              <a:lstStyle/>
              <a:p>
                <a:pPr>
                  <a:defRPr sz="900" b="0" i="0" u="none" strike="noStrike">
                    <a:solidFill>
                      <a:srgbClr val="5B6675"/>
                    </a:solidFill>
                    <a:latin typeface="Arial"/>
                  </a:defRPr>
                </a:pPr>
                <a:r>
                  <a:rPr sz="900" b="0" i="0" u="none" strike="noStrike">
                    <a:solidFill>
                      <a:srgbClr val="5B6675"/>
                    </a:solidFill>
                    <a:latin typeface="Arial"/>
                  </a:rPr>
                  <a:t>Predicted G3</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5B6675"/>
                </a:solidFill>
                <a:latin typeface="Arial"/>
              </a:defRPr>
            </a:pPr>
            <a:endParaRPr lang="en-US"/>
          </a:p>
        </c:txPr>
        <c:crossAx val="2094734554"/>
        <c:crosses val="autoZero"/>
        <c:crossBetween val="midCat"/>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37"/>
                </a:solidFill>
                <a:latin typeface="Arial"/>
              </a:defRPr>
            </a:pPr>
            <a:r>
              <a:rPr sz="1200" b="0" i="0" u="none" strike="noStrike">
                <a:solidFill>
                  <a:srgbClr val="1F2A37"/>
                </a:solidFill>
                <a:latin typeface="Arial"/>
              </a:rPr>
              <a:t>Top 10 Features (With G1/G2)</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4682B4"/>
            </a:solidFill>
            <a:effectLst/>
          </c:spPr>
          <c:invertIfNegative val="0"/>
          <c:dLbls>
            <c:numFmt formatCode="0.00" sourceLinked="0"/>
            <c:txPr>
              <a:bodyPr/>
              <a:lstStyle/>
              <a:p>
                <a:pPr>
                  <a:defRPr b="0" i="0" strike="noStrike" sz="900" u="none">
                    <a:solidFill>
                      <a:srgbClr val="5B6675"/>
                    </a:solidFill>
                    <a:latin typeface="Arial"/>
                  </a:defRPr>
                </a:pPr>
              </a:p>
            </c:txPr>
            <c:showLegendKey val="0"/>
            <c:showVal val="1"/>
            <c:showCatName val="0"/>
            <c:showSerName val="0"/>
            <c:showPercent val="0"/>
            <c:showBubbleSize val="0"/>
            <c:showLeaderLines val="0"/>
          </c:dLbls>
          <c:cat>
            <c:multiLvlStrRef>
              <c:f>Sheet1!$A$2:$A$11</c:f>
              <c:multiLvlStrCache>
                <c:ptCount val="10"/>
                <c:lvl>
                  <c:pt idx="0">
                    <c:v>G2</c:v>
                  </c:pt>
                  <c:pt idx="1">
                    <c:v>absences</c:v>
                  </c:pt>
                  <c:pt idx="2">
                    <c:v>reason_home</c:v>
                  </c:pt>
                  <c:pt idx="3">
                    <c:v>age</c:v>
                  </c:pt>
                  <c:pt idx="4">
                    <c:v>G1</c:v>
                  </c:pt>
                  <c:pt idx="5">
                    <c:v>famrel</c:v>
                  </c:pt>
                  <c:pt idx="6">
                    <c:v>health</c:v>
                  </c:pt>
                  <c:pt idx="7">
                    <c:v>goout</c:v>
                  </c:pt>
                  <c:pt idx="8">
                    <c:v>schoolsup_yes</c:v>
                  </c:pt>
                  <c:pt idx="9">
                    <c:v>romantic_yes</c:v>
                  </c:pt>
                </c:lvl>
              </c:multiLvlStrCache>
            </c:multiLvlStrRef>
          </c:cat>
          <c:val>
            <c:numRef>
              <c:f>Sheet1!$B$2:$B$11</c:f>
              <c:numCache>
                <c:formatCode>General</c:formatCode>
                <c:ptCount val="10"/>
                <c:pt idx="0">
                  <c:v>0.788</c:v>
                </c:pt>
                <c:pt idx="1">
                  <c:v>0.1142</c:v>
                </c:pt>
                <c:pt idx="2">
                  <c:v>0.0198</c:v>
                </c:pt>
                <c:pt idx="3">
                  <c:v>0.0096</c:v>
                </c:pt>
                <c:pt idx="4">
                  <c:v>0.0059</c:v>
                </c:pt>
                <c:pt idx="5">
                  <c:v>0.005</c:v>
                </c:pt>
                <c:pt idx="6">
                  <c:v>0.0044</c:v>
                </c:pt>
                <c:pt idx="7">
                  <c:v>0.0043</c:v>
                </c:pt>
                <c:pt idx="8">
                  <c:v>0.0043</c:v>
                </c:pt>
                <c:pt idx="9">
                  <c:v>0.004</c:v>
                </c:pt>
              </c:numCache>
            </c:numRef>
          </c:val>
        </c:ser>
        <c:dLbls>
          <c:numFmt formatCode="0.00" sourceLinked="0"/>
          <c:txPr>
            <a:bodyPr/>
            <a:lstStyle/>
            <a:p>
              <a:pPr>
                <a:defRPr b="0" i="0" strike="noStrike" sz="900" u="none">
                  <a:solidFill>
                    <a:srgbClr val="5B6675"/>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A37"/>
                </a:solidFill>
                <a:latin typeface="Arial"/>
              </a:defRPr>
            </a:pPr>
            <a:endParaRPr lang="en-US"/>
          </a:p>
        </c:txPr>
        <c:crossAx val="2094734552"/>
        <c:crosses val="autoZero"/>
        <c:auto val="1"/>
        <c:lblAlgn val="ctr"/>
        <c:noMultiLvlLbl val="1"/>
      </c:catAx>
      <c:valAx>
        <c:axId val="2094734552"/>
        <c:scaling>
          <c:orientation val="minMax"/>
          <c:max val="0.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675"/>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37"/>
                </a:solidFill>
                <a:latin typeface="Arial"/>
              </a:defRPr>
            </a:pPr>
            <a:r>
              <a:rPr sz="1200" b="0" i="0" u="none" strike="noStrike">
                <a:solidFill>
                  <a:srgbClr val="1F2A37"/>
                </a:solidFill>
                <a:latin typeface="Arial"/>
              </a:rPr>
              <a:t>Top 10 Features (Without G1/G2)</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4682B4"/>
            </a:solidFill>
            <a:effectLst/>
          </c:spPr>
          <c:invertIfNegative val="0"/>
          <c:dLbls>
            <c:numFmt formatCode="0.00" sourceLinked="0"/>
            <c:txPr>
              <a:bodyPr/>
              <a:lstStyle/>
              <a:p>
                <a:pPr>
                  <a:defRPr b="0" i="0" strike="noStrike" sz="900" u="none">
                    <a:solidFill>
                      <a:srgbClr val="5B6675"/>
                    </a:solidFill>
                    <a:latin typeface="Arial"/>
                  </a:defRPr>
                </a:pPr>
              </a:p>
            </c:txPr>
            <c:showLegendKey val="0"/>
            <c:showVal val="1"/>
            <c:showCatName val="0"/>
            <c:showSerName val="0"/>
            <c:showPercent val="0"/>
            <c:showBubbleSize val="0"/>
            <c:showLeaderLines val="0"/>
          </c:dLbls>
          <c:cat>
            <c:multiLvlStrRef>
              <c:f>Sheet1!$A$2:$A$11</c:f>
              <c:multiLvlStrCache>
                <c:ptCount val="10"/>
                <c:lvl>
                  <c:pt idx="0">
                    <c:v>absences</c:v>
                  </c:pt>
                  <c:pt idx="1">
                    <c:v>failures</c:v>
                  </c:pt>
                  <c:pt idx="2">
                    <c:v>health</c:v>
                  </c:pt>
                  <c:pt idx="3">
                    <c:v>goout</c:v>
                  </c:pt>
                  <c:pt idx="4">
                    <c:v>age</c:v>
                  </c:pt>
                  <c:pt idx="5">
                    <c:v>studytime</c:v>
                  </c:pt>
                  <c:pt idx="6">
                    <c:v>freetime</c:v>
                  </c:pt>
                  <c:pt idx="7">
                    <c:v>traveltime</c:v>
                  </c:pt>
                  <c:pt idx="8">
                    <c:v>Walc</c:v>
                  </c:pt>
                  <c:pt idx="9">
                    <c:v>famrel</c:v>
                  </c:pt>
                </c:lvl>
              </c:multiLvlStrCache>
            </c:multiLvlStrRef>
          </c:cat>
          <c:val>
            <c:numRef>
              <c:f>Sheet1!$B$2:$B$11</c:f>
              <c:numCache>
                <c:formatCode>General</c:formatCode>
                <c:ptCount val="10"/>
                <c:pt idx="0">
                  <c:v>0.1904</c:v>
                </c:pt>
                <c:pt idx="1">
                  <c:v>0.1452</c:v>
                </c:pt>
                <c:pt idx="2">
                  <c:v>0.0522</c:v>
                </c:pt>
                <c:pt idx="3">
                  <c:v>0.0517</c:v>
                </c:pt>
                <c:pt idx="4">
                  <c:v>0.0414</c:v>
                </c:pt>
                <c:pt idx="5">
                  <c:v>0.033</c:v>
                </c:pt>
                <c:pt idx="6">
                  <c:v>0.0327</c:v>
                </c:pt>
                <c:pt idx="7">
                  <c:v>0.032</c:v>
                </c:pt>
                <c:pt idx="8">
                  <c:v>0.0277</c:v>
                </c:pt>
                <c:pt idx="9">
                  <c:v>0.0272</c:v>
                </c:pt>
              </c:numCache>
            </c:numRef>
          </c:val>
        </c:ser>
        <c:dLbls>
          <c:numFmt formatCode="0.00" sourceLinked="0"/>
          <c:txPr>
            <a:bodyPr/>
            <a:lstStyle/>
            <a:p>
              <a:pPr>
                <a:defRPr b="0" i="0" strike="noStrike" sz="900" u="none">
                  <a:solidFill>
                    <a:srgbClr val="5B6675"/>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2A37"/>
                </a:solidFill>
                <a:latin typeface="Arial"/>
              </a:defRPr>
            </a:pPr>
            <a:endParaRPr lang="en-US"/>
          </a:p>
        </c:txPr>
        <c:crossAx val="2094734552"/>
        <c:crosses val="autoZero"/>
        <c:auto val="1"/>
        <c:lblAlgn val="ctr"/>
        <c:noMultiLvlLbl val="1"/>
      </c:catAx>
      <c:valAx>
        <c:axId val="2094734552"/>
        <c:scaling>
          <c:orientation val="minMax"/>
          <c:max val="0.2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675"/>
                </a:solidFill>
                <a:latin typeface="Arial"/>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ABOUT
We are solving a regression problem: predicting a number (the final grade G3, from 0 to 20), not a category. We tried two different models and compared them.
LINEAR REGRESSION, IN PLAIN WORDS
Imagine giving every feature a weight (a number saying how much it pushes the grade up or down). The prediction is just: start from a base value, then add weight x feature for every feature. For example, the weight for G2 is large and positive (higher G2, higher G3), while the weight for failures is negative.
The model picks the weights that make its predictions as close as possible to the real grades on the training data. It is simple and easy to explain, but it can only draw “straight-line” relationships, and nothing stops it from predicting a grade like -2.5 or 21.
DECISION TREE AND RANDOM FOREST
A decision tree is like a flowchart of yes/no questions: “Is G2 above 10? If yes, is absences above 5?...” and at the end of each path there is a predicted grade. One tree alone tends to memorize the training data (overfitting).
A Random Forest builds 200 trees, each trained on a random sample of the students (drawn with replacement), then averages their answers. Like asking 200 people and taking the average guess: individual mistakes cancel out. Because it averages real grades from training, its predictions always stay between 0 and 20.
WHY DOES SCALING MATTER ONLY FOR LINEAR REGRESSION?
Features have very different ranges: absences goes 0 to 75, while most other features are 0/1 or 1 to 5. Standardizing (StandardScaler) rescales each feature to mean 0 and standard deviation 1 so they are comparable for Linear Regression. Trees only ask “is this value above a threshold?”, so the scale does not change the answer.
WHAT TO SAY
“We used two models. Linear Regression is our simple baseline: it gives each feature a weight and adds them up. Random Forest combines 200 decision trees and averages their predictions, which lets it capture non-linear patterns. We wanted to see whether the more complex model is worth it.”
POSSIBLE QUESTIONS
Q: Why not use a single decision tree?
A: A single tree easily overfits; averaging many trees gives more stable, accurate predictions.
Q: What does non-linear mean here?
A: The effect of a feature is not a straight line. For example, most students with a normal G2 get a similar G3, but a few suddenly get 0. A tree can create a special branch for that; a straight line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ABOUT
How we trained and tested the models so the results are fair and reproducible.
WHY SPLIT INTO TRAINING AND TEST SETS?
If you study with the exact exam questions, a perfect score says nothing about what you learned. Same with models: we train on 80% of students (316) and grade the model on the other 20% (79) it has never seen. The test score shows how well it would work on new students.
random_state = 42 is just a fixed seed for the random shuffle. Using the same number means anyone who reruns the notebook gets exactly the same split and the same results. The number 42 itself has no special meaning.
WHY TWO FEATURE SETS?
G1 and G2 are the grades from the 1st and 2nd periods of the same school year. They are extremely similar to the final grade G3, so including them makes prediction easy. But in real life, if a school wants to find at-risk students before the year starts, those grades do not exist yet. So we trained every model twice: with G1/G2 (mid-year prediction) and without them (early warning). Both versions used exactly the same students in train and test, so the comparison is fair.
WHAT IS 5-FOLD CROSS-VALIDATION?
With only 79 test students, the score depends a lot on which students happened to land in the test set (luck). Cross-validation fixes this: split the data into 5 equal parts. Train on 4 parts, test on the 5th. Repeat 5 times so every part is the test set once (the red boxes in the diagram). Average the 5 scores. This is a more reliable estimate.
DATA LEAKAGE (GOOD TO KNOW)
Leakage is when information from the test set sneaks into training. That makes the results look better than they really are. We avoided it by fitting the scaler on the training data only.
WHAT TO SAY
“We split the data 80/20, so 316 students for training and 79 for testing, with a fixed random seed so the results are reproducible. We trained each model twice, with and without the period grades G1 and G2, to simulate predicting mid-year versus before the year starts. Because the dataset is small, we also used 5-fold cross-validation for a more stable estimate.”
POSSIBLE QUESTIONS
Q: Why 80/20?
A: It is a common choice: enough data to train on, while keeping a reasonable number of students for testing.
Q: Why does 41 become 39 features?
A: Removing G1 and G2 removes exactly 2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ABOUT
The numbers that tell us how good each model is. This is the core result of the project.
MSE EXPLAINED WITH AN EXAMPLE
For each test student, take the error (actual - predicted), square it, then average over all students. Example: actual 10, predicted 12, so the error is 2 and the squared error is 4. Squaring makes all errors positive and punishes big mistakes much more than small ones (an error of 10 counts as 100).
MSE is in “squared grade points”, which is hard to picture. Taking the square root gives RMSE: our best model has MSE 3.87, so RMSE is about 1.97, meaning its predictions are typically about 2 grade points off on a 0 to 20 scale.
R² EXPLAINED
R² compares the model to the laziest possible strategy: always guessing the average grade.
- R² = 1: perfect predictions.
- R² = 0: no better than always guessing the average.
- R² below 0: worse than guessing the average.
R² = 0.811 means the model explains about 81% of the differences between students' final grades.
HOW TO READ THE TABLE
- Row 3 (green), Random Forest with G1/G2: best on every metric. Lowest MSE (3.87), highest R² (0.811 test, 0.872 CV).
- Row 1, Linear Regression with G1/G2: also good (0.724), but worse than Random Forest.
- Rows 2 and 4, without G1/G2: R² drops to 0.14 and 0.27. Background factors alone explain very little.
- Linear Regression without G1/G2 has CV R² of only 0.026: almost no better than guessing the average.
WHY ARE THE TEST AND CV NUMBERS DIFFERENT?
The test column comes from one particular set of 79 students. The CV column averages 5 different test sets, so it is more trustworthy. Both tell the same story: same ranking of models.
WHAT TO SAY
“We measured performance with MSE, the average squared error, where lower is better, and R squared, the share of grade variation explained. Random Forest with G1 and G2 performed best, with an R squared of 0.81 on the test set and 0.87 with cross-validation, so its predictions are about 2 grade points off on average. Without G1 and G2, performance drops sharply.”
POSSIBLE QUESTIONS
Q: Is 0.81 good?
A: Yes. The project suggests 0.6 to 0.85 as reasonable, and we are within that range.
Q: Why is MSE so much higher without G1/G2?
A: Predictions are far from the truth for many students (errors of 4+ points), and squaring amplifies large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ABOUT
The required Actual vs. Predicted plot. It shows visually what the numbers on the previous slide mean.
HOW TO READ ONE PANEL
- X-axis: the student's real final grade.
- Y-axis: what the model predicted.
- Dashed line (y = x): where predicted = actual. A dot on the line is a perfect prediction.
- A dot above the line: the model predicted too high. Below: too low.
- The four panels = 2 models x 2 feature sets. The R² of each is written in its title.
WHAT THE PANELS SHOW
Top row (with G1/G2): dots follow the diagonal line closely, so predictions are accurate. The Random Forest panel (top right) is tighter, matching its higher R².
Bottom row (without G1/G2): the dots form a flat, horizontal cloud around 10 to 12. Whether a student actually got 5 or 18, the model predicts roughly the same. This is what a low R² looks like: the model cannot tell students apart, so it guesses near the average.
Red dots (actual G3 = 0): there are 5 such students in the test set. Most sit far from the line because their earlier grades looked normal (7 to 10), then their final grade suddenly became 0. No model can foresee that from this data.
Impossible predictions: Linear Regression predicted about -2.5 for one student and slightly above 20 for another. It has no built-in limit. Random Forest averages real grades, so it always stays within 0 to 20.
WHAT TO SAY
“Each dot is a test student: real grade on the x-axis, predicted grade on the y-axis. Dots on the dashed line are perfect predictions. With G1 and G2, the dots follow the line closely, especially for Random Forest. Without them, predictions bunch around 10 to 12, so the model basically guesses an average student. The red dots are students who got a final grade of 0; they are our biggest errors.”
POSSIBLE QUESTIONS
Q: Why can't the model predict the zeros?
A: Most of them had normal G1/G2. The 0 most likely means they dropped out or missed the final exam, which is not captured by any feature in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ABOUT
Which features the Random Forest relied on most, and an interesting data problem we discovered.
WHAT IS FEATURE IMPORTANCE?
Every time a tree splits on a feature (“Is G2 above 10?”), its predictions get more accurate. Feature importance adds up how much each feature improved the predictions across all 200 trees. The importances add up to 1, so 0.79 means G2 is responsible for about 79% of the model's decision-making.
LEFT CHART: WITH G1/G2
G2 dominates. The most recent grade is the best clue about the final grade. You might expect G1 to be high too, but it is near the bottom. That is because G1 and G2 carry almost the same information. Once the trees use G2, G1 adds little new, so it gets little credit. Low importance does not mean G1 is unrelated to G3.
RIGHT CHART: WITHOUT G1/G2
Absences and failures (number of past failed classes) matter most. Past failures predicting low grades makes sense. Then come health, going out with friends (goout), age, and study time, each with small importance.
THE DATA QUIRK: WHY ABSENCES IS SO HIGH
We found that all 38 students with a final grade of 0 have exactly 0 recorded absences, while the average for everyone else is about 6. A student who dropped out mid-year probably had their absences recorded as 0, not because they attended every class, but because they were no longer tracked. So the model learned a pattern like “0 absences, might be a 0 grade.”
It even caused a reverse mistake: two students who actually scored 8 had 0 absences and were predicted about 1. A good example of correlation is not causation: it is a side effect of how the data was recorded.
WHAT TO SAY
“With G1 and G2 available, G2 alone accounts for about 79% of the importance. Without them, absences and past failures matter most. But we found a data quirk: all 38 students with a final grade of 0 have zero absences. They are likely dropouts, so the model partly learned that zero absences can mean a zero grade, which is a recording artifact, not real behavior.”
POSSIBLE QUESTIONS
Q: Does this mean attending class doesn't matter?
A: No. The pattern comes from how dropouts were recorded, not from real attendance. It shows why you must check the data, not just trust the model.
Q: How is this different from Part A's correlation analysis?
A: Correlation looks at one feature at a time with a straight-line relationship. Random Forest importance reflects how useful a feature is inside the model, including non-linear effects and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ABOUT
Problems we ran into and how we handled them. Instructors like this slide because it shows you understand the limits of your work.
1. SHOULD G1/G2 BE USED?
Using them makes the model look great, but it is almost like predicting the final exam from the midterm. Whether that is OK depends on when you want to predict. Instead of picking one, we reported both and explained the scenario for each.
2. ZERO-GRADE OUTLIERS
An outlier is a data point very different from the rest. 38 students (about 10%) got G3 = 0 even though many had normal earlier grades. They are likely dropouts or students who skipped the final exam. We kept them (removing real students would hide a real problem) but highlighted them in red and explained their effect on the errors.
3. SMALL DATASET
395 students is small for machine learning. With only 79 test students, a few unusual students can change the score a lot. Cross-validation (5 different test sets, averaged) gave us a more stable estimate.
4. TECHNICAL ISSUE
NumPy is the math library underneath everything. Version 2.0 on Mac printed false warnings like “overflow encountered” during Linear Regression. The results were correct and identical, but the warnings looked alarming. We installed the older, stable NumPy 1.26 and recorded all library versions in requirements.txt so anyone can reproduce our setup.
WHAT TO SAY
“Our main challenges were: deciding whether to use the period grades, so we compared both options; the 38 students with a final grade of 0, which we highlighted and discussed; the small dataset, which we handled with cross-validation; and a library version issue, which we fixed by pinning versions in requirements.txt.”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ABOUT
The final takeaways. If the audience remembers one slide, it should be this one.
THE THREE MAIN MESSAGES
- Random Forest works well (R² = 0.81 test / 0.87 CV) when the earlier grades G1/G2 are available: predictions typically within about 2 grade points.
- Past grades matter most. Without them, family and lifestyle features explain only about 27% of the variation.
- Practical meaning: the model is useful mid-year (after the 1st/2nd period). For early warning before the year starts, this data is not enough.
FUTURE WORK, EXPLAINED
- Dropout classification: instead of predicting the exact grade of students who got 0, build a separate yes/no model: “will this student drop out?”
- Tune Random Forest settings (hyperparameters): e.g. number of trees, maximum tree depth. We used the default settings with 200 trees.
- Gradient boosting: another tree-based method that builds trees one after another, each fixing the previous one's mistakes. It often performs even better.
WHAT TO SAY
“To conclude: Random Forest predicted final math grades with an R squared of about 0.81, typically within 2 grade points, when earlier grades were available. The second-period grade is by far the strongest predictor; without it, background factors explain only about 27%. In the future we would model dropouts separately and try tuning and gradient boosting. Thank you, we are happy to take questions.”
OTHER LIKELY QUESTIONS
Q: Why not just remove the G3 = 0 students?
A: It would raise our scores, but they are real students and the ones a school most cares about. Hiding them would make the model look better than it is in practice.
Q: What does 'reproducible' mean for your code?
A: Anyone running the notebook gets the same numbers: fixed random_state = 42 and pinned library versions.
Q: Which model would you recommend?
A: Random Forest with G1/G2 for mid-year prediction, since it had the best score on every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4682B4"/>
          </a:solidFill>
          <a:ln w="12700">
            <a:solidFill>
              <a:srgbClr val="4682B4"/>
            </a:solidFill>
            <a:prstDash val="solid"/>
          </a:ln>
        </p:spPr>
      </p:sp>
      <p:sp>
        <p:nvSpPr>
          <p:cNvPr id="3" name="Text 1"/>
          <p:cNvSpPr txBox="1"/>
          <p:nvPr/>
        </p:nvSpPr>
        <p:spPr>
          <a:xfrm>
            <a:off x="508406" y="347472"/>
            <a:ext cx="914400" cy="228600"/>
          </a:xfrm>
          <a:prstGeom prst="rect">
            <a:avLst/>
          </a:prstGeom>
          <a:noFill/>
          <a:ln/>
        </p:spPr>
        <p:txBody>
          <a:bodyPr wrap="square" lIns="0" tIns="0" rIns="0" bIns="0" rtlCol="0" anchor="t"/>
          <a:lstStyle/>
          <a:p>
            <a:pPr indent="0" marL="0">
              <a:buNone/>
            </a:pPr>
            <a:r>
              <a:rPr lang="en-US" sz="1300" b="1" dirty="0">
                <a:solidFill>
                  <a:srgbClr val="4682B4"/>
                </a:solidFill>
                <a:latin typeface="Arial" pitchFamily="34" charset="0"/>
                <a:ea typeface="Arial" pitchFamily="34" charset="-122"/>
                <a:cs typeface="Arial" pitchFamily="34" charset="-120"/>
              </a:rPr>
              <a:t>07</a:t>
            </a:r>
            <a:endParaRPr lang="en-US" sz="1300" dirty="0"/>
          </a:p>
        </p:txBody>
      </p:sp>
      <p:sp>
        <p:nvSpPr>
          <p:cNvPr id="4" name="Text 2"/>
          <p:cNvSpPr txBox="1"/>
          <p:nvPr/>
        </p:nvSpPr>
        <p:spPr>
          <a:xfrm>
            <a:off x="508406" y="621792"/>
            <a:ext cx="11174882" cy="502920"/>
          </a:xfrm>
          <a:prstGeom prst="rect">
            <a:avLst/>
          </a:prstGeom>
          <a:noFill/>
          <a:ln/>
        </p:spPr>
        <p:txBody>
          <a:bodyPr wrap="square" lIns="0" tIns="0" rIns="0" bIns="0" rtlCol="0" anchor="t"/>
          <a:lstStyle/>
          <a:p>
            <a:pPr indent="0" marL="0">
              <a:buNone/>
            </a:pPr>
            <a:r>
              <a:rPr lang="en-US" sz="2800" b="1" dirty="0">
                <a:solidFill>
                  <a:srgbClr val="1F2A37"/>
                </a:solidFill>
                <a:latin typeface="Arial" pitchFamily="34" charset="0"/>
                <a:ea typeface="Arial" pitchFamily="34" charset="-122"/>
                <a:cs typeface="Arial" pitchFamily="34" charset="-120"/>
              </a:rPr>
              <a:t>Machine Learning Models</a:t>
            </a:r>
            <a:endParaRPr lang="en-US" sz="2800" dirty="0"/>
          </a:p>
        </p:txBody>
      </p:sp>
      <p:sp>
        <p:nvSpPr>
          <p:cNvPr id="5" name="Text 3"/>
          <p:cNvSpPr txBox="1"/>
          <p:nvPr/>
        </p:nvSpPr>
        <p:spPr>
          <a:xfrm>
            <a:off x="508406" y="1115568"/>
            <a:ext cx="11174882" cy="274320"/>
          </a:xfrm>
          <a:prstGeom prst="rect">
            <a:avLst/>
          </a:prstGeom>
          <a:noFill/>
          <a:ln/>
        </p:spPr>
        <p:txBody>
          <a:bodyPr wrap="square" lIns="0" tIns="0" rIns="0" bIns="0" rtlCol="0" anchor="t"/>
          <a:lstStyle/>
          <a:p>
            <a:pPr indent="0" marL="0">
              <a:buNone/>
            </a:pPr>
            <a:r>
              <a:rPr lang="en-US" sz="1400" dirty="0">
                <a:solidFill>
                  <a:srgbClr val="5B6675"/>
                </a:solidFill>
                <a:latin typeface="Arial" pitchFamily="34" charset="0"/>
                <a:ea typeface="Arial" pitchFamily="34" charset="-122"/>
                <a:cs typeface="Arial" pitchFamily="34" charset="-120"/>
              </a:rPr>
              <a:t>Two regression models predicting the final grade G3 (0 to 20)</a:t>
            </a:r>
            <a:endParaRPr lang="en-US" sz="1400" dirty="0"/>
          </a:p>
        </p:txBody>
      </p:sp>
      <p:sp>
        <p:nvSpPr>
          <p:cNvPr id="6" name="Shape 4"/>
          <p:cNvSpPr/>
          <p:nvPr/>
        </p:nvSpPr>
        <p:spPr>
          <a:xfrm>
            <a:off x="508406" y="6473952"/>
            <a:ext cx="11174882" cy="0"/>
          </a:xfrm>
          <a:prstGeom prst="line">
            <a:avLst/>
          </a:prstGeom>
          <a:noFill/>
          <a:ln w="9525">
            <a:solidFill>
              <a:srgbClr val="D9DEE5"/>
            </a:solidFill>
            <a:prstDash val="solid"/>
          </a:ln>
        </p:spPr>
      </p:sp>
      <p:sp>
        <p:nvSpPr>
          <p:cNvPr id="7" name="Text 5"/>
          <p:cNvSpPr txBox="1"/>
          <p:nvPr/>
        </p:nvSpPr>
        <p:spPr>
          <a:xfrm>
            <a:off x="508406" y="6537960"/>
            <a:ext cx="7315200" cy="201168"/>
          </a:xfrm>
          <a:prstGeom prst="rect">
            <a:avLst/>
          </a:prstGeom>
          <a:noFill/>
          <a:ln/>
        </p:spPr>
        <p:txBody>
          <a:bodyPr wrap="square" lIns="0" tIns="0" rIns="0" bIns="0" rtlCol="0" anchor="t"/>
          <a:lstStyle/>
          <a:p>
            <a:pPr indent="0" marL="0">
              <a:buNone/>
            </a:pPr>
            <a:r>
              <a:rPr lang="en-US" sz="1000" dirty="0">
                <a:solidFill>
                  <a:srgbClr val="5B6675"/>
                </a:solidFill>
                <a:latin typeface="Arial" pitchFamily="34" charset="0"/>
                <a:ea typeface="Arial" pitchFamily="34" charset="-122"/>
                <a:cs typeface="Arial" pitchFamily="34" charset="-120"/>
              </a:rPr>
              <a:t>Predicting Student Performance  |  Part B: Modeling &amp; Evaluation</a:t>
            </a:r>
            <a:endParaRPr lang="en-US" sz="1000" dirty="0"/>
          </a:p>
        </p:txBody>
      </p:sp>
      <p:sp>
        <p:nvSpPr>
          <p:cNvPr id="8" name="Text 6"/>
          <p:cNvSpPr txBox="1"/>
          <p:nvPr/>
        </p:nvSpPr>
        <p:spPr>
          <a:xfrm>
            <a:off x="10768889" y="6537960"/>
            <a:ext cx="914400" cy="201168"/>
          </a:xfrm>
          <a:prstGeom prst="rect">
            <a:avLst/>
          </a:prstGeom>
          <a:noFill/>
          <a:ln/>
        </p:spPr>
        <p:txBody>
          <a:bodyPr wrap="square" lIns="0" tIns="0" rIns="0" bIns="0" rtlCol="0" anchor="t"/>
          <a:lstStyle/>
          <a:p>
            <a:pPr algn="r" indent="0" marL="0">
              <a:buNone/>
            </a:pPr>
            <a:r>
              <a:rPr lang="en-US" sz="1000" dirty="0">
                <a:solidFill>
                  <a:srgbClr val="5B6675"/>
                </a:solidFill>
                <a:latin typeface="Arial" pitchFamily="34" charset="0"/>
                <a:ea typeface="Arial" pitchFamily="34" charset="-122"/>
                <a:cs typeface="Arial" pitchFamily="34" charset="-120"/>
              </a:rPr>
              <a:t>7</a:t>
            </a:r>
            <a:endParaRPr lang="en-US" sz="1000" dirty="0"/>
          </a:p>
        </p:txBody>
      </p:sp>
      <p:sp>
        <p:nvSpPr>
          <p:cNvPr id="10" name="Shape 7"/>
          <p:cNvSpPr/>
          <p:nvPr/>
        </p:nvSpPr>
        <p:spPr>
          <a:xfrm>
            <a:off x="508406" y="1645920"/>
            <a:ext cx="5460797" cy="4005072"/>
          </a:xfrm>
          <a:prstGeom prst="roundRect">
            <a:avLst>
              <a:gd name="adj" fmla="val 3196"/>
            </a:avLst>
          </a:prstGeom>
          <a:solidFill>
            <a:srgbClr val="EAF2F9"/>
          </a:solidFill>
          <a:ln w="12700">
            <a:solidFill>
              <a:srgbClr val="EAF2F9"/>
            </a:solidFill>
            <a:prstDash val="solid"/>
          </a:ln>
        </p:spPr>
      </p:sp>
      <p:sp>
        <p:nvSpPr>
          <p:cNvPr id="11" name="Shape 8"/>
          <p:cNvSpPr/>
          <p:nvPr/>
        </p:nvSpPr>
        <p:spPr>
          <a:xfrm>
            <a:off x="508406" y="1645920"/>
            <a:ext cx="5460797" cy="128016"/>
          </a:xfrm>
          <a:prstGeom prst="rect">
            <a:avLst/>
          </a:prstGeom>
          <a:solidFill>
            <a:srgbClr val="4682B4"/>
          </a:solidFill>
          <a:ln w="12700">
            <a:solidFill>
              <a:srgbClr val="4682B4"/>
            </a:solidFill>
            <a:prstDash val="solid"/>
          </a:ln>
        </p:spPr>
      </p:sp>
      <p:sp>
        <p:nvSpPr>
          <p:cNvPr id="12" name="Text 9"/>
          <p:cNvSpPr txBox="1"/>
          <p:nvPr/>
        </p:nvSpPr>
        <p:spPr>
          <a:xfrm>
            <a:off x="782726" y="1938528"/>
            <a:ext cx="4912157" cy="384048"/>
          </a:xfrm>
          <a:prstGeom prst="rect">
            <a:avLst/>
          </a:prstGeom>
          <a:noFill/>
          <a:ln/>
        </p:spPr>
        <p:txBody>
          <a:bodyPr wrap="square" lIns="0" tIns="0" rIns="0" bIns="0" rtlCol="0" anchor="t"/>
          <a:lstStyle/>
          <a:p>
            <a:pPr indent="0" marL="0">
              <a:buNone/>
            </a:pPr>
            <a:r>
              <a:rPr lang="en-US" sz="2200" b="1" dirty="0">
                <a:solidFill>
                  <a:srgbClr val="1F2A37"/>
                </a:solidFill>
                <a:latin typeface="Arial" pitchFamily="34" charset="0"/>
                <a:ea typeface="Arial" pitchFamily="34" charset="-122"/>
                <a:cs typeface="Arial" pitchFamily="34" charset="-120"/>
              </a:rPr>
              <a:t>Linear Regression</a:t>
            </a:r>
            <a:endParaRPr lang="en-US" sz="2200" dirty="0"/>
          </a:p>
        </p:txBody>
      </p:sp>
      <p:sp>
        <p:nvSpPr>
          <p:cNvPr id="13" name="Text 10"/>
          <p:cNvSpPr txBox="1"/>
          <p:nvPr/>
        </p:nvSpPr>
        <p:spPr>
          <a:xfrm>
            <a:off x="782726" y="2331720"/>
            <a:ext cx="4912157" cy="274320"/>
          </a:xfrm>
          <a:prstGeom prst="rect">
            <a:avLst/>
          </a:prstGeom>
          <a:noFill/>
          <a:ln/>
        </p:spPr>
        <p:txBody>
          <a:bodyPr wrap="square" lIns="0" tIns="0" rIns="0" bIns="0" rtlCol="0" anchor="t"/>
          <a:lstStyle/>
          <a:p>
            <a:pPr indent="0" marL="0">
              <a:buNone/>
            </a:pPr>
            <a:r>
              <a:rPr lang="en-US" sz="1400" i="1" dirty="0">
                <a:solidFill>
                  <a:srgbClr val="5B6675"/>
                </a:solidFill>
                <a:latin typeface="Arial" pitchFamily="34" charset="0"/>
                <a:ea typeface="Arial" pitchFamily="34" charset="-122"/>
                <a:cs typeface="Arial" pitchFamily="34" charset="-120"/>
              </a:rPr>
              <a:t>The simple baseline</a:t>
            </a:r>
            <a:endParaRPr lang="en-US" sz="1400" dirty="0"/>
          </a:p>
        </p:txBody>
      </p:sp>
      <p:sp>
        <p:nvSpPr>
          <p:cNvPr id="14" name="Text 11"/>
          <p:cNvSpPr txBox="1"/>
          <p:nvPr/>
        </p:nvSpPr>
        <p:spPr>
          <a:xfrm>
            <a:off x="782726" y="2743200"/>
            <a:ext cx="4912157" cy="274320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rgbClr val="1F2A37"/>
                </a:solidFill>
                <a:latin typeface="Arial" pitchFamily="34" charset="0"/>
                <a:ea typeface="Arial" pitchFamily="34" charset="-122"/>
                <a:cs typeface="Arial" pitchFamily="34" charset="-120"/>
              </a:rPr>
              <a:t>Fits a weighted sum of the features: </a:t>
            </a:r>
            <a:pPr indent="0" marL="0">
              <a:buNone/>
            </a:pPr>
            <a:r>
              <a:rPr lang="en-US" sz="1600" b="1" dirty="0">
                <a:solidFill>
                  <a:srgbClr val="1F2A37"/>
                </a:solidFill>
                <a:latin typeface="Arial" pitchFamily="34" charset="0"/>
                <a:ea typeface="Arial" pitchFamily="34" charset="-122"/>
                <a:cs typeface="Arial" pitchFamily="34" charset="-120"/>
              </a:rPr>
              <a:t>G3 = b</a:t>
            </a:r>
            <a:pPr indent="0" marL="0">
              <a:buNone/>
            </a:pPr>
            <a:r>
              <a:rPr lang="en-US" sz="1600" b="1" baseline="-40000" dirty="0">
                <a:solidFill>
                  <a:srgbClr val="1F2A37"/>
                </a:solidFill>
                <a:latin typeface="Arial" pitchFamily="34" charset="0"/>
                <a:ea typeface="Arial" pitchFamily="34" charset="-122"/>
                <a:cs typeface="Arial" pitchFamily="34" charset="-120"/>
              </a:rPr>
              <a:t>0</a:t>
            </a:r>
            <a:pPr indent="0" marL="0">
              <a:buNone/>
            </a:pPr>
            <a:r>
              <a:rPr lang="en-US" sz="1600" b="1" dirty="0">
                <a:solidFill>
                  <a:srgbClr val="1F2A37"/>
                </a:solidFill>
                <a:latin typeface="Arial" pitchFamily="34" charset="0"/>
                <a:ea typeface="Arial" pitchFamily="34" charset="-122"/>
                <a:cs typeface="Arial" pitchFamily="34" charset="-120"/>
              </a:rPr>
              <a:t> + b</a:t>
            </a:r>
            <a:pPr indent="0" marL="0">
              <a:buNone/>
            </a:pPr>
            <a:r>
              <a:rPr lang="en-US" sz="1600" b="1" baseline="-40000" dirty="0">
                <a:solidFill>
                  <a:srgbClr val="1F2A37"/>
                </a:solidFill>
                <a:latin typeface="Arial" pitchFamily="34" charset="0"/>
                <a:ea typeface="Arial" pitchFamily="34" charset="-122"/>
                <a:cs typeface="Arial" pitchFamily="34" charset="-120"/>
              </a:rPr>
              <a:t>1</a:t>
            </a:r>
            <a:pPr indent="0" marL="0">
              <a:buNone/>
            </a:pPr>
            <a:r>
              <a:rPr lang="en-US" sz="1600" b="1" dirty="0">
                <a:solidFill>
                  <a:srgbClr val="1F2A37"/>
                </a:solidFill>
                <a:latin typeface="Arial" pitchFamily="34" charset="0"/>
                <a:ea typeface="Arial" pitchFamily="34" charset="-122"/>
                <a:cs typeface="Arial" pitchFamily="34" charset="-120"/>
              </a:rPr>
              <a:t>x</a:t>
            </a:r>
            <a:pPr indent="0" marL="0">
              <a:buNone/>
            </a:pPr>
            <a:r>
              <a:rPr lang="en-US" sz="1600" b="1" baseline="-40000" dirty="0">
                <a:solidFill>
                  <a:srgbClr val="1F2A37"/>
                </a:solidFill>
                <a:latin typeface="Arial" pitchFamily="34" charset="0"/>
                <a:ea typeface="Arial" pitchFamily="34" charset="-122"/>
                <a:cs typeface="Arial" pitchFamily="34" charset="-120"/>
              </a:rPr>
              <a:t>1</a:t>
            </a:r>
            <a:pPr indent="0" marL="0">
              <a:buNone/>
            </a:pPr>
            <a:r>
              <a:rPr lang="en-US" sz="1600" b="1" dirty="0">
                <a:solidFill>
                  <a:srgbClr val="1F2A37"/>
                </a:solidFill>
                <a:latin typeface="Arial" pitchFamily="34" charset="0"/>
                <a:ea typeface="Arial" pitchFamily="34" charset="-122"/>
                <a:cs typeface="Arial" pitchFamily="34" charset="-120"/>
              </a:rPr>
              <a:t> + b</a:t>
            </a:r>
            <a:pPr indent="0" marL="0">
              <a:buNone/>
            </a:pPr>
            <a:r>
              <a:rPr lang="en-US" sz="1600" b="1" baseline="-40000" dirty="0">
                <a:solidFill>
                  <a:srgbClr val="1F2A37"/>
                </a:solidFill>
                <a:latin typeface="Arial" pitchFamily="34" charset="0"/>
                <a:ea typeface="Arial" pitchFamily="34" charset="-122"/>
                <a:cs typeface="Arial" pitchFamily="34" charset="-120"/>
              </a:rPr>
              <a:t>2</a:t>
            </a:r>
            <a:pPr indent="0" marL="0">
              <a:buNone/>
            </a:pPr>
            <a:r>
              <a:rPr lang="en-US" sz="1600" b="1" dirty="0">
                <a:solidFill>
                  <a:srgbClr val="1F2A37"/>
                </a:solidFill>
                <a:latin typeface="Arial" pitchFamily="34" charset="0"/>
                <a:ea typeface="Arial" pitchFamily="34" charset="-122"/>
                <a:cs typeface="Arial" pitchFamily="34" charset="-120"/>
              </a:rPr>
              <a:t>x</a:t>
            </a:r>
            <a:pPr indent="0" marL="0">
              <a:buNone/>
            </a:pPr>
            <a:r>
              <a:rPr lang="en-US" sz="1600" b="1" baseline="-40000" dirty="0">
                <a:solidFill>
                  <a:srgbClr val="1F2A37"/>
                </a:solidFill>
                <a:latin typeface="Arial" pitchFamily="34" charset="0"/>
                <a:ea typeface="Arial" pitchFamily="34" charset="-122"/>
                <a:cs typeface="Arial" pitchFamily="34" charset="-120"/>
              </a:rPr>
              <a:t>2</a:t>
            </a:r>
            <a:pPr indent="0" marL="0">
              <a:buNone/>
            </a:pPr>
            <a:r>
              <a:rPr lang="en-US" sz="1600" b="1" dirty="0">
                <a:solidFill>
                  <a:srgbClr val="1F2A37"/>
                </a:solidFill>
                <a:latin typeface="Arial" pitchFamily="34" charset="0"/>
                <a:ea typeface="Arial" pitchFamily="34" charset="-122"/>
                <a:cs typeface="Arial" pitchFamily="34" charset="-120"/>
              </a:rPr>
              <a:t> + ...</a:t>
            </a:r>
            <a:endParaRPr lang="en-US" sz="1600" dirty="0"/>
          </a:p>
          <a:p>
            <a:pPr marL="203200" indent="-203200">
              <a:spcAft>
                <a:spcPts val="1400"/>
              </a:spcAft>
              <a:buSzPct val="100000"/>
              <a:buChar char="•"/>
            </a:pPr>
            <a:r>
              <a:rPr lang="en-US" sz="1600" dirty="0">
                <a:solidFill>
                  <a:srgbClr val="1F2A37"/>
                </a:solidFill>
                <a:latin typeface="Arial" pitchFamily="34" charset="0"/>
                <a:ea typeface="Arial" pitchFamily="34" charset="-122"/>
                <a:cs typeface="Arial" pitchFamily="34" charset="-120"/>
              </a:rPr>
              <a:t>Easy to interpret: each feature gets one weight</a:t>
            </a:r>
            <a:endParaRPr lang="en-US" sz="1600" dirty="0"/>
          </a:p>
          <a:p>
            <a:pPr marL="203200" indent="-203200">
              <a:spcAft>
                <a:spcPts val="1400"/>
              </a:spcAft>
              <a:buSzPct val="100000"/>
              <a:buChar char="•"/>
            </a:pPr>
            <a:r>
              <a:rPr lang="en-US" sz="1600" dirty="0">
                <a:solidFill>
                  <a:srgbClr val="1F2A37"/>
                </a:solidFill>
                <a:latin typeface="Arial" pitchFamily="34" charset="0"/>
                <a:ea typeface="Arial" pitchFamily="34" charset="-122"/>
                <a:cs typeface="Arial" pitchFamily="34" charset="-120"/>
              </a:rPr>
              <a:t>Needs standardized (scaled) features</a:t>
            </a:r>
            <a:endParaRPr lang="en-US" sz="1600" dirty="0"/>
          </a:p>
          <a:p>
            <a:pPr marL="203200" indent="-203200">
              <a:spcAft>
                <a:spcPts val="1400"/>
              </a:spcAft>
              <a:buSzPct val="100000"/>
              <a:buChar char="•"/>
            </a:pPr>
            <a:r>
              <a:rPr lang="en-US" sz="1600" dirty="0">
                <a:solidFill>
                  <a:srgbClr val="1F2A37"/>
                </a:solidFill>
                <a:latin typeface="Arial" pitchFamily="34" charset="0"/>
                <a:ea typeface="Arial" pitchFamily="34" charset="-122"/>
                <a:cs typeface="Arial" pitchFamily="34" charset="-120"/>
              </a:rPr>
              <a:t>Can predict impossible grades (below 0 or above 20)</a:t>
            </a:r>
            <a:endParaRPr lang="en-US" sz="1600" dirty="0"/>
          </a:p>
        </p:txBody>
      </p:sp>
      <p:sp>
        <p:nvSpPr>
          <p:cNvPr id="15" name="Shape 12"/>
          <p:cNvSpPr/>
          <p:nvPr/>
        </p:nvSpPr>
        <p:spPr>
          <a:xfrm>
            <a:off x="6223406" y="1645920"/>
            <a:ext cx="5460797" cy="4005072"/>
          </a:xfrm>
          <a:prstGeom prst="roundRect">
            <a:avLst>
              <a:gd name="adj" fmla="val 3196"/>
            </a:avLst>
          </a:prstGeom>
          <a:solidFill>
            <a:srgbClr val="EAF2F9"/>
          </a:solidFill>
          <a:ln w="12700">
            <a:solidFill>
              <a:srgbClr val="EAF2F9"/>
            </a:solidFill>
            <a:prstDash val="solid"/>
          </a:ln>
        </p:spPr>
      </p:sp>
      <p:sp>
        <p:nvSpPr>
          <p:cNvPr id="16" name="Shape 13"/>
          <p:cNvSpPr/>
          <p:nvPr/>
        </p:nvSpPr>
        <p:spPr>
          <a:xfrm>
            <a:off x="6223406" y="1645920"/>
            <a:ext cx="5460797" cy="128016"/>
          </a:xfrm>
          <a:prstGeom prst="rect">
            <a:avLst/>
          </a:prstGeom>
          <a:solidFill>
            <a:srgbClr val="4682B4"/>
          </a:solidFill>
          <a:ln w="12700">
            <a:solidFill>
              <a:srgbClr val="4682B4"/>
            </a:solidFill>
            <a:prstDash val="solid"/>
          </a:ln>
        </p:spPr>
      </p:sp>
      <p:sp>
        <p:nvSpPr>
          <p:cNvPr id="17" name="Text 14"/>
          <p:cNvSpPr txBox="1"/>
          <p:nvPr/>
        </p:nvSpPr>
        <p:spPr>
          <a:xfrm>
            <a:off x="6497726" y="1938528"/>
            <a:ext cx="4912157" cy="384048"/>
          </a:xfrm>
          <a:prstGeom prst="rect">
            <a:avLst/>
          </a:prstGeom>
          <a:noFill/>
          <a:ln/>
        </p:spPr>
        <p:txBody>
          <a:bodyPr wrap="square" lIns="0" tIns="0" rIns="0" bIns="0" rtlCol="0" anchor="t"/>
          <a:lstStyle/>
          <a:p>
            <a:pPr indent="0" marL="0">
              <a:buNone/>
            </a:pPr>
            <a:r>
              <a:rPr lang="en-US" sz="2200" b="1" dirty="0">
                <a:solidFill>
                  <a:srgbClr val="1F2A37"/>
                </a:solidFill>
                <a:latin typeface="Arial" pitchFamily="34" charset="0"/>
                <a:ea typeface="Arial" pitchFamily="34" charset="-122"/>
                <a:cs typeface="Arial" pitchFamily="34" charset="-120"/>
              </a:rPr>
              <a:t>Random Forest</a:t>
            </a:r>
            <a:endParaRPr lang="en-US" sz="2200" dirty="0"/>
          </a:p>
        </p:txBody>
      </p:sp>
      <p:sp>
        <p:nvSpPr>
          <p:cNvPr id="18" name="Text 15"/>
          <p:cNvSpPr txBox="1"/>
          <p:nvPr/>
        </p:nvSpPr>
        <p:spPr>
          <a:xfrm>
            <a:off x="6497726" y="2331720"/>
            <a:ext cx="4912157" cy="274320"/>
          </a:xfrm>
          <a:prstGeom prst="rect">
            <a:avLst/>
          </a:prstGeom>
          <a:noFill/>
          <a:ln/>
        </p:spPr>
        <p:txBody>
          <a:bodyPr wrap="square" lIns="0" tIns="0" rIns="0" bIns="0" rtlCol="0" anchor="t"/>
          <a:lstStyle/>
          <a:p>
            <a:pPr indent="0" marL="0">
              <a:buNone/>
            </a:pPr>
            <a:r>
              <a:rPr lang="en-US" sz="1400" i="1" dirty="0">
                <a:solidFill>
                  <a:srgbClr val="5B6675"/>
                </a:solidFill>
                <a:latin typeface="Arial" pitchFamily="34" charset="0"/>
                <a:ea typeface="Arial" pitchFamily="34" charset="-122"/>
                <a:cs typeface="Arial" pitchFamily="34" charset="-120"/>
              </a:rPr>
              <a:t>The flexible ensemble</a:t>
            </a:r>
            <a:endParaRPr lang="en-US" sz="1400" dirty="0"/>
          </a:p>
        </p:txBody>
      </p:sp>
      <p:sp>
        <p:nvSpPr>
          <p:cNvPr id="19" name="Text 16"/>
          <p:cNvSpPr txBox="1"/>
          <p:nvPr/>
        </p:nvSpPr>
        <p:spPr>
          <a:xfrm>
            <a:off x="6497726" y="2743200"/>
            <a:ext cx="4912157" cy="2743200"/>
          </a:xfrm>
          <a:prstGeom prst="rect">
            <a:avLst/>
          </a:prstGeom>
          <a:noFill/>
          <a:ln/>
        </p:spPr>
        <p:txBody>
          <a:bodyPr wrap="square" lIns="0" tIns="0" rIns="0" bIns="0" rtlCol="0" anchor="t"/>
          <a:lstStyle/>
          <a:p>
            <a:pPr marL="203200" indent="-203200">
              <a:spcAft>
                <a:spcPts val="1400"/>
              </a:spcAft>
              <a:buSzPct val="100000"/>
              <a:buChar char="•"/>
            </a:pPr>
            <a:r>
              <a:rPr lang="en-US" sz="1600" b="1" dirty="0">
                <a:solidFill>
                  <a:srgbClr val="1F2A37"/>
                </a:solidFill>
                <a:latin typeface="Arial" pitchFamily="34" charset="0"/>
                <a:ea typeface="Arial" pitchFamily="34" charset="-122"/>
                <a:cs typeface="Arial" pitchFamily="34" charset="-120"/>
              </a:rPr>
              <a:t>200 decision trees</a:t>
            </a:r>
            <a:pPr indent="0" marL="0">
              <a:buNone/>
            </a:pPr>
            <a:r>
              <a:rPr lang="en-US" sz="1600" dirty="0">
                <a:solidFill>
                  <a:srgbClr val="1F2A37"/>
                </a:solidFill>
                <a:latin typeface="Arial" pitchFamily="34" charset="0"/>
                <a:ea typeface="Arial" pitchFamily="34" charset="-122"/>
                <a:cs typeface="Arial" pitchFamily="34" charset="-120"/>
              </a:rPr>
              <a:t>, each trained on a random sample of students</a:t>
            </a:r>
            <a:endParaRPr lang="en-US" sz="1600" dirty="0"/>
          </a:p>
          <a:p>
            <a:pPr marL="203200" indent="-203200">
              <a:spcAft>
                <a:spcPts val="1400"/>
              </a:spcAft>
              <a:buSzPct val="100000"/>
              <a:buChar char="•"/>
            </a:pPr>
            <a:r>
              <a:rPr lang="en-US" sz="1600" dirty="0">
                <a:solidFill>
                  <a:srgbClr val="1F2A37"/>
                </a:solidFill>
                <a:latin typeface="Arial" pitchFamily="34" charset="0"/>
                <a:ea typeface="Arial" pitchFamily="34" charset="-122"/>
                <a:cs typeface="Arial" pitchFamily="34" charset="-120"/>
              </a:rPr>
              <a:t>Final prediction = the average of all trees</a:t>
            </a:r>
            <a:endParaRPr lang="en-US" sz="1600" dirty="0"/>
          </a:p>
          <a:p>
            <a:pPr marL="203200" indent="-203200">
              <a:spcAft>
                <a:spcPts val="1400"/>
              </a:spcAft>
              <a:buSzPct val="100000"/>
              <a:buChar char="•"/>
            </a:pPr>
            <a:r>
              <a:rPr lang="en-US" sz="1600" dirty="0">
                <a:solidFill>
                  <a:srgbClr val="1F2A37"/>
                </a:solidFill>
                <a:latin typeface="Arial" pitchFamily="34" charset="0"/>
                <a:ea typeface="Arial" pitchFamily="34" charset="-122"/>
                <a:cs typeface="Arial" pitchFamily="34" charset="-120"/>
              </a:rPr>
              <a:t>Captures non-linear patterns (e.g. a sudden drop to 0)</a:t>
            </a:r>
            <a:endParaRPr lang="en-US" sz="1600" dirty="0"/>
          </a:p>
          <a:p>
            <a:pPr marL="203200" indent="-203200">
              <a:spcAft>
                <a:spcPts val="1400"/>
              </a:spcAft>
              <a:buSzPct val="100000"/>
              <a:buChar char="•"/>
            </a:pPr>
            <a:r>
              <a:rPr lang="en-US" sz="1600" dirty="0">
                <a:solidFill>
                  <a:srgbClr val="1F2A37"/>
                </a:solidFill>
                <a:latin typeface="Arial" pitchFamily="34" charset="0"/>
                <a:ea typeface="Arial" pitchFamily="34" charset="-122"/>
                <a:cs typeface="Arial" pitchFamily="34" charset="-120"/>
              </a:rPr>
              <a:t>No scaling needed; predictions stay in the 0 to 20 range</a:t>
            </a:r>
            <a:endParaRPr lang="en-US" sz="1600" dirty="0"/>
          </a:p>
        </p:txBody>
      </p:sp>
      <p:sp>
        <p:nvSpPr>
          <p:cNvPr id="20" name="Text 17"/>
          <p:cNvSpPr txBox="1"/>
          <p:nvPr/>
        </p:nvSpPr>
        <p:spPr>
          <a:xfrm>
            <a:off x="508406" y="5833872"/>
            <a:ext cx="11174882" cy="365760"/>
          </a:xfrm>
          <a:prstGeom prst="rect">
            <a:avLst/>
          </a:prstGeom>
          <a:noFill/>
          <a:ln/>
        </p:spPr>
        <p:txBody>
          <a:bodyPr wrap="square" lIns="0" tIns="0" rIns="0" bIns="0" rtlCol="0" anchor="t"/>
          <a:lstStyle/>
          <a:p>
            <a:pPr indent="0" marL="0">
              <a:buNone/>
            </a:pPr>
            <a:r>
              <a:rPr lang="en-US" sz="1500" b="1" dirty="0">
                <a:solidFill>
                  <a:srgbClr val="5B6675"/>
                </a:solidFill>
                <a:latin typeface="Arial" pitchFamily="34" charset="0"/>
                <a:ea typeface="Arial" pitchFamily="34" charset="-122"/>
                <a:cs typeface="Arial" pitchFamily="34" charset="-120"/>
              </a:rPr>
              <a:t>Why both? </a:t>
            </a:r>
            <a:pPr indent="0" marL="0">
              <a:buNone/>
            </a:pPr>
            <a:r>
              <a:rPr lang="en-US" sz="1500" dirty="0">
                <a:solidFill>
                  <a:srgbClr val="5B6675"/>
                </a:solidFill>
                <a:latin typeface="Arial" pitchFamily="34" charset="0"/>
                <a:ea typeface="Arial" pitchFamily="34" charset="-122"/>
                <a:cs typeface="Arial" pitchFamily="34" charset="-120"/>
              </a:rPr>
              <a:t>Compare a simple, explainable baseline with a more powerful model, and see if the extra complexity pays off.</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4682B4"/>
          </a:solidFill>
          <a:ln w="12700">
            <a:solidFill>
              <a:srgbClr val="4682B4"/>
            </a:solidFill>
            <a:prstDash val="solid"/>
          </a:ln>
        </p:spPr>
      </p:sp>
      <p:sp>
        <p:nvSpPr>
          <p:cNvPr id="3" name="Text 1"/>
          <p:cNvSpPr txBox="1"/>
          <p:nvPr/>
        </p:nvSpPr>
        <p:spPr>
          <a:xfrm>
            <a:off x="508406" y="347472"/>
            <a:ext cx="914400" cy="228600"/>
          </a:xfrm>
          <a:prstGeom prst="rect">
            <a:avLst/>
          </a:prstGeom>
          <a:noFill/>
          <a:ln/>
        </p:spPr>
        <p:txBody>
          <a:bodyPr wrap="square" lIns="0" tIns="0" rIns="0" bIns="0" rtlCol="0" anchor="t"/>
          <a:lstStyle/>
          <a:p>
            <a:pPr indent="0" marL="0">
              <a:buNone/>
            </a:pPr>
            <a:r>
              <a:rPr lang="en-US" sz="1300" b="1" dirty="0">
                <a:solidFill>
                  <a:srgbClr val="4682B4"/>
                </a:solidFill>
                <a:latin typeface="Arial" pitchFamily="34" charset="0"/>
                <a:ea typeface="Arial" pitchFamily="34" charset="-122"/>
                <a:cs typeface="Arial" pitchFamily="34" charset="-120"/>
              </a:rPr>
              <a:t>08</a:t>
            </a:r>
            <a:endParaRPr lang="en-US" sz="1300" dirty="0"/>
          </a:p>
        </p:txBody>
      </p:sp>
      <p:sp>
        <p:nvSpPr>
          <p:cNvPr id="4" name="Text 2"/>
          <p:cNvSpPr txBox="1"/>
          <p:nvPr/>
        </p:nvSpPr>
        <p:spPr>
          <a:xfrm>
            <a:off x="508406" y="621792"/>
            <a:ext cx="11174882" cy="502920"/>
          </a:xfrm>
          <a:prstGeom prst="rect">
            <a:avLst/>
          </a:prstGeom>
          <a:noFill/>
          <a:ln/>
        </p:spPr>
        <p:txBody>
          <a:bodyPr wrap="square" lIns="0" tIns="0" rIns="0" bIns="0" rtlCol="0" anchor="t"/>
          <a:lstStyle/>
          <a:p>
            <a:pPr indent="0" marL="0">
              <a:buNone/>
            </a:pPr>
            <a:r>
              <a:rPr lang="en-US" sz="2800" b="1" dirty="0">
                <a:solidFill>
                  <a:srgbClr val="1F2A37"/>
                </a:solidFill>
                <a:latin typeface="Arial" pitchFamily="34" charset="0"/>
                <a:ea typeface="Arial" pitchFamily="34" charset="-122"/>
                <a:cs typeface="Arial" pitchFamily="34" charset="-120"/>
              </a:rPr>
              <a:t>Training Methodology</a:t>
            </a:r>
            <a:endParaRPr lang="en-US" sz="2800" dirty="0"/>
          </a:p>
        </p:txBody>
      </p:sp>
      <p:sp>
        <p:nvSpPr>
          <p:cNvPr id="5" name="Text 3"/>
          <p:cNvSpPr txBox="1"/>
          <p:nvPr/>
        </p:nvSpPr>
        <p:spPr>
          <a:xfrm>
            <a:off x="508406" y="1115568"/>
            <a:ext cx="11174882" cy="274320"/>
          </a:xfrm>
          <a:prstGeom prst="rect">
            <a:avLst/>
          </a:prstGeom>
          <a:noFill/>
          <a:ln/>
        </p:spPr>
        <p:txBody>
          <a:bodyPr wrap="square" lIns="0" tIns="0" rIns="0" bIns="0" rtlCol="0" anchor="t"/>
          <a:lstStyle/>
          <a:p>
            <a:pPr indent="0" marL="0">
              <a:buNone/>
            </a:pPr>
            <a:r>
              <a:rPr lang="en-US" sz="1400" dirty="0">
                <a:solidFill>
                  <a:srgbClr val="5B6675"/>
                </a:solidFill>
                <a:latin typeface="Arial" pitchFamily="34" charset="0"/>
                <a:ea typeface="Arial" pitchFamily="34" charset="-122"/>
                <a:cs typeface="Arial" pitchFamily="34" charset="-120"/>
              </a:rPr>
              <a:t>How the models were trained and tested fairly</a:t>
            </a:r>
            <a:endParaRPr lang="en-US" sz="1400" dirty="0"/>
          </a:p>
        </p:txBody>
      </p:sp>
      <p:sp>
        <p:nvSpPr>
          <p:cNvPr id="6" name="Shape 4"/>
          <p:cNvSpPr/>
          <p:nvPr/>
        </p:nvSpPr>
        <p:spPr>
          <a:xfrm>
            <a:off x="508406" y="6473952"/>
            <a:ext cx="11174882" cy="0"/>
          </a:xfrm>
          <a:prstGeom prst="line">
            <a:avLst/>
          </a:prstGeom>
          <a:noFill/>
          <a:ln w="9525">
            <a:solidFill>
              <a:srgbClr val="D9DEE5"/>
            </a:solidFill>
            <a:prstDash val="solid"/>
          </a:ln>
        </p:spPr>
      </p:sp>
      <p:sp>
        <p:nvSpPr>
          <p:cNvPr id="7" name="Text 5"/>
          <p:cNvSpPr txBox="1"/>
          <p:nvPr/>
        </p:nvSpPr>
        <p:spPr>
          <a:xfrm>
            <a:off x="508406" y="6537960"/>
            <a:ext cx="7315200" cy="201168"/>
          </a:xfrm>
          <a:prstGeom prst="rect">
            <a:avLst/>
          </a:prstGeom>
          <a:noFill/>
          <a:ln/>
        </p:spPr>
        <p:txBody>
          <a:bodyPr wrap="square" lIns="0" tIns="0" rIns="0" bIns="0" rtlCol="0" anchor="t"/>
          <a:lstStyle/>
          <a:p>
            <a:pPr indent="0" marL="0">
              <a:buNone/>
            </a:pPr>
            <a:r>
              <a:rPr lang="en-US" sz="1000" dirty="0">
                <a:solidFill>
                  <a:srgbClr val="5B6675"/>
                </a:solidFill>
                <a:latin typeface="Arial" pitchFamily="34" charset="0"/>
                <a:ea typeface="Arial" pitchFamily="34" charset="-122"/>
                <a:cs typeface="Arial" pitchFamily="34" charset="-120"/>
              </a:rPr>
              <a:t>Predicting Student Performance  |  Part B: Modeling &amp; Evaluation</a:t>
            </a:r>
            <a:endParaRPr lang="en-US" sz="1000" dirty="0"/>
          </a:p>
        </p:txBody>
      </p:sp>
      <p:sp>
        <p:nvSpPr>
          <p:cNvPr id="8" name="Text 6"/>
          <p:cNvSpPr txBox="1"/>
          <p:nvPr/>
        </p:nvSpPr>
        <p:spPr>
          <a:xfrm>
            <a:off x="10768889" y="6537960"/>
            <a:ext cx="914400" cy="201168"/>
          </a:xfrm>
          <a:prstGeom prst="rect">
            <a:avLst/>
          </a:prstGeom>
          <a:noFill/>
          <a:ln/>
        </p:spPr>
        <p:txBody>
          <a:bodyPr wrap="square" lIns="0" tIns="0" rIns="0" bIns="0" rtlCol="0" anchor="t"/>
          <a:lstStyle/>
          <a:p>
            <a:pPr algn="r" indent="0" marL="0">
              <a:buNone/>
            </a:pPr>
            <a:r>
              <a:rPr lang="en-US" sz="1000" dirty="0">
                <a:solidFill>
                  <a:srgbClr val="5B6675"/>
                </a:solidFill>
                <a:latin typeface="Arial" pitchFamily="34" charset="0"/>
                <a:ea typeface="Arial" pitchFamily="34" charset="-122"/>
                <a:cs typeface="Arial" pitchFamily="34" charset="-120"/>
              </a:rPr>
              <a:t>8</a:t>
            </a:r>
            <a:endParaRPr lang="en-US" sz="1000" dirty="0"/>
          </a:p>
        </p:txBody>
      </p:sp>
      <p:sp>
        <p:nvSpPr>
          <p:cNvPr id="10" name="Text 7"/>
          <p:cNvSpPr txBox="1"/>
          <p:nvPr/>
        </p:nvSpPr>
        <p:spPr>
          <a:xfrm>
            <a:off x="508406" y="1572768"/>
            <a:ext cx="5303520" cy="274320"/>
          </a:xfrm>
          <a:prstGeom prst="rect">
            <a:avLst/>
          </a:prstGeom>
          <a:noFill/>
          <a:ln/>
        </p:spPr>
        <p:txBody>
          <a:bodyPr wrap="square" lIns="0" tIns="0" rIns="0" bIns="0" rtlCol="0" anchor="t"/>
          <a:lstStyle/>
          <a:p>
            <a:pPr indent="0" marL="0">
              <a:buNone/>
            </a:pPr>
            <a:r>
              <a:rPr lang="en-US" sz="1600" b="1" dirty="0">
                <a:solidFill>
                  <a:srgbClr val="1F2A37"/>
                </a:solidFill>
                <a:latin typeface="Arial" pitchFamily="34" charset="0"/>
                <a:ea typeface="Arial" pitchFamily="34" charset="-122"/>
                <a:cs typeface="Arial" pitchFamily="34" charset="-120"/>
              </a:rPr>
              <a:t>1. Train/test split (80 / 20)</a:t>
            </a:r>
            <a:endParaRPr lang="en-US" sz="1600" dirty="0"/>
          </a:p>
        </p:txBody>
      </p:sp>
      <p:sp>
        <p:nvSpPr>
          <p:cNvPr id="11" name="Shape 8"/>
          <p:cNvSpPr/>
          <p:nvPr/>
        </p:nvSpPr>
        <p:spPr>
          <a:xfrm>
            <a:off x="508406" y="1965960"/>
            <a:ext cx="4266956" cy="512064"/>
          </a:xfrm>
          <a:prstGeom prst="roundRect">
            <a:avLst>
              <a:gd name="adj" fmla="val 14286"/>
            </a:avLst>
          </a:prstGeom>
          <a:solidFill>
            <a:srgbClr val="4682B4"/>
          </a:solidFill>
          <a:ln w="12700">
            <a:solidFill>
              <a:srgbClr val="4682B4"/>
            </a:solidFill>
            <a:prstDash val="solid"/>
          </a:ln>
        </p:spPr>
      </p:sp>
      <p:sp>
        <p:nvSpPr>
          <p:cNvPr id="12" name="Shape 9"/>
          <p:cNvSpPr/>
          <p:nvPr/>
        </p:nvSpPr>
        <p:spPr>
          <a:xfrm>
            <a:off x="4821083" y="1965960"/>
            <a:ext cx="1021019" cy="512064"/>
          </a:xfrm>
          <a:prstGeom prst="roundRect">
            <a:avLst>
              <a:gd name="adj" fmla="val 14286"/>
            </a:avLst>
          </a:prstGeom>
          <a:solidFill>
            <a:srgbClr val="DC143C"/>
          </a:solidFill>
          <a:ln w="12700">
            <a:solidFill>
              <a:srgbClr val="DC143C"/>
            </a:solidFill>
            <a:prstDash val="solid"/>
          </a:ln>
        </p:spPr>
      </p:sp>
      <p:sp>
        <p:nvSpPr>
          <p:cNvPr id="13" name="Text 10"/>
          <p:cNvSpPr txBox="1"/>
          <p:nvPr/>
        </p:nvSpPr>
        <p:spPr>
          <a:xfrm>
            <a:off x="508406" y="1965960"/>
            <a:ext cx="4266956"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Train: 316 students</a:t>
            </a:r>
            <a:endParaRPr lang="en-US" sz="1400" dirty="0"/>
          </a:p>
        </p:txBody>
      </p:sp>
      <p:sp>
        <p:nvSpPr>
          <p:cNvPr id="14" name="Text 11"/>
          <p:cNvSpPr txBox="1"/>
          <p:nvPr/>
        </p:nvSpPr>
        <p:spPr>
          <a:xfrm>
            <a:off x="4821083" y="1965960"/>
            <a:ext cx="1021019"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Test: 79</a:t>
            </a:r>
            <a:endParaRPr lang="en-US" sz="1400" dirty="0"/>
          </a:p>
        </p:txBody>
      </p:sp>
      <p:sp>
        <p:nvSpPr>
          <p:cNvPr id="15" name="Text 12"/>
          <p:cNvSpPr txBox="1"/>
          <p:nvPr/>
        </p:nvSpPr>
        <p:spPr>
          <a:xfrm>
            <a:off x="508406" y="2606040"/>
            <a:ext cx="5333695" cy="640080"/>
          </a:xfrm>
          <a:prstGeom prst="rect">
            <a:avLst/>
          </a:prstGeom>
          <a:noFill/>
          <a:ln/>
        </p:spPr>
        <p:txBody>
          <a:bodyPr wrap="square" lIns="0" tIns="0" rIns="0" bIns="0" rtlCol="0" anchor="t"/>
          <a:lstStyle/>
          <a:p>
            <a:pPr indent="0" marL="0">
              <a:buNone/>
            </a:pPr>
            <a:r>
              <a:rPr lang="en-US" sz="1300" dirty="0">
                <a:solidFill>
                  <a:srgbClr val="5B6675"/>
                </a:solidFill>
                <a:latin typeface="Arial" pitchFamily="34" charset="0"/>
                <a:ea typeface="Arial" pitchFamily="34" charset="-122"/>
                <a:cs typeface="Arial" pitchFamily="34" charset="-120"/>
              </a:rPr>
              <a:t>Models learn from the training set and are graded on the test set, which they have never seen. </a:t>
            </a:r>
            <a:pPr indent="0" marL="0">
              <a:buNone/>
            </a:pPr>
            <a:r>
              <a:rPr lang="en-US" sz="1300" b="1" dirty="0">
                <a:solidFill>
                  <a:srgbClr val="5B6675"/>
                </a:solidFill>
                <a:latin typeface="Arial" pitchFamily="34" charset="0"/>
                <a:ea typeface="Arial" pitchFamily="34" charset="-122"/>
                <a:cs typeface="Arial" pitchFamily="34" charset="-120"/>
              </a:rPr>
              <a:t>random_state = 42</a:t>
            </a:r>
            <a:pPr indent="0" marL="0">
              <a:buNone/>
            </a:pPr>
            <a:r>
              <a:rPr lang="en-US" sz="1300" dirty="0">
                <a:solidFill>
                  <a:srgbClr val="5B6675"/>
                </a:solidFill>
                <a:latin typeface="Arial" pitchFamily="34" charset="0"/>
                <a:ea typeface="Arial" pitchFamily="34" charset="-122"/>
                <a:cs typeface="Arial" pitchFamily="34" charset="-120"/>
              </a:rPr>
              <a:t> makes the split reproducible.</a:t>
            </a:r>
            <a:endParaRPr lang="en-US" sz="1300" dirty="0"/>
          </a:p>
        </p:txBody>
      </p:sp>
      <p:sp>
        <p:nvSpPr>
          <p:cNvPr id="16" name="Text 13"/>
          <p:cNvSpPr txBox="1"/>
          <p:nvPr/>
        </p:nvSpPr>
        <p:spPr>
          <a:xfrm>
            <a:off x="6349594" y="1572768"/>
            <a:ext cx="5303520" cy="274320"/>
          </a:xfrm>
          <a:prstGeom prst="rect">
            <a:avLst/>
          </a:prstGeom>
          <a:noFill/>
          <a:ln/>
        </p:spPr>
        <p:txBody>
          <a:bodyPr wrap="square" lIns="0" tIns="0" rIns="0" bIns="0" rtlCol="0" anchor="t"/>
          <a:lstStyle/>
          <a:p>
            <a:pPr indent="0" marL="0">
              <a:buNone/>
            </a:pPr>
            <a:r>
              <a:rPr lang="en-US" sz="1600" b="1" dirty="0">
                <a:solidFill>
                  <a:srgbClr val="1F2A37"/>
                </a:solidFill>
                <a:latin typeface="Arial" pitchFamily="34" charset="0"/>
                <a:ea typeface="Arial" pitchFamily="34" charset="-122"/>
                <a:cs typeface="Arial" pitchFamily="34" charset="-120"/>
              </a:rPr>
              <a:t>2. 5-fold cross-validation</a:t>
            </a:r>
            <a:endParaRPr lang="en-US" sz="1600" dirty="0"/>
          </a:p>
        </p:txBody>
      </p:sp>
      <p:sp>
        <p:nvSpPr>
          <p:cNvPr id="17" name="Text 14"/>
          <p:cNvSpPr txBox="1"/>
          <p:nvPr/>
        </p:nvSpPr>
        <p:spPr>
          <a:xfrm>
            <a:off x="6349594" y="1920240"/>
            <a:ext cx="731520" cy="254203"/>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Round 1</a:t>
            </a:r>
            <a:endParaRPr lang="en-US" sz="1100" dirty="0"/>
          </a:p>
        </p:txBody>
      </p:sp>
      <p:sp>
        <p:nvSpPr>
          <p:cNvPr id="18" name="Shape 15"/>
          <p:cNvSpPr/>
          <p:nvPr/>
        </p:nvSpPr>
        <p:spPr>
          <a:xfrm>
            <a:off x="7111289" y="1920240"/>
            <a:ext cx="863194" cy="254203"/>
          </a:xfrm>
          <a:prstGeom prst="roundRect">
            <a:avLst>
              <a:gd name="adj" fmla="val 17986"/>
            </a:avLst>
          </a:prstGeom>
          <a:solidFill>
            <a:srgbClr val="DC143C"/>
          </a:solidFill>
          <a:ln w="12700">
            <a:solidFill>
              <a:srgbClr val="DC143C"/>
            </a:solidFill>
            <a:prstDash val="solid"/>
          </a:ln>
        </p:spPr>
      </p:sp>
      <p:sp>
        <p:nvSpPr>
          <p:cNvPr id="19" name="Shape 16"/>
          <p:cNvSpPr/>
          <p:nvPr/>
        </p:nvSpPr>
        <p:spPr>
          <a:xfrm>
            <a:off x="8025689" y="1920240"/>
            <a:ext cx="863194" cy="254203"/>
          </a:xfrm>
          <a:prstGeom prst="roundRect">
            <a:avLst>
              <a:gd name="adj" fmla="val 17986"/>
            </a:avLst>
          </a:prstGeom>
          <a:solidFill>
            <a:srgbClr val="4682B4"/>
          </a:solidFill>
          <a:ln w="12700">
            <a:solidFill>
              <a:srgbClr val="4682B4"/>
            </a:solidFill>
            <a:prstDash val="solid"/>
          </a:ln>
        </p:spPr>
      </p:sp>
      <p:sp>
        <p:nvSpPr>
          <p:cNvPr id="20" name="Shape 17"/>
          <p:cNvSpPr/>
          <p:nvPr/>
        </p:nvSpPr>
        <p:spPr>
          <a:xfrm>
            <a:off x="8940089" y="1920240"/>
            <a:ext cx="863194" cy="254203"/>
          </a:xfrm>
          <a:prstGeom prst="roundRect">
            <a:avLst>
              <a:gd name="adj" fmla="val 17986"/>
            </a:avLst>
          </a:prstGeom>
          <a:solidFill>
            <a:srgbClr val="4682B4"/>
          </a:solidFill>
          <a:ln w="12700">
            <a:solidFill>
              <a:srgbClr val="4682B4"/>
            </a:solidFill>
            <a:prstDash val="solid"/>
          </a:ln>
        </p:spPr>
      </p:sp>
      <p:sp>
        <p:nvSpPr>
          <p:cNvPr id="21" name="Shape 18"/>
          <p:cNvSpPr/>
          <p:nvPr/>
        </p:nvSpPr>
        <p:spPr>
          <a:xfrm>
            <a:off x="9854489" y="1920240"/>
            <a:ext cx="863194" cy="254203"/>
          </a:xfrm>
          <a:prstGeom prst="roundRect">
            <a:avLst>
              <a:gd name="adj" fmla="val 17986"/>
            </a:avLst>
          </a:prstGeom>
          <a:solidFill>
            <a:srgbClr val="4682B4"/>
          </a:solidFill>
          <a:ln w="12700">
            <a:solidFill>
              <a:srgbClr val="4682B4"/>
            </a:solidFill>
            <a:prstDash val="solid"/>
          </a:ln>
        </p:spPr>
      </p:sp>
      <p:sp>
        <p:nvSpPr>
          <p:cNvPr id="22" name="Shape 19"/>
          <p:cNvSpPr/>
          <p:nvPr/>
        </p:nvSpPr>
        <p:spPr>
          <a:xfrm>
            <a:off x="10768889" y="1920240"/>
            <a:ext cx="863194" cy="254203"/>
          </a:xfrm>
          <a:prstGeom prst="roundRect">
            <a:avLst>
              <a:gd name="adj" fmla="val 17986"/>
            </a:avLst>
          </a:prstGeom>
          <a:solidFill>
            <a:srgbClr val="4682B4"/>
          </a:solidFill>
          <a:ln w="12700">
            <a:solidFill>
              <a:srgbClr val="4682B4"/>
            </a:solidFill>
            <a:prstDash val="solid"/>
          </a:ln>
        </p:spPr>
      </p:sp>
      <p:sp>
        <p:nvSpPr>
          <p:cNvPr id="23" name="Text 20"/>
          <p:cNvSpPr txBox="1"/>
          <p:nvPr/>
        </p:nvSpPr>
        <p:spPr>
          <a:xfrm>
            <a:off x="6349594" y="2237537"/>
            <a:ext cx="731520" cy="254203"/>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Round 2</a:t>
            </a:r>
            <a:endParaRPr lang="en-US" sz="1100" dirty="0"/>
          </a:p>
        </p:txBody>
      </p:sp>
      <p:sp>
        <p:nvSpPr>
          <p:cNvPr id="24" name="Shape 21"/>
          <p:cNvSpPr/>
          <p:nvPr/>
        </p:nvSpPr>
        <p:spPr>
          <a:xfrm>
            <a:off x="7111289" y="2237537"/>
            <a:ext cx="863194" cy="254203"/>
          </a:xfrm>
          <a:prstGeom prst="roundRect">
            <a:avLst>
              <a:gd name="adj" fmla="val 17986"/>
            </a:avLst>
          </a:prstGeom>
          <a:solidFill>
            <a:srgbClr val="4682B4"/>
          </a:solidFill>
          <a:ln w="12700">
            <a:solidFill>
              <a:srgbClr val="4682B4"/>
            </a:solidFill>
            <a:prstDash val="solid"/>
          </a:ln>
        </p:spPr>
      </p:sp>
      <p:sp>
        <p:nvSpPr>
          <p:cNvPr id="25" name="Shape 22"/>
          <p:cNvSpPr/>
          <p:nvPr/>
        </p:nvSpPr>
        <p:spPr>
          <a:xfrm>
            <a:off x="8025689" y="2237537"/>
            <a:ext cx="863194" cy="254203"/>
          </a:xfrm>
          <a:prstGeom prst="roundRect">
            <a:avLst>
              <a:gd name="adj" fmla="val 17986"/>
            </a:avLst>
          </a:prstGeom>
          <a:solidFill>
            <a:srgbClr val="DC143C"/>
          </a:solidFill>
          <a:ln w="12700">
            <a:solidFill>
              <a:srgbClr val="DC143C"/>
            </a:solidFill>
            <a:prstDash val="solid"/>
          </a:ln>
        </p:spPr>
      </p:sp>
      <p:sp>
        <p:nvSpPr>
          <p:cNvPr id="26" name="Shape 23"/>
          <p:cNvSpPr/>
          <p:nvPr/>
        </p:nvSpPr>
        <p:spPr>
          <a:xfrm>
            <a:off x="8940089" y="2237537"/>
            <a:ext cx="863194" cy="254203"/>
          </a:xfrm>
          <a:prstGeom prst="roundRect">
            <a:avLst>
              <a:gd name="adj" fmla="val 17986"/>
            </a:avLst>
          </a:prstGeom>
          <a:solidFill>
            <a:srgbClr val="4682B4"/>
          </a:solidFill>
          <a:ln w="12700">
            <a:solidFill>
              <a:srgbClr val="4682B4"/>
            </a:solidFill>
            <a:prstDash val="solid"/>
          </a:ln>
        </p:spPr>
      </p:sp>
      <p:sp>
        <p:nvSpPr>
          <p:cNvPr id="27" name="Shape 24"/>
          <p:cNvSpPr/>
          <p:nvPr/>
        </p:nvSpPr>
        <p:spPr>
          <a:xfrm>
            <a:off x="9854489" y="2237537"/>
            <a:ext cx="863194" cy="254203"/>
          </a:xfrm>
          <a:prstGeom prst="roundRect">
            <a:avLst>
              <a:gd name="adj" fmla="val 17986"/>
            </a:avLst>
          </a:prstGeom>
          <a:solidFill>
            <a:srgbClr val="4682B4"/>
          </a:solidFill>
          <a:ln w="12700">
            <a:solidFill>
              <a:srgbClr val="4682B4"/>
            </a:solidFill>
            <a:prstDash val="solid"/>
          </a:ln>
        </p:spPr>
      </p:sp>
      <p:sp>
        <p:nvSpPr>
          <p:cNvPr id="28" name="Shape 25"/>
          <p:cNvSpPr/>
          <p:nvPr/>
        </p:nvSpPr>
        <p:spPr>
          <a:xfrm>
            <a:off x="10768889" y="2237537"/>
            <a:ext cx="863194" cy="254203"/>
          </a:xfrm>
          <a:prstGeom prst="roundRect">
            <a:avLst>
              <a:gd name="adj" fmla="val 17986"/>
            </a:avLst>
          </a:prstGeom>
          <a:solidFill>
            <a:srgbClr val="4682B4"/>
          </a:solidFill>
          <a:ln w="12700">
            <a:solidFill>
              <a:srgbClr val="4682B4"/>
            </a:solidFill>
            <a:prstDash val="solid"/>
          </a:ln>
        </p:spPr>
      </p:sp>
      <p:sp>
        <p:nvSpPr>
          <p:cNvPr id="29" name="Text 26"/>
          <p:cNvSpPr txBox="1"/>
          <p:nvPr/>
        </p:nvSpPr>
        <p:spPr>
          <a:xfrm>
            <a:off x="6349594" y="2554834"/>
            <a:ext cx="731520" cy="254203"/>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Round 3</a:t>
            </a:r>
            <a:endParaRPr lang="en-US" sz="1100" dirty="0"/>
          </a:p>
        </p:txBody>
      </p:sp>
      <p:sp>
        <p:nvSpPr>
          <p:cNvPr id="30" name="Shape 27"/>
          <p:cNvSpPr/>
          <p:nvPr/>
        </p:nvSpPr>
        <p:spPr>
          <a:xfrm>
            <a:off x="7111289" y="2554834"/>
            <a:ext cx="863194" cy="254203"/>
          </a:xfrm>
          <a:prstGeom prst="roundRect">
            <a:avLst>
              <a:gd name="adj" fmla="val 17986"/>
            </a:avLst>
          </a:prstGeom>
          <a:solidFill>
            <a:srgbClr val="4682B4"/>
          </a:solidFill>
          <a:ln w="12700">
            <a:solidFill>
              <a:srgbClr val="4682B4"/>
            </a:solidFill>
            <a:prstDash val="solid"/>
          </a:ln>
        </p:spPr>
      </p:sp>
      <p:sp>
        <p:nvSpPr>
          <p:cNvPr id="31" name="Shape 28"/>
          <p:cNvSpPr/>
          <p:nvPr/>
        </p:nvSpPr>
        <p:spPr>
          <a:xfrm>
            <a:off x="8025689" y="2554834"/>
            <a:ext cx="863194" cy="254203"/>
          </a:xfrm>
          <a:prstGeom prst="roundRect">
            <a:avLst>
              <a:gd name="adj" fmla="val 17986"/>
            </a:avLst>
          </a:prstGeom>
          <a:solidFill>
            <a:srgbClr val="4682B4"/>
          </a:solidFill>
          <a:ln w="12700">
            <a:solidFill>
              <a:srgbClr val="4682B4"/>
            </a:solidFill>
            <a:prstDash val="solid"/>
          </a:ln>
        </p:spPr>
      </p:sp>
      <p:sp>
        <p:nvSpPr>
          <p:cNvPr id="32" name="Shape 29"/>
          <p:cNvSpPr/>
          <p:nvPr/>
        </p:nvSpPr>
        <p:spPr>
          <a:xfrm>
            <a:off x="8940089" y="2554834"/>
            <a:ext cx="863194" cy="254203"/>
          </a:xfrm>
          <a:prstGeom prst="roundRect">
            <a:avLst>
              <a:gd name="adj" fmla="val 17986"/>
            </a:avLst>
          </a:prstGeom>
          <a:solidFill>
            <a:srgbClr val="DC143C"/>
          </a:solidFill>
          <a:ln w="12700">
            <a:solidFill>
              <a:srgbClr val="DC143C"/>
            </a:solidFill>
            <a:prstDash val="solid"/>
          </a:ln>
        </p:spPr>
      </p:sp>
      <p:sp>
        <p:nvSpPr>
          <p:cNvPr id="33" name="Shape 30"/>
          <p:cNvSpPr/>
          <p:nvPr/>
        </p:nvSpPr>
        <p:spPr>
          <a:xfrm>
            <a:off x="9854489" y="2554834"/>
            <a:ext cx="863194" cy="254203"/>
          </a:xfrm>
          <a:prstGeom prst="roundRect">
            <a:avLst>
              <a:gd name="adj" fmla="val 17986"/>
            </a:avLst>
          </a:prstGeom>
          <a:solidFill>
            <a:srgbClr val="4682B4"/>
          </a:solidFill>
          <a:ln w="12700">
            <a:solidFill>
              <a:srgbClr val="4682B4"/>
            </a:solidFill>
            <a:prstDash val="solid"/>
          </a:ln>
        </p:spPr>
      </p:sp>
      <p:sp>
        <p:nvSpPr>
          <p:cNvPr id="34" name="Shape 31"/>
          <p:cNvSpPr/>
          <p:nvPr/>
        </p:nvSpPr>
        <p:spPr>
          <a:xfrm>
            <a:off x="10768889" y="2554834"/>
            <a:ext cx="863194" cy="254203"/>
          </a:xfrm>
          <a:prstGeom prst="roundRect">
            <a:avLst>
              <a:gd name="adj" fmla="val 17986"/>
            </a:avLst>
          </a:prstGeom>
          <a:solidFill>
            <a:srgbClr val="4682B4"/>
          </a:solidFill>
          <a:ln w="12700">
            <a:solidFill>
              <a:srgbClr val="4682B4"/>
            </a:solidFill>
            <a:prstDash val="solid"/>
          </a:ln>
        </p:spPr>
      </p:sp>
      <p:sp>
        <p:nvSpPr>
          <p:cNvPr id="35" name="Text 32"/>
          <p:cNvSpPr txBox="1"/>
          <p:nvPr/>
        </p:nvSpPr>
        <p:spPr>
          <a:xfrm>
            <a:off x="6349594" y="2872130"/>
            <a:ext cx="731520" cy="254203"/>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Round 4</a:t>
            </a:r>
            <a:endParaRPr lang="en-US" sz="1100" dirty="0"/>
          </a:p>
        </p:txBody>
      </p:sp>
      <p:sp>
        <p:nvSpPr>
          <p:cNvPr id="36" name="Shape 33"/>
          <p:cNvSpPr/>
          <p:nvPr/>
        </p:nvSpPr>
        <p:spPr>
          <a:xfrm>
            <a:off x="7111289" y="2872130"/>
            <a:ext cx="863194" cy="254203"/>
          </a:xfrm>
          <a:prstGeom prst="roundRect">
            <a:avLst>
              <a:gd name="adj" fmla="val 17986"/>
            </a:avLst>
          </a:prstGeom>
          <a:solidFill>
            <a:srgbClr val="4682B4"/>
          </a:solidFill>
          <a:ln w="12700">
            <a:solidFill>
              <a:srgbClr val="4682B4"/>
            </a:solidFill>
            <a:prstDash val="solid"/>
          </a:ln>
        </p:spPr>
      </p:sp>
      <p:sp>
        <p:nvSpPr>
          <p:cNvPr id="37" name="Shape 34"/>
          <p:cNvSpPr/>
          <p:nvPr/>
        </p:nvSpPr>
        <p:spPr>
          <a:xfrm>
            <a:off x="8025689" y="2872130"/>
            <a:ext cx="863194" cy="254203"/>
          </a:xfrm>
          <a:prstGeom prst="roundRect">
            <a:avLst>
              <a:gd name="adj" fmla="val 17986"/>
            </a:avLst>
          </a:prstGeom>
          <a:solidFill>
            <a:srgbClr val="4682B4"/>
          </a:solidFill>
          <a:ln w="12700">
            <a:solidFill>
              <a:srgbClr val="4682B4"/>
            </a:solidFill>
            <a:prstDash val="solid"/>
          </a:ln>
        </p:spPr>
      </p:sp>
      <p:sp>
        <p:nvSpPr>
          <p:cNvPr id="38" name="Shape 35"/>
          <p:cNvSpPr/>
          <p:nvPr/>
        </p:nvSpPr>
        <p:spPr>
          <a:xfrm>
            <a:off x="8940089" y="2872130"/>
            <a:ext cx="863194" cy="254203"/>
          </a:xfrm>
          <a:prstGeom prst="roundRect">
            <a:avLst>
              <a:gd name="adj" fmla="val 17986"/>
            </a:avLst>
          </a:prstGeom>
          <a:solidFill>
            <a:srgbClr val="4682B4"/>
          </a:solidFill>
          <a:ln w="12700">
            <a:solidFill>
              <a:srgbClr val="4682B4"/>
            </a:solidFill>
            <a:prstDash val="solid"/>
          </a:ln>
        </p:spPr>
      </p:sp>
      <p:sp>
        <p:nvSpPr>
          <p:cNvPr id="39" name="Shape 36"/>
          <p:cNvSpPr/>
          <p:nvPr/>
        </p:nvSpPr>
        <p:spPr>
          <a:xfrm>
            <a:off x="9854489" y="2872130"/>
            <a:ext cx="863194" cy="254203"/>
          </a:xfrm>
          <a:prstGeom prst="roundRect">
            <a:avLst>
              <a:gd name="adj" fmla="val 17986"/>
            </a:avLst>
          </a:prstGeom>
          <a:solidFill>
            <a:srgbClr val="DC143C"/>
          </a:solidFill>
          <a:ln w="12700">
            <a:solidFill>
              <a:srgbClr val="DC143C"/>
            </a:solidFill>
            <a:prstDash val="solid"/>
          </a:ln>
        </p:spPr>
      </p:sp>
      <p:sp>
        <p:nvSpPr>
          <p:cNvPr id="40" name="Shape 37"/>
          <p:cNvSpPr/>
          <p:nvPr/>
        </p:nvSpPr>
        <p:spPr>
          <a:xfrm>
            <a:off x="10768889" y="2872130"/>
            <a:ext cx="863194" cy="254203"/>
          </a:xfrm>
          <a:prstGeom prst="roundRect">
            <a:avLst>
              <a:gd name="adj" fmla="val 17986"/>
            </a:avLst>
          </a:prstGeom>
          <a:solidFill>
            <a:srgbClr val="4682B4"/>
          </a:solidFill>
          <a:ln w="12700">
            <a:solidFill>
              <a:srgbClr val="4682B4"/>
            </a:solidFill>
            <a:prstDash val="solid"/>
          </a:ln>
        </p:spPr>
      </p:sp>
      <p:sp>
        <p:nvSpPr>
          <p:cNvPr id="41" name="Text 38"/>
          <p:cNvSpPr txBox="1"/>
          <p:nvPr/>
        </p:nvSpPr>
        <p:spPr>
          <a:xfrm>
            <a:off x="6349594" y="3189427"/>
            <a:ext cx="731520" cy="254203"/>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Round 5</a:t>
            </a:r>
            <a:endParaRPr lang="en-US" sz="1100" dirty="0"/>
          </a:p>
        </p:txBody>
      </p:sp>
      <p:sp>
        <p:nvSpPr>
          <p:cNvPr id="42" name="Shape 39"/>
          <p:cNvSpPr/>
          <p:nvPr/>
        </p:nvSpPr>
        <p:spPr>
          <a:xfrm>
            <a:off x="7111289" y="3189427"/>
            <a:ext cx="863194" cy="254203"/>
          </a:xfrm>
          <a:prstGeom prst="roundRect">
            <a:avLst>
              <a:gd name="adj" fmla="val 17986"/>
            </a:avLst>
          </a:prstGeom>
          <a:solidFill>
            <a:srgbClr val="4682B4"/>
          </a:solidFill>
          <a:ln w="12700">
            <a:solidFill>
              <a:srgbClr val="4682B4"/>
            </a:solidFill>
            <a:prstDash val="solid"/>
          </a:ln>
        </p:spPr>
      </p:sp>
      <p:sp>
        <p:nvSpPr>
          <p:cNvPr id="43" name="Shape 40"/>
          <p:cNvSpPr/>
          <p:nvPr/>
        </p:nvSpPr>
        <p:spPr>
          <a:xfrm>
            <a:off x="8025689" y="3189427"/>
            <a:ext cx="863194" cy="254203"/>
          </a:xfrm>
          <a:prstGeom prst="roundRect">
            <a:avLst>
              <a:gd name="adj" fmla="val 17986"/>
            </a:avLst>
          </a:prstGeom>
          <a:solidFill>
            <a:srgbClr val="4682B4"/>
          </a:solidFill>
          <a:ln w="12700">
            <a:solidFill>
              <a:srgbClr val="4682B4"/>
            </a:solidFill>
            <a:prstDash val="solid"/>
          </a:ln>
        </p:spPr>
      </p:sp>
      <p:sp>
        <p:nvSpPr>
          <p:cNvPr id="44" name="Shape 41"/>
          <p:cNvSpPr/>
          <p:nvPr/>
        </p:nvSpPr>
        <p:spPr>
          <a:xfrm>
            <a:off x="8940089" y="3189427"/>
            <a:ext cx="863194" cy="254203"/>
          </a:xfrm>
          <a:prstGeom prst="roundRect">
            <a:avLst>
              <a:gd name="adj" fmla="val 17986"/>
            </a:avLst>
          </a:prstGeom>
          <a:solidFill>
            <a:srgbClr val="4682B4"/>
          </a:solidFill>
          <a:ln w="12700">
            <a:solidFill>
              <a:srgbClr val="4682B4"/>
            </a:solidFill>
            <a:prstDash val="solid"/>
          </a:ln>
        </p:spPr>
      </p:sp>
      <p:sp>
        <p:nvSpPr>
          <p:cNvPr id="45" name="Shape 42"/>
          <p:cNvSpPr/>
          <p:nvPr/>
        </p:nvSpPr>
        <p:spPr>
          <a:xfrm>
            <a:off x="9854489" y="3189427"/>
            <a:ext cx="863194" cy="254203"/>
          </a:xfrm>
          <a:prstGeom prst="roundRect">
            <a:avLst>
              <a:gd name="adj" fmla="val 17986"/>
            </a:avLst>
          </a:prstGeom>
          <a:solidFill>
            <a:srgbClr val="4682B4"/>
          </a:solidFill>
          <a:ln w="12700">
            <a:solidFill>
              <a:srgbClr val="4682B4"/>
            </a:solidFill>
            <a:prstDash val="solid"/>
          </a:ln>
        </p:spPr>
      </p:sp>
      <p:sp>
        <p:nvSpPr>
          <p:cNvPr id="46" name="Shape 43"/>
          <p:cNvSpPr/>
          <p:nvPr/>
        </p:nvSpPr>
        <p:spPr>
          <a:xfrm>
            <a:off x="10768889" y="3189427"/>
            <a:ext cx="863194" cy="254203"/>
          </a:xfrm>
          <a:prstGeom prst="roundRect">
            <a:avLst>
              <a:gd name="adj" fmla="val 17986"/>
            </a:avLst>
          </a:prstGeom>
          <a:solidFill>
            <a:srgbClr val="DC143C"/>
          </a:solidFill>
          <a:ln w="12700">
            <a:solidFill>
              <a:srgbClr val="DC143C"/>
            </a:solidFill>
            <a:prstDash val="solid"/>
          </a:ln>
        </p:spPr>
      </p:sp>
      <p:sp>
        <p:nvSpPr>
          <p:cNvPr id="47" name="Text 44"/>
          <p:cNvSpPr txBox="1"/>
          <p:nvPr/>
        </p:nvSpPr>
        <p:spPr>
          <a:xfrm>
            <a:off x="6349594" y="3566160"/>
            <a:ext cx="5330952" cy="502920"/>
          </a:xfrm>
          <a:prstGeom prst="rect">
            <a:avLst/>
          </a:prstGeom>
          <a:noFill/>
          <a:ln/>
        </p:spPr>
        <p:txBody>
          <a:bodyPr wrap="square" lIns="0" tIns="0" rIns="0" bIns="0" rtlCol="0" anchor="t"/>
          <a:lstStyle/>
          <a:p>
            <a:pPr indent="0" marL="0">
              <a:buNone/>
            </a:pPr>
            <a:r>
              <a:rPr lang="en-US" sz="1300" dirty="0">
                <a:solidFill>
                  <a:srgbClr val="5B6675"/>
                </a:solidFill>
                <a:latin typeface="Arial" pitchFamily="34" charset="0"/>
                <a:ea typeface="Arial" pitchFamily="34" charset="-122"/>
                <a:cs typeface="Arial" pitchFamily="34" charset="-120"/>
              </a:rPr>
              <a:t>Each fifth of the data takes a turn as the test set; the 5 scores are averaged. More reliable than one split of only 79 students.</a:t>
            </a:r>
            <a:endParaRPr lang="en-US" sz="1300" dirty="0"/>
          </a:p>
        </p:txBody>
      </p:sp>
      <p:sp>
        <p:nvSpPr>
          <p:cNvPr id="48" name="Text 45"/>
          <p:cNvSpPr txBox="1"/>
          <p:nvPr/>
        </p:nvSpPr>
        <p:spPr>
          <a:xfrm>
            <a:off x="508406" y="3931920"/>
            <a:ext cx="5486400" cy="274320"/>
          </a:xfrm>
          <a:prstGeom prst="rect">
            <a:avLst/>
          </a:prstGeom>
          <a:noFill/>
          <a:ln/>
        </p:spPr>
        <p:txBody>
          <a:bodyPr wrap="square" lIns="0" tIns="0" rIns="0" bIns="0" rtlCol="0" anchor="t"/>
          <a:lstStyle/>
          <a:p>
            <a:pPr indent="0" marL="0">
              <a:buNone/>
            </a:pPr>
            <a:r>
              <a:rPr lang="en-US" sz="1600" b="1" dirty="0">
                <a:solidFill>
                  <a:srgbClr val="1F2A37"/>
                </a:solidFill>
                <a:latin typeface="Arial" pitchFamily="34" charset="0"/>
                <a:ea typeface="Arial" pitchFamily="34" charset="-122"/>
                <a:cs typeface="Arial" pitchFamily="34" charset="-120"/>
              </a:rPr>
              <a:t>3. Two feature sets, same students</a:t>
            </a:r>
            <a:endParaRPr lang="en-US" sz="1600" dirty="0"/>
          </a:p>
        </p:txBody>
      </p:sp>
      <p:sp>
        <p:nvSpPr>
          <p:cNvPr id="49" name="Shape 46"/>
          <p:cNvSpPr/>
          <p:nvPr/>
        </p:nvSpPr>
        <p:spPr>
          <a:xfrm>
            <a:off x="508406" y="4315968"/>
            <a:ext cx="5460797" cy="1901952"/>
          </a:xfrm>
          <a:prstGeom prst="roundRect">
            <a:avLst>
              <a:gd name="adj" fmla="val 6731"/>
            </a:avLst>
          </a:prstGeom>
          <a:solidFill>
            <a:srgbClr val="EAF2F9"/>
          </a:solidFill>
          <a:ln w="12700">
            <a:solidFill>
              <a:srgbClr val="EAF2F9"/>
            </a:solidFill>
            <a:prstDash val="solid"/>
          </a:ln>
        </p:spPr>
      </p:sp>
      <p:sp>
        <p:nvSpPr>
          <p:cNvPr id="50" name="Text 47"/>
          <p:cNvSpPr txBox="1"/>
          <p:nvPr/>
        </p:nvSpPr>
        <p:spPr>
          <a:xfrm>
            <a:off x="764438" y="4498848"/>
            <a:ext cx="4937760" cy="320040"/>
          </a:xfrm>
          <a:prstGeom prst="rect">
            <a:avLst/>
          </a:prstGeom>
          <a:noFill/>
          <a:ln/>
        </p:spPr>
        <p:txBody>
          <a:bodyPr wrap="square" lIns="0" tIns="0" rIns="0" bIns="0" rtlCol="0" anchor="t"/>
          <a:lstStyle/>
          <a:p>
            <a:pPr indent="0" marL="0">
              <a:buNone/>
            </a:pPr>
            <a:r>
              <a:rPr lang="en-US" sz="1700" b="1" dirty="0">
                <a:solidFill>
                  <a:srgbClr val="4682B4"/>
                </a:solidFill>
                <a:latin typeface="Arial" pitchFamily="34" charset="0"/>
                <a:ea typeface="Arial" pitchFamily="34" charset="-122"/>
                <a:cs typeface="Arial" pitchFamily="34" charset="-120"/>
              </a:rPr>
              <a:t>With G1 / G2  (41 features)</a:t>
            </a:r>
            <a:endParaRPr lang="en-US" sz="1700" dirty="0"/>
          </a:p>
        </p:txBody>
      </p:sp>
      <p:sp>
        <p:nvSpPr>
          <p:cNvPr id="51" name="Text 48"/>
          <p:cNvSpPr txBox="1"/>
          <p:nvPr/>
        </p:nvSpPr>
        <p:spPr>
          <a:xfrm>
            <a:off x="764438" y="4892040"/>
            <a:ext cx="4937760" cy="1097280"/>
          </a:xfrm>
          <a:prstGeom prst="rect">
            <a:avLst/>
          </a:prstGeom>
          <a:noFill/>
          <a:ln/>
        </p:spPr>
        <p:txBody>
          <a:bodyPr wrap="square" lIns="0" tIns="0" rIns="0" bIns="0" rtlCol="0" anchor="t"/>
          <a:lstStyle/>
          <a:p>
            <a:pPr indent="0" marL="0">
              <a:spcAft>
                <a:spcPts val="400"/>
              </a:spcAft>
              <a:buNone/>
            </a:pPr>
            <a:r>
              <a:rPr lang="en-US" sz="1400" dirty="0">
                <a:solidFill>
                  <a:srgbClr val="1F2A37"/>
                </a:solidFill>
                <a:latin typeface="Arial" pitchFamily="34" charset="0"/>
                <a:ea typeface="Arial" pitchFamily="34" charset="-122"/>
                <a:cs typeface="Arial" pitchFamily="34" charset="-120"/>
              </a:rPr>
              <a:t>Includes the 1st and 2nd period grades.</a:t>
            </a:r>
            <a:endParaRPr lang="en-US" sz="1400" dirty="0"/>
          </a:p>
          <a:p>
            <a:pPr indent="0" marL="0">
              <a:spcAft>
                <a:spcPts val="400"/>
              </a:spcAft>
              <a:buNone/>
            </a:pPr>
            <a:r>
              <a:rPr lang="en-US" sz="1400" b="1" dirty="0">
                <a:solidFill>
                  <a:srgbClr val="1F2A37"/>
                </a:solidFill>
                <a:latin typeface="Arial" pitchFamily="34" charset="0"/>
                <a:ea typeface="Arial" pitchFamily="34" charset="-122"/>
                <a:cs typeface="Arial" pitchFamily="34" charset="-120"/>
              </a:rPr>
              <a:t>Scenario: </a:t>
            </a:r>
            <a:pPr indent="0" marL="0">
              <a:spcAft>
                <a:spcPts val="400"/>
              </a:spcAft>
              <a:buNone/>
            </a:pPr>
            <a:r>
              <a:rPr lang="en-US" sz="1400" dirty="0">
                <a:solidFill>
                  <a:srgbClr val="1F2A37"/>
                </a:solidFill>
                <a:latin typeface="Arial" pitchFamily="34" charset="0"/>
                <a:ea typeface="Arial" pitchFamily="34" charset="-122"/>
                <a:cs typeface="Arial" pitchFamily="34" charset="-120"/>
              </a:rPr>
              <a:t>predicting the final grade </a:t>
            </a:r>
            <a:pPr indent="0" marL="0">
              <a:spcAft>
                <a:spcPts val="400"/>
              </a:spcAft>
              <a:buNone/>
            </a:pPr>
            <a:r>
              <a:rPr lang="en-US" sz="1400" i="1" dirty="0">
                <a:solidFill>
                  <a:srgbClr val="1F2A37"/>
                </a:solidFill>
                <a:latin typeface="Arial" pitchFamily="34" charset="0"/>
                <a:ea typeface="Arial" pitchFamily="34" charset="-122"/>
                <a:cs typeface="Arial" pitchFamily="34" charset="-120"/>
              </a:rPr>
              <a:t>during</a:t>
            </a:r>
            <a:pPr indent="0" marL="0">
              <a:spcAft>
                <a:spcPts val="400"/>
              </a:spcAft>
              <a:buNone/>
            </a:pPr>
            <a:r>
              <a:rPr lang="en-US" sz="1400" dirty="0">
                <a:solidFill>
                  <a:srgbClr val="1F2A37"/>
                </a:solidFill>
                <a:latin typeface="Arial" pitchFamily="34" charset="0"/>
                <a:ea typeface="Arial" pitchFamily="34" charset="-122"/>
                <a:cs typeface="Arial" pitchFamily="34" charset="-120"/>
              </a:rPr>
              <a:t> the school year.</a:t>
            </a:r>
            <a:endParaRPr lang="en-US" sz="1400" dirty="0"/>
          </a:p>
        </p:txBody>
      </p:sp>
      <p:sp>
        <p:nvSpPr>
          <p:cNvPr id="52" name="Shape 49"/>
          <p:cNvSpPr/>
          <p:nvPr/>
        </p:nvSpPr>
        <p:spPr>
          <a:xfrm>
            <a:off x="6223406" y="4315968"/>
            <a:ext cx="5460797" cy="1901952"/>
          </a:xfrm>
          <a:prstGeom prst="roundRect">
            <a:avLst>
              <a:gd name="adj" fmla="val 6731"/>
            </a:avLst>
          </a:prstGeom>
          <a:solidFill>
            <a:srgbClr val="FCEBEE"/>
          </a:solidFill>
          <a:ln w="12700">
            <a:solidFill>
              <a:srgbClr val="FCEBEE"/>
            </a:solidFill>
            <a:prstDash val="solid"/>
          </a:ln>
        </p:spPr>
      </p:sp>
      <p:sp>
        <p:nvSpPr>
          <p:cNvPr id="53" name="Text 50"/>
          <p:cNvSpPr txBox="1"/>
          <p:nvPr/>
        </p:nvSpPr>
        <p:spPr>
          <a:xfrm>
            <a:off x="6479438" y="4498848"/>
            <a:ext cx="4937760" cy="320040"/>
          </a:xfrm>
          <a:prstGeom prst="rect">
            <a:avLst/>
          </a:prstGeom>
          <a:noFill/>
          <a:ln/>
        </p:spPr>
        <p:txBody>
          <a:bodyPr wrap="square" lIns="0" tIns="0" rIns="0" bIns="0" rtlCol="0" anchor="t"/>
          <a:lstStyle/>
          <a:p>
            <a:pPr indent="0" marL="0">
              <a:buNone/>
            </a:pPr>
            <a:r>
              <a:rPr lang="en-US" sz="1700" b="1" dirty="0">
                <a:solidFill>
                  <a:srgbClr val="DC143C"/>
                </a:solidFill>
                <a:latin typeface="Arial" pitchFamily="34" charset="0"/>
                <a:ea typeface="Arial" pitchFamily="34" charset="-122"/>
                <a:cs typeface="Arial" pitchFamily="34" charset="-120"/>
              </a:rPr>
              <a:t>Without G1 / G2  (39 features)</a:t>
            </a:r>
            <a:endParaRPr lang="en-US" sz="1700" dirty="0"/>
          </a:p>
        </p:txBody>
      </p:sp>
      <p:sp>
        <p:nvSpPr>
          <p:cNvPr id="54" name="Text 51"/>
          <p:cNvSpPr txBox="1"/>
          <p:nvPr/>
        </p:nvSpPr>
        <p:spPr>
          <a:xfrm>
            <a:off x="6479438" y="4892040"/>
            <a:ext cx="4937760" cy="1097280"/>
          </a:xfrm>
          <a:prstGeom prst="rect">
            <a:avLst/>
          </a:prstGeom>
          <a:noFill/>
          <a:ln/>
        </p:spPr>
        <p:txBody>
          <a:bodyPr wrap="square" lIns="0" tIns="0" rIns="0" bIns="0" rtlCol="0" anchor="t"/>
          <a:lstStyle/>
          <a:p>
            <a:pPr indent="0" marL="0">
              <a:spcAft>
                <a:spcPts val="400"/>
              </a:spcAft>
              <a:buNone/>
            </a:pPr>
            <a:r>
              <a:rPr lang="en-US" sz="1400" dirty="0">
                <a:solidFill>
                  <a:srgbClr val="1F2A37"/>
                </a:solidFill>
                <a:latin typeface="Arial" pitchFamily="34" charset="0"/>
                <a:ea typeface="Arial" pitchFamily="34" charset="-122"/>
                <a:cs typeface="Arial" pitchFamily="34" charset="-120"/>
              </a:rPr>
              <a:t>Only background factors: family, study time, absences, social life...</a:t>
            </a:r>
            <a:endParaRPr lang="en-US" sz="1400" dirty="0"/>
          </a:p>
          <a:p>
            <a:pPr indent="0" marL="0">
              <a:spcAft>
                <a:spcPts val="400"/>
              </a:spcAft>
              <a:buNone/>
            </a:pPr>
            <a:r>
              <a:rPr lang="en-US" sz="1400" b="1" dirty="0">
                <a:solidFill>
                  <a:srgbClr val="1F2A37"/>
                </a:solidFill>
                <a:latin typeface="Arial" pitchFamily="34" charset="0"/>
                <a:ea typeface="Arial" pitchFamily="34" charset="-122"/>
                <a:cs typeface="Arial" pitchFamily="34" charset="-120"/>
              </a:rPr>
              <a:t>Scenario: </a:t>
            </a:r>
            <a:pPr indent="0" marL="0">
              <a:spcAft>
                <a:spcPts val="400"/>
              </a:spcAft>
              <a:buNone/>
            </a:pPr>
            <a:r>
              <a:rPr lang="en-US" sz="1400" dirty="0">
                <a:solidFill>
                  <a:srgbClr val="1F2A37"/>
                </a:solidFill>
                <a:latin typeface="Arial" pitchFamily="34" charset="0"/>
                <a:ea typeface="Arial" pitchFamily="34" charset="-122"/>
                <a:cs typeface="Arial" pitchFamily="34" charset="-120"/>
              </a:rPr>
              <a:t>predicting </a:t>
            </a:r>
            <a:pPr indent="0" marL="0">
              <a:spcAft>
                <a:spcPts val="400"/>
              </a:spcAft>
              <a:buNone/>
            </a:pPr>
            <a:r>
              <a:rPr lang="en-US" sz="1400" i="1" dirty="0">
                <a:solidFill>
                  <a:srgbClr val="1F2A37"/>
                </a:solidFill>
                <a:latin typeface="Arial" pitchFamily="34" charset="0"/>
                <a:ea typeface="Arial" pitchFamily="34" charset="-122"/>
                <a:cs typeface="Arial" pitchFamily="34" charset="-120"/>
              </a:rPr>
              <a:t>before</a:t>
            </a:r>
            <a:pPr indent="0" marL="0">
              <a:spcAft>
                <a:spcPts val="400"/>
              </a:spcAft>
              <a:buNone/>
            </a:pPr>
            <a:r>
              <a:rPr lang="en-US" sz="1400" dirty="0">
                <a:solidFill>
                  <a:srgbClr val="1F2A37"/>
                </a:solidFill>
                <a:latin typeface="Arial" pitchFamily="34" charset="0"/>
                <a:ea typeface="Arial" pitchFamily="34" charset="-122"/>
                <a:cs typeface="Arial" pitchFamily="34" charset="-120"/>
              </a:rPr>
              <a:t> the year starts (early warning).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4682B4"/>
          </a:solidFill>
          <a:ln w="12700">
            <a:solidFill>
              <a:srgbClr val="4682B4"/>
            </a:solidFill>
            <a:prstDash val="solid"/>
          </a:ln>
        </p:spPr>
      </p:sp>
      <p:sp>
        <p:nvSpPr>
          <p:cNvPr id="3" name="Text 1"/>
          <p:cNvSpPr txBox="1"/>
          <p:nvPr/>
        </p:nvSpPr>
        <p:spPr>
          <a:xfrm>
            <a:off x="508406" y="347472"/>
            <a:ext cx="914400" cy="228600"/>
          </a:xfrm>
          <a:prstGeom prst="rect">
            <a:avLst/>
          </a:prstGeom>
          <a:noFill/>
          <a:ln/>
        </p:spPr>
        <p:txBody>
          <a:bodyPr wrap="square" lIns="0" tIns="0" rIns="0" bIns="0" rtlCol="0" anchor="t"/>
          <a:lstStyle/>
          <a:p>
            <a:pPr indent="0" marL="0">
              <a:buNone/>
            </a:pPr>
            <a:r>
              <a:rPr lang="en-US" sz="1300" b="1" dirty="0">
                <a:solidFill>
                  <a:srgbClr val="4682B4"/>
                </a:solidFill>
                <a:latin typeface="Arial" pitchFamily="34" charset="0"/>
                <a:ea typeface="Arial" pitchFamily="34" charset="-122"/>
                <a:cs typeface="Arial" pitchFamily="34" charset="-120"/>
              </a:rPr>
              <a:t>09</a:t>
            </a:r>
            <a:endParaRPr lang="en-US" sz="1300" dirty="0"/>
          </a:p>
        </p:txBody>
      </p:sp>
      <p:sp>
        <p:nvSpPr>
          <p:cNvPr id="4" name="Text 2"/>
          <p:cNvSpPr txBox="1"/>
          <p:nvPr/>
        </p:nvSpPr>
        <p:spPr>
          <a:xfrm>
            <a:off x="508406" y="621792"/>
            <a:ext cx="11174882" cy="502920"/>
          </a:xfrm>
          <a:prstGeom prst="rect">
            <a:avLst/>
          </a:prstGeom>
          <a:noFill/>
          <a:ln/>
        </p:spPr>
        <p:txBody>
          <a:bodyPr wrap="square" lIns="0" tIns="0" rIns="0" bIns="0" rtlCol="0" anchor="t"/>
          <a:lstStyle/>
          <a:p>
            <a:pPr indent="0" marL="0">
              <a:buNone/>
            </a:pPr>
            <a:r>
              <a:rPr lang="en-US" sz="2800" b="1" dirty="0">
                <a:solidFill>
                  <a:srgbClr val="1F2A37"/>
                </a:solidFill>
                <a:latin typeface="Arial" pitchFamily="34" charset="0"/>
                <a:ea typeface="Arial" pitchFamily="34" charset="-122"/>
                <a:cs typeface="Arial" pitchFamily="34" charset="-120"/>
              </a:rPr>
              <a:t>Performance Metrics &amp; Results</a:t>
            </a:r>
            <a:endParaRPr lang="en-US" sz="2800" dirty="0"/>
          </a:p>
        </p:txBody>
      </p:sp>
      <p:sp>
        <p:nvSpPr>
          <p:cNvPr id="5" name="Text 3"/>
          <p:cNvSpPr txBox="1"/>
          <p:nvPr/>
        </p:nvSpPr>
        <p:spPr>
          <a:xfrm>
            <a:off x="508406" y="1115568"/>
            <a:ext cx="11174882" cy="274320"/>
          </a:xfrm>
          <a:prstGeom prst="rect">
            <a:avLst/>
          </a:prstGeom>
          <a:noFill/>
          <a:ln/>
        </p:spPr>
        <p:txBody>
          <a:bodyPr wrap="square" lIns="0" tIns="0" rIns="0" bIns="0" rtlCol="0" anchor="t"/>
          <a:lstStyle/>
          <a:p>
            <a:pPr indent="0" marL="0">
              <a:buNone/>
            </a:pPr>
            <a:r>
              <a:rPr lang="en-US" sz="1400" dirty="0">
                <a:solidFill>
                  <a:srgbClr val="5B6675"/>
                </a:solidFill>
                <a:latin typeface="Arial" pitchFamily="34" charset="0"/>
                <a:ea typeface="Arial" pitchFamily="34" charset="-122"/>
                <a:cs typeface="Arial" pitchFamily="34" charset="-120"/>
              </a:rPr>
              <a:t>Test set = 79 students; CV = average over 5 folds</a:t>
            </a:r>
            <a:endParaRPr lang="en-US" sz="1400" dirty="0"/>
          </a:p>
        </p:txBody>
      </p:sp>
      <p:sp>
        <p:nvSpPr>
          <p:cNvPr id="6" name="Shape 4"/>
          <p:cNvSpPr/>
          <p:nvPr/>
        </p:nvSpPr>
        <p:spPr>
          <a:xfrm>
            <a:off x="508406" y="6473952"/>
            <a:ext cx="11174882" cy="0"/>
          </a:xfrm>
          <a:prstGeom prst="line">
            <a:avLst/>
          </a:prstGeom>
          <a:noFill/>
          <a:ln w="9525">
            <a:solidFill>
              <a:srgbClr val="D9DEE5"/>
            </a:solidFill>
            <a:prstDash val="solid"/>
          </a:ln>
        </p:spPr>
      </p:sp>
      <p:sp>
        <p:nvSpPr>
          <p:cNvPr id="7" name="Text 5"/>
          <p:cNvSpPr txBox="1"/>
          <p:nvPr/>
        </p:nvSpPr>
        <p:spPr>
          <a:xfrm>
            <a:off x="508406" y="6537960"/>
            <a:ext cx="7315200" cy="201168"/>
          </a:xfrm>
          <a:prstGeom prst="rect">
            <a:avLst/>
          </a:prstGeom>
          <a:noFill/>
          <a:ln/>
        </p:spPr>
        <p:txBody>
          <a:bodyPr wrap="square" lIns="0" tIns="0" rIns="0" bIns="0" rtlCol="0" anchor="t"/>
          <a:lstStyle/>
          <a:p>
            <a:pPr indent="0" marL="0">
              <a:buNone/>
            </a:pPr>
            <a:r>
              <a:rPr lang="en-US" sz="1000" dirty="0">
                <a:solidFill>
                  <a:srgbClr val="5B6675"/>
                </a:solidFill>
                <a:latin typeface="Arial" pitchFamily="34" charset="0"/>
                <a:ea typeface="Arial" pitchFamily="34" charset="-122"/>
                <a:cs typeface="Arial" pitchFamily="34" charset="-120"/>
              </a:rPr>
              <a:t>Predicting Student Performance  |  Part B: Modeling &amp; Evaluation</a:t>
            </a:r>
            <a:endParaRPr lang="en-US" sz="1000" dirty="0"/>
          </a:p>
        </p:txBody>
      </p:sp>
      <p:sp>
        <p:nvSpPr>
          <p:cNvPr id="8" name="Text 6"/>
          <p:cNvSpPr txBox="1"/>
          <p:nvPr/>
        </p:nvSpPr>
        <p:spPr>
          <a:xfrm>
            <a:off x="10768889" y="6537960"/>
            <a:ext cx="914400" cy="201168"/>
          </a:xfrm>
          <a:prstGeom prst="rect">
            <a:avLst/>
          </a:prstGeom>
          <a:noFill/>
          <a:ln/>
        </p:spPr>
        <p:txBody>
          <a:bodyPr wrap="square" lIns="0" tIns="0" rIns="0" bIns="0" rtlCol="0" anchor="t"/>
          <a:lstStyle/>
          <a:p>
            <a:pPr algn="r" indent="0" marL="0">
              <a:buNone/>
            </a:pPr>
            <a:r>
              <a:rPr lang="en-US" sz="1000" dirty="0">
                <a:solidFill>
                  <a:srgbClr val="5B6675"/>
                </a:solidFill>
                <a:latin typeface="Arial" pitchFamily="34" charset="0"/>
                <a:ea typeface="Arial" pitchFamily="34" charset="-122"/>
                <a:cs typeface="Arial" pitchFamily="34" charset="-120"/>
              </a:rPr>
              <a:t>9</a:t>
            </a:r>
            <a:endParaRPr lang="en-US" sz="1000" dirty="0"/>
          </a:p>
        </p:txBody>
      </p:sp>
      <p:sp>
        <p:nvSpPr>
          <p:cNvPr id="10" name="Shape 7"/>
          <p:cNvSpPr/>
          <p:nvPr/>
        </p:nvSpPr>
        <p:spPr>
          <a:xfrm>
            <a:off x="508406" y="1481328"/>
            <a:ext cx="5460797" cy="886968"/>
          </a:xfrm>
          <a:prstGeom prst="roundRect">
            <a:avLst>
              <a:gd name="adj" fmla="val 14433"/>
            </a:avLst>
          </a:prstGeom>
          <a:solidFill>
            <a:srgbClr val="EAF2F9"/>
          </a:solidFill>
          <a:ln w="12700">
            <a:solidFill>
              <a:srgbClr val="EAF2F9"/>
            </a:solidFill>
            <a:prstDash val="solid"/>
          </a:ln>
        </p:spPr>
      </p:sp>
      <p:sp>
        <p:nvSpPr>
          <p:cNvPr id="11" name="Shape 8"/>
          <p:cNvSpPr/>
          <p:nvPr/>
        </p:nvSpPr>
        <p:spPr>
          <a:xfrm>
            <a:off x="6223406" y="1481328"/>
            <a:ext cx="5460797" cy="886968"/>
          </a:xfrm>
          <a:prstGeom prst="roundRect">
            <a:avLst>
              <a:gd name="adj" fmla="val 14433"/>
            </a:avLst>
          </a:prstGeom>
          <a:solidFill>
            <a:srgbClr val="EAF2F9"/>
          </a:solidFill>
          <a:ln w="12700">
            <a:solidFill>
              <a:srgbClr val="EAF2F9"/>
            </a:solidFill>
            <a:prstDash val="solid"/>
          </a:ln>
        </p:spPr>
      </p:sp>
      <p:sp>
        <p:nvSpPr>
          <p:cNvPr id="12" name="Text 9"/>
          <p:cNvSpPr txBox="1"/>
          <p:nvPr/>
        </p:nvSpPr>
        <p:spPr>
          <a:xfrm>
            <a:off x="737006" y="1572768"/>
            <a:ext cx="5029200" cy="731520"/>
          </a:xfrm>
          <a:prstGeom prst="rect">
            <a:avLst/>
          </a:prstGeom>
          <a:noFill/>
          <a:ln/>
        </p:spPr>
        <p:txBody>
          <a:bodyPr wrap="square" lIns="0" tIns="0" rIns="0" bIns="0" rtlCol="0" anchor="t"/>
          <a:lstStyle/>
          <a:p>
            <a:pPr indent="0" marL="0">
              <a:buNone/>
            </a:pPr>
            <a:r>
              <a:rPr lang="en-US" sz="1400" b="1" dirty="0">
                <a:solidFill>
                  <a:srgbClr val="4682B4"/>
                </a:solidFill>
                <a:latin typeface="Arial" pitchFamily="34" charset="0"/>
                <a:ea typeface="Arial" pitchFamily="34" charset="-122"/>
                <a:cs typeface="Arial" pitchFamily="34" charset="-120"/>
              </a:rPr>
              <a:t>MSE</a:t>
            </a:r>
            <a:pPr indent="0" marL="0">
              <a:buNone/>
            </a:pPr>
            <a:r>
              <a:rPr lang="en-US" sz="1400" dirty="0">
                <a:solidFill>
                  <a:srgbClr val="1F2A37"/>
                </a:solidFill>
                <a:latin typeface="Arial" pitchFamily="34" charset="0"/>
                <a:ea typeface="Arial" pitchFamily="34" charset="-122"/>
                <a:cs typeface="Arial" pitchFamily="34" charset="-120"/>
              </a:rPr>
              <a:t>  (Mean Squared Error)</a:t>
            </a:r>
            <a:endParaRPr lang="en-US" sz="1400" dirty="0"/>
          </a:p>
          <a:p>
            <a:pPr indent="0" marL="0">
              <a:buNone/>
            </a:pPr>
            <a:r>
              <a:rPr lang="en-US" sz="1400" dirty="0">
                <a:solidFill>
                  <a:srgbClr val="1F2A37"/>
                </a:solidFill>
                <a:latin typeface="Arial" pitchFamily="34" charset="0"/>
                <a:ea typeface="Arial" pitchFamily="34" charset="-122"/>
                <a:cs typeface="Arial" pitchFamily="34" charset="-120"/>
              </a:rPr>
              <a:t>Average of (actual - predicted)². </a:t>
            </a:r>
            <a:pPr indent="0" marL="0">
              <a:buNone/>
            </a:pPr>
            <a:r>
              <a:rPr lang="en-US" sz="1400" b="1" dirty="0">
                <a:solidFill>
                  <a:srgbClr val="1F2A37"/>
                </a:solidFill>
                <a:latin typeface="Arial" pitchFamily="34" charset="0"/>
                <a:ea typeface="Arial" pitchFamily="34" charset="-122"/>
                <a:cs typeface="Arial" pitchFamily="34" charset="-120"/>
              </a:rPr>
              <a:t>Lower is better.</a:t>
            </a:r>
            <a:endParaRPr lang="en-US" sz="1400" dirty="0"/>
          </a:p>
        </p:txBody>
      </p:sp>
      <p:sp>
        <p:nvSpPr>
          <p:cNvPr id="13" name="Text 10"/>
          <p:cNvSpPr txBox="1"/>
          <p:nvPr/>
        </p:nvSpPr>
        <p:spPr>
          <a:xfrm>
            <a:off x="6452006" y="1572768"/>
            <a:ext cx="5029200" cy="731520"/>
          </a:xfrm>
          <a:prstGeom prst="rect">
            <a:avLst/>
          </a:prstGeom>
          <a:noFill/>
          <a:ln/>
        </p:spPr>
        <p:txBody>
          <a:bodyPr wrap="square" lIns="0" tIns="0" rIns="0" bIns="0" rtlCol="0" anchor="t"/>
          <a:lstStyle/>
          <a:p>
            <a:pPr indent="0" marL="0">
              <a:buNone/>
            </a:pPr>
            <a:r>
              <a:rPr lang="en-US" sz="1400" b="1" dirty="0">
                <a:solidFill>
                  <a:srgbClr val="4682B4"/>
                </a:solidFill>
                <a:latin typeface="Arial" pitchFamily="34" charset="0"/>
                <a:ea typeface="Arial" pitchFamily="34" charset="-122"/>
                <a:cs typeface="Arial" pitchFamily="34" charset="-120"/>
              </a:rPr>
              <a:t>R²</a:t>
            </a:r>
            <a:pPr indent="0" marL="0">
              <a:buNone/>
            </a:pPr>
            <a:r>
              <a:rPr lang="en-US" sz="1400" dirty="0">
                <a:solidFill>
                  <a:srgbClr val="1F2A37"/>
                </a:solidFill>
                <a:latin typeface="Arial" pitchFamily="34" charset="0"/>
                <a:ea typeface="Arial" pitchFamily="34" charset="-122"/>
                <a:cs typeface="Arial" pitchFamily="34" charset="-120"/>
              </a:rPr>
              <a:t>  (coefficient of determination)</a:t>
            </a:r>
            <a:endParaRPr lang="en-US" sz="1400" dirty="0"/>
          </a:p>
          <a:p>
            <a:pPr indent="0" marL="0">
              <a:buNone/>
            </a:pPr>
            <a:r>
              <a:rPr lang="en-US" sz="1400" dirty="0">
                <a:solidFill>
                  <a:srgbClr val="1F2A37"/>
                </a:solidFill>
                <a:latin typeface="Arial" pitchFamily="34" charset="0"/>
                <a:ea typeface="Arial" pitchFamily="34" charset="-122"/>
                <a:cs typeface="Arial" pitchFamily="34" charset="-120"/>
              </a:rPr>
              <a:t>Share of grade variation the model explains. </a:t>
            </a:r>
            <a:pPr indent="0" marL="0">
              <a:buNone/>
            </a:pPr>
            <a:r>
              <a:rPr lang="en-US" sz="1400" b="1" dirty="0">
                <a:solidFill>
                  <a:srgbClr val="1F2A37"/>
                </a:solidFill>
                <a:latin typeface="Arial" pitchFamily="34" charset="0"/>
                <a:ea typeface="Arial" pitchFamily="34" charset="-122"/>
                <a:cs typeface="Arial" pitchFamily="34" charset="-120"/>
              </a:rPr>
              <a:t>1 = perfect, 0 = guessing the average.</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8406" y="2651760"/>
          <a:ext cx="11173968" cy="914400"/>
        </p:xfrm>
        <a:graphic>
          <a:graphicData uri="http://schemas.openxmlformats.org/drawingml/2006/table">
            <a:tbl>
              <a:tblPr/>
              <a:tblGrid>
                <a:gridCol w="2667305"/>
                <a:gridCol w="2286000"/>
                <a:gridCol w="1651406"/>
                <a:gridCol w="1904695"/>
                <a:gridCol w="2667305"/>
              </a:tblGrid>
              <a:tr h="457200">
                <a:tc>
                  <a:txBody>
                    <a:bodyPr/>
                    <a:lstStyle/>
                    <a:p>
                      <a:pPr algn="l" indent="0" marL="0">
                        <a:buNone/>
                      </a:pPr>
                      <a:r>
                        <a:rPr lang="en-US" sz="1500" b="1" dirty="0">
                          <a:solidFill>
                            <a:srgbClr val="FFFFFF"/>
                          </a:solidFill>
                          <a:latin typeface="Arial" pitchFamily="34" charset="0"/>
                          <a:ea typeface="Arial" pitchFamily="34" charset="-122"/>
                          <a:cs typeface="Arial" pitchFamily="34" charset="-120"/>
                        </a:rPr>
                        <a:t>Model</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0" cap="flat" cmpd="sng" algn="ctr">
                      <a:noFill/>
                    </a:lnB>
                    <a:solidFill>
                      <a:srgbClr val="1F2A37"/>
                    </a:solidFill>
                  </a:tcPr>
                </a:tc>
                <a:tc>
                  <a:txBody>
                    <a:bodyPr/>
                    <a:lstStyle/>
                    <a:p>
                      <a:pPr algn="l" indent="0" marL="0">
                        <a:buNone/>
                      </a:pPr>
                      <a:r>
                        <a:rPr lang="en-US" sz="1500" b="1" dirty="0">
                          <a:solidFill>
                            <a:srgbClr val="FFFFFF"/>
                          </a:solidFill>
                          <a:latin typeface="Arial" pitchFamily="34" charset="0"/>
                          <a:ea typeface="Arial" pitchFamily="34" charset="-122"/>
                          <a:cs typeface="Arial" pitchFamily="34" charset="-120"/>
                        </a:rPr>
                        <a:t>Features</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0" cap="flat" cmpd="sng" algn="ctr">
                      <a:noFill/>
                    </a:lnB>
                    <a:solidFill>
                      <a:srgbClr val="1F2A37"/>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MSE</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0" cap="flat" cmpd="sng" algn="ctr">
                      <a:noFill/>
                    </a:lnB>
                    <a:solidFill>
                      <a:srgbClr val="1F2A37"/>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R² (test)</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0" cap="flat" cmpd="sng" algn="ctr">
                      <a:noFill/>
                    </a:lnB>
                    <a:solidFill>
                      <a:srgbClr val="1F2A37"/>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R² (5-fold CV)</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0" cap="flat" cmpd="sng" algn="ctr">
                      <a:noFill/>
                    </a:lnB>
                    <a:solidFill>
                      <a:srgbClr val="1F2A37"/>
                    </a:solidFill>
                  </a:tcPr>
                </a:tc>
              </a:tr>
              <a:tr h="457200">
                <a:tc>
                  <a:txBody>
                    <a:bodyPr/>
                    <a:lstStyle/>
                    <a:p>
                      <a:pPr algn="l" indent="0" marL="0">
                        <a:buNone/>
                      </a:pPr>
                      <a:r>
                        <a:rPr lang="en-US" sz="1500" dirty="0">
                          <a:solidFill>
                            <a:srgbClr val="1F2A37"/>
                          </a:solidFill>
                          <a:latin typeface="Arial" pitchFamily="34" charset="0"/>
                          <a:ea typeface="Arial" pitchFamily="34" charset="-122"/>
                          <a:cs typeface="Arial" pitchFamily="34" charset="-120"/>
                        </a:rPr>
                        <a:t>Linear Regression</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A37"/>
                          </a:solidFill>
                          <a:latin typeface="Arial" pitchFamily="34" charset="0"/>
                          <a:ea typeface="Arial" pitchFamily="34" charset="-122"/>
                          <a:cs typeface="Arial" pitchFamily="34" charset="-120"/>
                        </a:rPr>
                        <a:t>with G1/G2</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latin typeface="Arial" pitchFamily="34" charset="0"/>
                          <a:ea typeface="Arial" pitchFamily="34" charset="-122"/>
                          <a:cs typeface="Arial" pitchFamily="34" charset="-120"/>
                        </a:rPr>
                        <a:t>5.66</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latin typeface="Arial" pitchFamily="34" charset="0"/>
                          <a:ea typeface="Arial" pitchFamily="34" charset="-122"/>
                          <a:cs typeface="Arial" pitchFamily="34" charset="-120"/>
                        </a:rPr>
                        <a:t>0.724</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latin typeface="Arial" pitchFamily="34" charset="0"/>
                          <a:ea typeface="Arial" pitchFamily="34" charset="-122"/>
                          <a:cs typeface="Arial" pitchFamily="34" charset="-120"/>
                        </a:rPr>
                        <a:t>0.792</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1F2A37"/>
                          </a:solidFill>
                          <a:latin typeface="Arial" pitchFamily="34" charset="0"/>
                          <a:ea typeface="Arial" pitchFamily="34" charset="-122"/>
                          <a:cs typeface="Arial" pitchFamily="34" charset="-120"/>
                        </a:rPr>
                        <a:t>Linear Regression</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A37"/>
                          </a:solidFill>
                          <a:latin typeface="Arial" pitchFamily="34" charset="0"/>
                          <a:ea typeface="Arial" pitchFamily="34" charset="-122"/>
                          <a:cs typeface="Arial" pitchFamily="34" charset="-120"/>
                        </a:rPr>
                        <a:t>without G1/G2</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latin typeface="Arial" pitchFamily="34" charset="0"/>
                          <a:ea typeface="Arial" pitchFamily="34" charset="-122"/>
                          <a:cs typeface="Arial" pitchFamily="34" charset="-120"/>
                        </a:rPr>
                        <a:t>17.60</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latin typeface="Arial" pitchFamily="34" charset="0"/>
                          <a:ea typeface="Arial" pitchFamily="34" charset="-122"/>
                          <a:cs typeface="Arial" pitchFamily="34" charset="-120"/>
                        </a:rPr>
                        <a:t>0.141</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latin typeface="Arial" pitchFamily="34" charset="0"/>
                          <a:ea typeface="Arial" pitchFamily="34" charset="-122"/>
                          <a:cs typeface="Arial" pitchFamily="34" charset="-120"/>
                        </a:rPr>
                        <a:t>0.026</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r>
              <a:tr h="457200">
                <a:tc>
                  <a:txBody>
                    <a:bodyPr/>
                    <a:lstStyle/>
                    <a:p>
                      <a:pPr algn="l" indent="0" marL="0">
                        <a:buNone/>
                      </a:pPr>
                      <a:r>
                        <a:rPr lang="en-US" sz="1500" b="1" dirty="0">
                          <a:solidFill>
                            <a:srgbClr val="2F7D4A"/>
                          </a:solidFill>
                          <a:latin typeface="Arial" pitchFamily="34" charset="0"/>
                          <a:ea typeface="Arial" pitchFamily="34" charset="-122"/>
                          <a:cs typeface="Arial" pitchFamily="34" charset="-120"/>
                        </a:rPr>
                        <a:t>Random Forest</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E8F5EC"/>
                    </a:solidFill>
                  </a:tcPr>
                </a:tc>
                <a:tc>
                  <a:txBody>
                    <a:bodyPr/>
                    <a:lstStyle/>
                    <a:p>
                      <a:pPr algn="l" indent="0" marL="0">
                        <a:buNone/>
                      </a:pPr>
                      <a:r>
                        <a:rPr lang="en-US" sz="1500" b="1" dirty="0">
                          <a:solidFill>
                            <a:srgbClr val="2F7D4A"/>
                          </a:solidFill>
                          <a:latin typeface="Arial" pitchFamily="34" charset="0"/>
                          <a:ea typeface="Arial" pitchFamily="34" charset="-122"/>
                          <a:cs typeface="Arial" pitchFamily="34" charset="-120"/>
                        </a:rPr>
                        <a:t>with G1/G2</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E8F5EC"/>
                    </a:solidFill>
                  </a:tcPr>
                </a:tc>
                <a:tc>
                  <a:txBody>
                    <a:bodyPr/>
                    <a:lstStyle/>
                    <a:p>
                      <a:pPr algn="ctr" indent="0" marL="0">
                        <a:buNone/>
                      </a:pPr>
                      <a:r>
                        <a:rPr lang="en-US" sz="1500" b="1" dirty="0">
                          <a:solidFill>
                            <a:srgbClr val="2F7D4A"/>
                          </a:solidFill>
                          <a:latin typeface="Arial" pitchFamily="34" charset="0"/>
                          <a:ea typeface="Arial" pitchFamily="34" charset="-122"/>
                          <a:cs typeface="Arial" pitchFamily="34" charset="-120"/>
                        </a:rPr>
                        <a:t>3.87</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E8F5EC"/>
                    </a:solidFill>
                  </a:tcPr>
                </a:tc>
                <a:tc>
                  <a:txBody>
                    <a:bodyPr/>
                    <a:lstStyle/>
                    <a:p>
                      <a:pPr algn="ctr" indent="0" marL="0">
                        <a:buNone/>
                      </a:pPr>
                      <a:r>
                        <a:rPr lang="en-US" sz="1500" b="1" dirty="0">
                          <a:solidFill>
                            <a:srgbClr val="2F7D4A"/>
                          </a:solidFill>
                          <a:latin typeface="Arial" pitchFamily="34" charset="0"/>
                          <a:ea typeface="Arial" pitchFamily="34" charset="-122"/>
                          <a:cs typeface="Arial" pitchFamily="34" charset="-120"/>
                        </a:rPr>
                        <a:t>0.811</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E8F5EC"/>
                    </a:solidFill>
                  </a:tcPr>
                </a:tc>
                <a:tc>
                  <a:txBody>
                    <a:bodyPr/>
                    <a:lstStyle/>
                    <a:p>
                      <a:pPr algn="ctr" indent="0" marL="0">
                        <a:buNone/>
                      </a:pPr>
                      <a:r>
                        <a:rPr lang="en-US" sz="1500" b="1" dirty="0">
                          <a:solidFill>
                            <a:srgbClr val="2F7D4A"/>
                          </a:solidFill>
                          <a:latin typeface="Arial" pitchFamily="34" charset="0"/>
                          <a:ea typeface="Arial" pitchFamily="34" charset="-122"/>
                          <a:cs typeface="Arial" pitchFamily="34" charset="-120"/>
                        </a:rPr>
                        <a:t>0.872</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E8F5EC"/>
                    </a:solidFill>
                  </a:tcPr>
                </a:tc>
              </a:tr>
              <a:tr h="457200">
                <a:tc>
                  <a:txBody>
                    <a:bodyPr/>
                    <a:lstStyle/>
                    <a:p>
                      <a:pPr algn="l" indent="0" marL="0">
                        <a:buNone/>
                      </a:pPr>
                      <a:r>
                        <a:rPr lang="en-US" sz="1500" dirty="0">
                          <a:solidFill>
                            <a:srgbClr val="1F2A37"/>
                          </a:solidFill>
                          <a:latin typeface="Arial" pitchFamily="34" charset="0"/>
                          <a:ea typeface="Arial" pitchFamily="34" charset="-122"/>
                          <a:cs typeface="Arial" pitchFamily="34" charset="-120"/>
                        </a:rPr>
                        <a:t>Random Forest</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A37"/>
                          </a:solidFill>
                          <a:latin typeface="Arial" pitchFamily="34" charset="0"/>
                          <a:ea typeface="Arial" pitchFamily="34" charset="-122"/>
                          <a:cs typeface="Arial" pitchFamily="34" charset="-120"/>
                        </a:rPr>
                        <a:t>without G1/G2</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latin typeface="Arial" pitchFamily="34" charset="0"/>
                          <a:ea typeface="Arial" pitchFamily="34" charset="-122"/>
                          <a:cs typeface="Arial" pitchFamily="34" charset="-120"/>
                        </a:rPr>
                        <a:t>14.97</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latin typeface="Arial" pitchFamily="34" charset="0"/>
                          <a:ea typeface="Arial" pitchFamily="34" charset="-122"/>
                          <a:cs typeface="Arial" pitchFamily="34" charset="-120"/>
                        </a:rPr>
                        <a:t>0.270</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latin typeface="Arial" pitchFamily="34" charset="0"/>
                          <a:ea typeface="Arial" pitchFamily="34" charset="-122"/>
                          <a:cs typeface="Arial" pitchFamily="34" charset="-120"/>
                        </a:rPr>
                        <a:t>0.286</a:t>
                      </a:r>
                      <a:endParaRPr lang="en-US" sz="1500" dirty="0">
                        <a:latin typeface="Arial" charset="0"/>
                        <a:ea typeface="Arial" charset="0"/>
                        <a:cs typeface="Arial" charset="0"/>
                      </a:endParaRPr>
                    </a:p>
                  </a:txBody>
                  <a:tcPr marL="137160" marR="137160" marT="0" marB="0" anchor="ctr">
                    <a:lnL w="0" cap="flat" cmpd="sng" algn="ctr">
                      <a:noFill/>
                    </a:lnL>
                    <a:lnR w="0" cap="flat" cmpd="sng" algn="ctr">
                      <a:noFill/>
                    </a:lnR>
                    <a:lnT w="0" cap="flat" cmpd="sng" algn="ctr">
                      <a:noFill/>
                    </a:lnT>
                    <a:lnB w="9525" cap="flat" cmpd="sng" algn="ctr">
                      <a:solidFill>
                        <a:srgbClr val="D9DEE5"/>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508406" y="5138928"/>
            <a:ext cx="11174882" cy="822960"/>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rgbClr val="1F2A37"/>
                </a:solidFill>
                <a:latin typeface="Arial" pitchFamily="34" charset="0"/>
                <a:ea typeface="Arial" pitchFamily="34" charset="-122"/>
                <a:cs typeface="Arial" pitchFamily="34" charset="-120"/>
              </a:rPr>
              <a:t>Best: Random Forest with G1/G2</a:t>
            </a:r>
            <a:pPr indent="0" marL="0">
              <a:buNone/>
            </a:pPr>
            <a:r>
              <a:rPr lang="en-US" sz="1400" dirty="0">
                <a:solidFill>
                  <a:srgbClr val="1F2A37"/>
                </a:solidFill>
                <a:latin typeface="Arial" pitchFamily="34" charset="0"/>
                <a:ea typeface="Arial" pitchFamily="34" charset="-122"/>
                <a:cs typeface="Arial" pitchFamily="34" charset="-120"/>
              </a:rPr>
              <a:t>. Lowest error, explains about 81% (test) to 87% (CV) of grade variation.</a:t>
            </a:r>
            <a:endParaRPr lang="en-US" sz="1400" dirty="0"/>
          </a:p>
          <a:p>
            <a:pPr marL="203200" indent="-203200">
              <a:spcAft>
                <a:spcPts val="600"/>
              </a:spcAft>
              <a:buSzPct val="100000"/>
              <a:buChar char="•"/>
            </a:pPr>
            <a:r>
              <a:rPr lang="en-US" sz="1400" dirty="0">
                <a:solidFill>
                  <a:srgbClr val="1F2A37"/>
                </a:solidFill>
                <a:latin typeface="Arial" pitchFamily="34" charset="0"/>
                <a:ea typeface="Arial" pitchFamily="34" charset="-122"/>
                <a:cs typeface="Arial" pitchFamily="34" charset="-120"/>
              </a:rPr>
              <a:t>Random Forest beats Linear Regression in both settings. Removing G1/G2 makes R² drop sharply.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4682B4"/>
          </a:solidFill>
          <a:ln w="12700">
            <a:solidFill>
              <a:srgbClr val="4682B4"/>
            </a:solidFill>
            <a:prstDash val="solid"/>
          </a:ln>
        </p:spPr>
      </p:sp>
      <p:sp>
        <p:nvSpPr>
          <p:cNvPr id="3" name="Text 1"/>
          <p:cNvSpPr txBox="1"/>
          <p:nvPr/>
        </p:nvSpPr>
        <p:spPr>
          <a:xfrm>
            <a:off x="508406" y="347472"/>
            <a:ext cx="914400" cy="228600"/>
          </a:xfrm>
          <a:prstGeom prst="rect">
            <a:avLst/>
          </a:prstGeom>
          <a:noFill/>
          <a:ln/>
        </p:spPr>
        <p:txBody>
          <a:bodyPr wrap="square" lIns="0" tIns="0" rIns="0" bIns="0" rtlCol="0" anchor="t"/>
          <a:lstStyle/>
          <a:p>
            <a:pPr indent="0" marL="0">
              <a:buNone/>
            </a:pPr>
            <a:r>
              <a:rPr lang="en-US" sz="1300" b="1" dirty="0">
                <a:solidFill>
                  <a:srgbClr val="4682B4"/>
                </a:solidFill>
                <a:latin typeface="Arial" pitchFamily="34" charset="0"/>
                <a:ea typeface="Arial" pitchFamily="34" charset="-122"/>
                <a:cs typeface="Arial" pitchFamily="34" charset="-120"/>
              </a:rPr>
              <a:t>10</a:t>
            </a:r>
            <a:endParaRPr lang="en-US" sz="1300" dirty="0"/>
          </a:p>
        </p:txBody>
      </p:sp>
      <p:sp>
        <p:nvSpPr>
          <p:cNvPr id="4" name="Text 2"/>
          <p:cNvSpPr txBox="1"/>
          <p:nvPr/>
        </p:nvSpPr>
        <p:spPr>
          <a:xfrm>
            <a:off x="508406" y="621792"/>
            <a:ext cx="11174882" cy="502920"/>
          </a:xfrm>
          <a:prstGeom prst="rect">
            <a:avLst/>
          </a:prstGeom>
          <a:noFill/>
          <a:ln/>
        </p:spPr>
        <p:txBody>
          <a:bodyPr wrap="square" lIns="0" tIns="0" rIns="0" bIns="0" rtlCol="0" anchor="t"/>
          <a:lstStyle/>
          <a:p>
            <a:pPr indent="0" marL="0">
              <a:buNone/>
            </a:pPr>
            <a:r>
              <a:rPr lang="en-US" sz="2800" b="1" dirty="0">
                <a:solidFill>
                  <a:srgbClr val="1F2A37"/>
                </a:solidFill>
                <a:latin typeface="Arial" pitchFamily="34" charset="0"/>
                <a:ea typeface="Arial" pitchFamily="34" charset="-122"/>
                <a:cs typeface="Arial" pitchFamily="34" charset="-120"/>
              </a:rPr>
              <a:t>Actual vs. Predicted Grades</a:t>
            </a:r>
            <a:endParaRPr lang="en-US" sz="2800" dirty="0"/>
          </a:p>
        </p:txBody>
      </p:sp>
      <p:sp>
        <p:nvSpPr>
          <p:cNvPr id="5" name="Text 3"/>
          <p:cNvSpPr txBox="1"/>
          <p:nvPr/>
        </p:nvSpPr>
        <p:spPr>
          <a:xfrm>
            <a:off x="508406" y="1115568"/>
            <a:ext cx="11174882" cy="274320"/>
          </a:xfrm>
          <a:prstGeom prst="rect">
            <a:avLst/>
          </a:prstGeom>
          <a:noFill/>
          <a:ln/>
        </p:spPr>
        <p:txBody>
          <a:bodyPr wrap="square" lIns="0" tIns="0" rIns="0" bIns="0" rtlCol="0" anchor="t"/>
          <a:lstStyle/>
          <a:p>
            <a:pPr indent="0" marL="0">
              <a:buNone/>
            </a:pPr>
            <a:r>
              <a:rPr lang="en-US" sz="1400" dirty="0">
                <a:solidFill>
                  <a:srgbClr val="5B6675"/>
                </a:solidFill>
                <a:latin typeface="Arial" pitchFamily="34" charset="0"/>
                <a:ea typeface="Arial" pitchFamily="34" charset="-122"/>
                <a:cs typeface="Arial" pitchFamily="34" charset="-120"/>
              </a:rPr>
              <a:t>Test set (79 students): real grade vs. model prediction</a:t>
            </a:r>
            <a:endParaRPr lang="en-US" sz="1400" dirty="0"/>
          </a:p>
        </p:txBody>
      </p:sp>
      <p:sp>
        <p:nvSpPr>
          <p:cNvPr id="6" name="Shape 4"/>
          <p:cNvSpPr/>
          <p:nvPr/>
        </p:nvSpPr>
        <p:spPr>
          <a:xfrm>
            <a:off x="508406" y="6473952"/>
            <a:ext cx="11174882" cy="0"/>
          </a:xfrm>
          <a:prstGeom prst="line">
            <a:avLst/>
          </a:prstGeom>
          <a:noFill/>
          <a:ln w="9525">
            <a:solidFill>
              <a:srgbClr val="D9DEE5"/>
            </a:solidFill>
            <a:prstDash val="solid"/>
          </a:ln>
        </p:spPr>
      </p:sp>
      <p:sp>
        <p:nvSpPr>
          <p:cNvPr id="7" name="Text 5"/>
          <p:cNvSpPr txBox="1"/>
          <p:nvPr/>
        </p:nvSpPr>
        <p:spPr>
          <a:xfrm>
            <a:off x="508406" y="6537960"/>
            <a:ext cx="7315200" cy="201168"/>
          </a:xfrm>
          <a:prstGeom prst="rect">
            <a:avLst/>
          </a:prstGeom>
          <a:noFill/>
          <a:ln/>
        </p:spPr>
        <p:txBody>
          <a:bodyPr wrap="square" lIns="0" tIns="0" rIns="0" bIns="0" rtlCol="0" anchor="t"/>
          <a:lstStyle/>
          <a:p>
            <a:pPr indent="0" marL="0">
              <a:buNone/>
            </a:pPr>
            <a:r>
              <a:rPr lang="en-US" sz="1000" dirty="0">
                <a:solidFill>
                  <a:srgbClr val="5B6675"/>
                </a:solidFill>
                <a:latin typeface="Arial" pitchFamily="34" charset="0"/>
                <a:ea typeface="Arial" pitchFamily="34" charset="-122"/>
                <a:cs typeface="Arial" pitchFamily="34" charset="-120"/>
              </a:rPr>
              <a:t>Predicting Student Performance  |  Part B: Modeling &amp; Evaluation</a:t>
            </a:r>
            <a:endParaRPr lang="en-US" sz="1000" dirty="0"/>
          </a:p>
        </p:txBody>
      </p:sp>
      <p:sp>
        <p:nvSpPr>
          <p:cNvPr id="8" name="Text 6"/>
          <p:cNvSpPr txBox="1"/>
          <p:nvPr/>
        </p:nvSpPr>
        <p:spPr>
          <a:xfrm>
            <a:off x="10768889" y="6537960"/>
            <a:ext cx="914400" cy="201168"/>
          </a:xfrm>
          <a:prstGeom prst="rect">
            <a:avLst/>
          </a:prstGeom>
          <a:noFill/>
          <a:ln/>
        </p:spPr>
        <p:txBody>
          <a:bodyPr wrap="square" lIns="0" tIns="0" rIns="0" bIns="0" rtlCol="0" anchor="t"/>
          <a:lstStyle/>
          <a:p>
            <a:pPr algn="r" indent="0" marL="0">
              <a:buNone/>
            </a:pPr>
            <a:r>
              <a:rPr lang="en-US" sz="1000" dirty="0">
                <a:solidFill>
                  <a:srgbClr val="5B6675"/>
                </a:solidFill>
                <a:latin typeface="Arial" pitchFamily="34" charset="0"/>
                <a:ea typeface="Arial" pitchFamily="34" charset="-122"/>
                <a:cs typeface="Arial" pitchFamily="34" charset="-120"/>
              </a:rPr>
              <a:t>10</a:t>
            </a:r>
            <a:endParaRPr lang="en-US" sz="1000" dirty="0"/>
          </a:p>
        </p:txBody>
      </p:sp>
      <p:graphicFrame>
        <p:nvGraphicFramePr>
          <p:cNvPr id="10" name="Chart 0" descr=""/>
          <p:cNvGraphicFramePr/>
          <p:nvPr/>
        </p:nvGraphicFramePr>
        <p:xfrm>
          <a:off x="320040" y="1463040"/>
          <a:ext cx="3154680" cy="2487168"/>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Chart 1" descr=""/>
          <p:cNvGraphicFramePr/>
          <p:nvPr/>
        </p:nvGraphicFramePr>
        <p:xfrm>
          <a:off x="3520440" y="1463040"/>
          <a:ext cx="3154680" cy="2487168"/>
        </p:xfrm>
        <a:graphic xmlns:a="http://schemas.openxmlformats.org/drawingml/2006/main">
          <a:graphicData uri="http://schemas.openxmlformats.org/drawingml/2006/chart">
            <c:chart xmlns:c="http://schemas.openxmlformats.org/drawingml/2006/chart" r:id="rId2"/>
          </a:graphicData>
        </a:graphic>
      </p:graphicFrame>
      <p:graphicFrame>
        <p:nvGraphicFramePr>
          <p:cNvPr id="12" name="Chart 2" descr=""/>
          <p:cNvGraphicFramePr/>
          <p:nvPr/>
        </p:nvGraphicFramePr>
        <p:xfrm>
          <a:off x="320040" y="3968496"/>
          <a:ext cx="3154680" cy="2487168"/>
        </p:xfrm>
        <a:graphic xmlns:a="http://schemas.openxmlformats.org/drawingml/2006/main">
          <a:graphicData uri="http://schemas.openxmlformats.org/drawingml/2006/chart">
            <c:chart xmlns:c="http://schemas.openxmlformats.org/drawingml/2006/chart" r:id="rId3"/>
          </a:graphicData>
        </a:graphic>
      </p:graphicFrame>
      <p:graphicFrame>
        <p:nvGraphicFramePr>
          <p:cNvPr id="13" name="Chart 3" descr=""/>
          <p:cNvGraphicFramePr/>
          <p:nvPr/>
        </p:nvGraphicFramePr>
        <p:xfrm>
          <a:off x="3520440" y="3968496"/>
          <a:ext cx="3154680" cy="2487168"/>
        </p:xfrm>
        <a:graphic xmlns:a="http://schemas.openxmlformats.org/drawingml/2006/main">
          <a:graphicData uri="http://schemas.openxmlformats.org/drawingml/2006/chart">
            <c:chart xmlns:c="http://schemas.openxmlformats.org/drawingml/2006/chart" r:id="rId4"/>
          </a:graphicData>
        </a:graphic>
      </p:graphicFrame>
      <p:sp>
        <p:nvSpPr>
          <p:cNvPr id="14" name="Text 7"/>
          <p:cNvSpPr txBox="1"/>
          <p:nvPr/>
        </p:nvSpPr>
        <p:spPr>
          <a:xfrm>
            <a:off x="6922008" y="1463040"/>
            <a:ext cx="4754880" cy="228600"/>
          </a:xfrm>
          <a:prstGeom prst="rect">
            <a:avLst/>
          </a:prstGeom>
          <a:noFill/>
          <a:ln/>
        </p:spPr>
        <p:txBody>
          <a:bodyPr wrap="square" lIns="0" tIns="0" rIns="0" bIns="0" rtlCol="0" anchor="t"/>
          <a:lstStyle/>
          <a:p>
            <a:pPr indent="0" marL="0">
              <a:buNone/>
            </a:pPr>
            <a:r>
              <a:rPr lang="en-US" sz="1300" b="1" dirty="0">
                <a:solidFill>
                  <a:srgbClr val="5B6675"/>
                </a:solidFill>
                <a:latin typeface="Arial" pitchFamily="34" charset="0"/>
                <a:ea typeface="Arial" pitchFamily="34" charset="-122"/>
                <a:cs typeface="Arial" pitchFamily="34" charset="-120"/>
              </a:rPr>
              <a:t>HOW TO READ IT</a:t>
            </a:r>
            <a:endParaRPr lang="en-US" sz="1300" dirty="0"/>
          </a:p>
        </p:txBody>
      </p:sp>
      <p:sp>
        <p:nvSpPr>
          <p:cNvPr id="15" name="Text 8"/>
          <p:cNvSpPr txBox="1"/>
          <p:nvPr/>
        </p:nvSpPr>
        <p:spPr>
          <a:xfrm>
            <a:off x="6922008" y="1755648"/>
            <a:ext cx="4754880" cy="731520"/>
          </a:xfrm>
          <a:prstGeom prst="rect">
            <a:avLst/>
          </a:prstGeom>
          <a:noFill/>
          <a:ln/>
        </p:spPr>
        <p:txBody>
          <a:bodyPr wrap="square" lIns="0" tIns="0" rIns="0" bIns="0" rtlCol="0" anchor="t"/>
          <a:lstStyle/>
          <a:p>
            <a:pPr indent="0" marL="0">
              <a:buNone/>
            </a:pPr>
            <a:r>
              <a:rPr lang="en-US" sz="1400" dirty="0">
                <a:solidFill>
                  <a:srgbClr val="5B6675"/>
                </a:solidFill>
                <a:latin typeface="Arial" pitchFamily="34" charset="0"/>
                <a:ea typeface="Arial" pitchFamily="34" charset="-122"/>
                <a:cs typeface="Arial" pitchFamily="34" charset="-120"/>
              </a:rPr>
              <a:t>Each dot is one test student. Dots on the </a:t>
            </a:r>
            <a:pPr indent="0" marL="0">
              <a:buNone/>
            </a:pPr>
            <a:r>
              <a:rPr lang="en-US" sz="1400" b="1" dirty="0">
                <a:solidFill>
                  <a:srgbClr val="5B6675"/>
                </a:solidFill>
                <a:latin typeface="Arial" pitchFamily="34" charset="0"/>
                <a:ea typeface="Arial" pitchFamily="34" charset="-122"/>
                <a:cs typeface="Arial" pitchFamily="34" charset="-120"/>
              </a:rPr>
              <a:t>dashed y = x line</a:t>
            </a:r>
            <a:pPr indent="0" marL="0">
              <a:buNone/>
            </a:pPr>
            <a:r>
              <a:rPr lang="en-US" sz="1400" dirty="0">
                <a:solidFill>
                  <a:srgbClr val="5B6675"/>
                </a:solidFill>
                <a:latin typeface="Arial" pitchFamily="34" charset="0"/>
                <a:ea typeface="Arial" pitchFamily="34" charset="-122"/>
                <a:cs typeface="Arial" pitchFamily="34" charset="-120"/>
              </a:rPr>
              <a:t> are perfect predictions; the farther away, the bigger the error.</a:t>
            </a:r>
            <a:endParaRPr lang="en-US" sz="1400" dirty="0"/>
          </a:p>
        </p:txBody>
      </p:sp>
      <p:sp>
        <p:nvSpPr>
          <p:cNvPr id="16" name="Shape 9"/>
          <p:cNvSpPr/>
          <p:nvPr/>
        </p:nvSpPr>
        <p:spPr>
          <a:xfrm>
            <a:off x="6922008" y="2660904"/>
            <a:ext cx="118872" cy="118872"/>
          </a:xfrm>
          <a:prstGeom prst="ellipse">
            <a:avLst/>
          </a:prstGeom>
          <a:solidFill>
            <a:srgbClr val="4682B4"/>
          </a:solidFill>
          <a:ln w="12700">
            <a:solidFill>
              <a:srgbClr val="4682B4"/>
            </a:solidFill>
            <a:prstDash val="solid"/>
          </a:ln>
        </p:spPr>
      </p:sp>
      <p:sp>
        <p:nvSpPr>
          <p:cNvPr id="17" name="Text 10"/>
          <p:cNvSpPr txBox="1"/>
          <p:nvPr/>
        </p:nvSpPr>
        <p:spPr>
          <a:xfrm>
            <a:off x="7123176" y="2606040"/>
            <a:ext cx="914400" cy="22860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Student</a:t>
            </a:r>
            <a:endParaRPr lang="en-US" sz="1200" dirty="0"/>
          </a:p>
        </p:txBody>
      </p:sp>
      <p:sp>
        <p:nvSpPr>
          <p:cNvPr id="18" name="Shape 11"/>
          <p:cNvSpPr/>
          <p:nvPr/>
        </p:nvSpPr>
        <p:spPr>
          <a:xfrm>
            <a:off x="8019288" y="2660904"/>
            <a:ext cx="118872" cy="118872"/>
          </a:xfrm>
          <a:prstGeom prst="ellipse">
            <a:avLst/>
          </a:prstGeom>
          <a:solidFill>
            <a:srgbClr val="DC143C"/>
          </a:solidFill>
          <a:ln w="12700">
            <a:solidFill>
              <a:srgbClr val="DC143C"/>
            </a:solidFill>
            <a:prstDash val="solid"/>
          </a:ln>
        </p:spPr>
      </p:sp>
      <p:sp>
        <p:nvSpPr>
          <p:cNvPr id="19" name="Text 12"/>
          <p:cNvSpPr txBox="1"/>
          <p:nvPr/>
        </p:nvSpPr>
        <p:spPr>
          <a:xfrm>
            <a:off x="8220456" y="2606040"/>
            <a:ext cx="1280160" cy="22860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Actual G3 = 0</a:t>
            </a:r>
            <a:endParaRPr lang="en-US" sz="1200" dirty="0"/>
          </a:p>
        </p:txBody>
      </p:sp>
      <p:sp>
        <p:nvSpPr>
          <p:cNvPr id="20" name="Shape 13"/>
          <p:cNvSpPr/>
          <p:nvPr/>
        </p:nvSpPr>
        <p:spPr>
          <a:xfrm>
            <a:off x="9573768" y="2720340"/>
            <a:ext cx="365760" cy="0"/>
          </a:xfrm>
          <a:prstGeom prst="line">
            <a:avLst/>
          </a:prstGeom>
          <a:noFill/>
          <a:ln w="19050">
            <a:solidFill>
              <a:srgbClr val="1F2A37"/>
            </a:solidFill>
            <a:prstDash val="dash"/>
          </a:ln>
        </p:spPr>
      </p:sp>
      <p:sp>
        <p:nvSpPr>
          <p:cNvPr id="21" name="Text 14"/>
          <p:cNvSpPr txBox="1"/>
          <p:nvPr/>
        </p:nvSpPr>
        <p:spPr>
          <a:xfrm>
            <a:off x="10030968" y="2606040"/>
            <a:ext cx="1463040" cy="228600"/>
          </a:xfrm>
          <a:prstGeom prst="rect">
            <a:avLst/>
          </a:prstGeom>
          <a:noFill/>
          <a:ln/>
        </p:spPr>
        <p:txBody>
          <a:bodyPr wrap="square" lIns="0" tIns="0" rIns="0" bIns="0" rtlCol="0" anchor="ctr"/>
          <a:lstStyle/>
          <a:p>
            <a:pPr indent="0" marL="0">
              <a:buNone/>
            </a:pPr>
            <a:r>
              <a:rPr lang="en-US" sz="1200" dirty="0">
                <a:solidFill>
                  <a:srgbClr val="1F2A37"/>
                </a:solidFill>
                <a:latin typeface="Arial" pitchFamily="34" charset="0"/>
                <a:ea typeface="Arial" pitchFamily="34" charset="-122"/>
                <a:cs typeface="Arial" pitchFamily="34" charset="-120"/>
              </a:rPr>
              <a:t>Perfect (y = x)</a:t>
            </a:r>
            <a:endParaRPr lang="en-US" sz="1200" dirty="0"/>
          </a:p>
        </p:txBody>
      </p:sp>
      <p:sp>
        <p:nvSpPr>
          <p:cNvPr id="22" name="Text 15"/>
          <p:cNvSpPr txBox="1"/>
          <p:nvPr/>
        </p:nvSpPr>
        <p:spPr>
          <a:xfrm>
            <a:off x="6922008" y="3154680"/>
            <a:ext cx="4754880" cy="3017520"/>
          </a:xfrm>
          <a:prstGeom prst="rect">
            <a:avLst/>
          </a:prstGeom>
          <a:noFill/>
          <a:ln/>
        </p:spPr>
        <p:txBody>
          <a:bodyPr wrap="square" lIns="0" tIns="0" rIns="0" bIns="0" rtlCol="0" anchor="t"/>
          <a:lstStyle/>
          <a:p>
            <a:pPr marL="203200" indent="-203200">
              <a:spcAft>
                <a:spcPts val="1200"/>
              </a:spcAft>
              <a:buSzPct val="100000"/>
              <a:buChar char="•"/>
            </a:pPr>
            <a:r>
              <a:rPr lang="en-US" sz="1400" b="1" dirty="0">
                <a:solidFill>
                  <a:srgbClr val="1F2A37"/>
                </a:solidFill>
                <a:latin typeface="Arial" pitchFamily="34" charset="0"/>
                <a:ea typeface="Arial" pitchFamily="34" charset="-122"/>
                <a:cs typeface="Arial" pitchFamily="34" charset="-120"/>
              </a:rPr>
              <a:t>With G1/G2 (top):</a:t>
            </a:r>
            <a:pPr indent="0" marL="0">
              <a:buNone/>
            </a:pPr>
            <a:r>
              <a:rPr lang="en-US" sz="1400" dirty="0">
                <a:solidFill>
                  <a:srgbClr val="1F2A37"/>
                </a:solidFill>
                <a:latin typeface="Arial" pitchFamily="34" charset="0"/>
                <a:ea typeface="Arial" pitchFamily="34" charset="-122"/>
                <a:cs typeface="Arial" pitchFamily="34" charset="-120"/>
              </a:rPr>
              <a:t> dots hug the line, tightest for Random Forest (R² = 0.811).</a:t>
            </a:r>
            <a:endParaRPr lang="en-US" sz="1400" dirty="0"/>
          </a:p>
          <a:p>
            <a:pPr marL="203200" indent="-203200">
              <a:spcAft>
                <a:spcPts val="1200"/>
              </a:spcAft>
              <a:buSzPct val="100000"/>
              <a:buChar char="•"/>
            </a:pPr>
            <a:r>
              <a:rPr lang="en-US" sz="1400" b="1" dirty="0">
                <a:solidFill>
                  <a:srgbClr val="1F2A37"/>
                </a:solidFill>
                <a:latin typeface="Arial" pitchFamily="34" charset="0"/>
                <a:ea typeface="Arial" pitchFamily="34" charset="-122"/>
                <a:cs typeface="Arial" pitchFamily="34" charset="-120"/>
              </a:rPr>
              <a:t>Without G1/G2 (bottom):</a:t>
            </a:r>
            <a:pPr indent="0" marL="0">
              <a:buNone/>
            </a:pPr>
            <a:r>
              <a:rPr lang="en-US" sz="1400" dirty="0">
                <a:solidFill>
                  <a:srgbClr val="1F2A37"/>
                </a:solidFill>
                <a:latin typeface="Arial" pitchFamily="34" charset="0"/>
                <a:ea typeface="Arial" pitchFamily="34" charset="-122"/>
                <a:cs typeface="Arial" pitchFamily="34" charset="-120"/>
              </a:rPr>
              <a:t> predictions bunch around 10 to 12; the model mostly guesses an average student.</a:t>
            </a:r>
            <a:endParaRPr lang="en-US" sz="1400" dirty="0"/>
          </a:p>
          <a:p>
            <a:pPr marL="203200" indent="-203200">
              <a:spcAft>
                <a:spcPts val="1200"/>
              </a:spcAft>
              <a:buSzPct val="100000"/>
              <a:buChar char="•"/>
            </a:pPr>
            <a:r>
              <a:rPr lang="en-US" sz="1400" b="1" dirty="0">
                <a:solidFill>
                  <a:srgbClr val="DC143C"/>
                </a:solidFill>
                <a:latin typeface="Arial" pitchFamily="34" charset="0"/>
                <a:ea typeface="Arial" pitchFamily="34" charset="-122"/>
                <a:cs typeface="Arial" pitchFamily="34" charset="-120"/>
              </a:rPr>
              <a:t>Red dots (actual G3 = 0)</a:t>
            </a:r>
            <a:pPr indent="0" marL="0">
              <a:buNone/>
            </a:pPr>
            <a:r>
              <a:rPr lang="en-US" sz="1400" dirty="0">
                <a:solidFill>
                  <a:srgbClr val="1F2A37"/>
                </a:solidFill>
                <a:latin typeface="Arial" pitchFamily="34" charset="0"/>
                <a:ea typeface="Arial" pitchFamily="34" charset="-122"/>
                <a:cs typeface="Arial" pitchFamily="34" charset="-120"/>
              </a:rPr>
              <a:t> are the largest errors in every panel. Most had normal earlier grades.</a:t>
            </a:r>
            <a:endParaRPr lang="en-US" sz="1400" dirty="0"/>
          </a:p>
          <a:p>
            <a:pPr marL="203200" indent="-203200">
              <a:spcAft>
                <a:spcPts val="1200"/>
              </a:spcAft>
              <a:buSzPct val="100000"/>
              <a:buChar char="•"/>
            </a:pPr>
            <a:r>
              <a:rPr lang="en-US" sz="1400" dirty="0">
                <a:solidFill>
                  <a:srgbClr val="1F2A37"/>
                </a:solidFill>
                <a:latin typeface="Arial" pitchFamily="34" charset="0"/>
                <a:ea typeface="Arial" pitchFamily="34" charset="-122"/>
                <a:cs typeface="Arial" pitchFamily="34" charset="-120"/>
              </a:rPr>
              <a:t>Linear Regression even predicts impossible grades (about -2.5 and above 20).</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4682B4"/>
          </a:solidFill>
          <a:ln w="12700">
            <a:solidFill>
              <a:srgbClr val="4682B4"/>
            </a:solidFill>
            <a:prstDash val="solid"/>
          </a:ln>
        </p:spPr>
      </p:sp>
      <p:sp>
        <p:nvSpPr>
          <p:cNvPr id="3" name="Text 1"/>
          <p:cNvSpPr txBox="1"/>
          <p:nvPr/>
        </p:nvSpPr>
        <p:spPr>
          <a:xfrm>
            <a:off x="508406" y="347472"/>
            <a:ext cx="914400" cy="228600"/>
          </a:xfrm>
          <a:prstGeom prst="rect">
            <a:avLst/>
          </a:prstGeom>
          <a:noFill/>
          <a:ln/>
        </p:spPr>
        <p:txBody>
          <a:bodyPr wrap="square" lIns="0" tIns="0" rIns="0" bIns="0" rtlCol="0" anchor="t"/>
          <a:lstStyle/>
          <a:p>
            <a:pPr indent="0" marL="0">
              <a:buNone/>
            </a:pPr>
            <a:r>
              <a:rPr lang="en-US" sz="1300" b="1" dirty="0">
                <a:solidFill>
                  <a:srgbClr val="4682B4"/>
                </a:solidFill>
                <a:latin typeface="Arial" pitchFamily="34" charset="0"/>
                <a:ea typeface="Arial" pitchFamily="34" charset="-122"/>
                <a:cs typeface="Arial" pitchFamily="34" charset="-120"/>
              </a:rPr>
              <a:t>11</a:t>
            </a:r>
            <a:endParaRPr lang="en-US" sz="1300" dirty="0"/>
          </a:p>
        </p:txBody>
      </p:sp>
      <p:sp>
        <p:nvSpPr>
          <p:cNvPr id="4" name="Text 2"/>
          <p:cNvSpPr txBox="1"/>
          <p:nvPr/>
        </p:nvSpPr>
        <p:spPr>
          <a:xfrm>
            <a:off x="508406" y="621792"/>
            <a:ext cx="11174882" cy="502920"/>
          </a:xfrm>
          <a:prstGeom prst="rect">
            <a:avLst/>
          </a:prstGeom>
          <a:noFill/>
          <a:ln/>
        </p:spPr>
        <p:txBody>
          <a:bodyPr wrap="square" lIns="0" tIns="0" rIns="0" bIns="0" rtlCol="0" anchor="t"/>
          <a:lstStyle/>
          <a:p>
            <a:pPr indent="0" marL="0">
              <a:buNone/>
            </a:pPr>
            <a:r>
              <a:rPr lang="en-US" sz="2800" b="1" dirty="0">
                <a:solidFill>
                  <a:srgbClr val="1F2A37"/>
                </a:solidFill>
                <a:latin typeface="Arial" pitchFamily="34" charset="0"/>
                <a:ea typeface="Arial" pitchFamily="34" charset="-122"/>
                <a:cs typeface="Arial" pitchFamily="34" charset="-120"/>
              </a:rPr>
              <a:t>Feature Importance &amp; Key Observations</a:t>
            </a:r>
            <a:endParaRPr lang="en-US" sz="2800" dirty="0"/>
          </a:p>
        </p:txBody>
      </p:sp>
      <p:sp>
        <p:nvSpPr>
          <p:cNvPr id="5" name="Text 3"/>
          <p:cNvSpPr txBox="1"/>
          <p:nvPr/>
        </p:nvSpPr>
        <p:spPr>
          <a:xfrm>
            <a:off x="508406" y="1115568"/>
            <a:ext cx="11174882" cy="274320"/>
          </a:xfrm>
          <a:prstGeom prst="rect">
            <a:avLst/>
          </a:prstGeom>
          <a:noFill/>
          <a:ln/>
        </p:spPr>
        <p:txBody>
          <a:bodyPr wrap="square" lIns="0" tIns="0" rIns="0" bIns="0" rtlCol="0" anchor="t"/>
          <a:lstStyle/>
          <a:p>
            <a:pPr indent="0" marL="0">
              <a:buNone/>
            </a:pPr>
            <a:r>
              <a:rPr lang="en-US" sz="1400" dirty="0">
                <a:solidFill>
                  <a:srgbClr val="5B6675"/>
                </a:solidFill>
                <a:latin typeface="Arial" pitchFamily="34" charset="0"/>
                <a:ea typeface="Arial" pitchFamily="34" charset="-122"/>
                <a:cs typeface="Arial" pitchFamily="34" charset="-120"/>
              </a:rPr>
              <a:t>Which features the Random Forest relied on most</a:t>
            </a:r>
            <a:endParaRPr lang="en-US" sz="1400" dirty="0"/>
          </a:p>
        </p:txBody>
      </p:sp>
      <p:sp>
        <p:nvSpPr>
          <p:cNvPr id="6" name="Shape 4"/>
          <p:cNvSpPr/>
          <p:nvPr/>
        </p:nvSpPr>
        <p:spPr>
          <a:xfrm>
            <a:off x="508406" y="6473952"/>
            <a:ext cx="11174882" cy="0"/>
          </a:xfrm>
          <a:prstGeom prst="line">
            <a:avLst/>
          </a:prstGeom>
          <a:noFill/>
          <a:ln w="9525">
            <a:solidFill>
              <a:srgbClr val="D9DEE5"/>
            </a:solidFill>
            <a:prstDash val="solid"/>
          </a:ln>
        </p:spPr>
      </p:sp>
      <p:sp>
        <p:nvSpPr>
          <p:cNvPr id="7" name="Text 5"/>
          <p:cNvSpPr txBox="1"/>
          <p:nvPr/>
        </p:nvSpPr>
        <p:spPr>
          <a:xfrm>
            <a:off x="508406" y="6537960"/>
            <a:ext cx="7315200" cy="201168"/>
          </a:xfrm>
          <a:prstGeom prst="rect">
            <a:avLst/>
          </a:prstGeom>
          <a:noFill/>
          <a:ln/>
        </p:spPr>
        <p:txBody>
          <a:bodyPr wrap="square" lIns="0" tIns="0" rIns="0" bIns="0" rtlCol="0" anchor="t"/>
          <a:lstStyle/>
          <a:p>
            <a:pPr indent="0" marL="0">
              <a:buNone/>
            </a:pPr>
            <a:r>
              <a:rPr lang="en-US" sz="1000" dirty="0">
                <a:solidFill>
                  <a:srgbClr val="5B6675"/>
                </a:solidFill>
                <a:latin typeface="Arial" pitchFamily="34" charset="0"/>
                <a:ea typeface="Arial" pitchFamily="34" charset="-122"/>
                <a:cs typeface="Arial" pitchFamily="34" charset="-120"/>
              </a:rPr>
              <a:t>Predicting Student Performance  |  Part B: Modeling &amp; Evaluation</a:t>
            </a:r>
            <a:endParaRPr lang="en-US" sz="1000" dirty="0"/>
          </a:p>
        </p:txBody>
      </p:sp>
      <p:sp>
        <p:nvSpPr>
          <p:cNvPr id="8" name="Text 6"/>
          <p:cNvSpPr txBox="1"/>
          <p:nvPr/>
        </p:nvSpPr>
        <p:spPr>
          <a:xfrm>
            <a:off x="10768889" y="6537960"/>
            <a:ext cx="914400" cy="201168"/>
          </a:xfrm>
          <a:prstGeom prst="rect">
            <a:avLst/>
          </a:prstGeom>
          <a:noFill/>
          <a:ln/>
        </p:spPr>
        <p:txBody>
          <a:bodyPr wrap="square" lIns="0" tIns="0" rIns="0" bIns="0" rtlCol="0" anchor="t"/>
          <a:lstStyle/>
          <a:p>
            <a:pPr algn="r" indent="0" marL="0">
              <a:buNone/>
            </a:pPr>
            <a:r>
              <a:rPr lang="en-US" sz="1000" dirty="0">
                <a:solidFill>
                  <a:srgbClr val="5B6675"/>
                </a:solidFill>
                <a:latin typeface="Arial" pitchFamily="34" charset="0"/>
                <a:ea typeface="Arial" pitchFamily="34" charset="-122"/>
                <a:cs typeface="Arial" pitchFamily="34" charset="-120"/>
              </a:rPr>
              <a:t>11</a:t>
            </a:r>
            <a:endParaRPr lang="en-US" sz="1000" dirty="0"/>
          </a:p>
        </p:txBody>
      </p:sp>
      <p:graphicFrame>
        <p:nvGraphicFramePr>
          <p:cNvPr id="10" name="Chart 0" descr=""/>
          <p:cNvGraphicFramePr/>
          <p:nvPr/>
        </p:nvGraphicFramePr>
        <p:xfrm>
          <a:off x="508406" y="1463040"/>
          <a:ext cx="5458968" cy="315468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Chart 1" descr=""/>
          <p:cNvGraphicFramePr/>
          <p:nvPr/>
        </p:nvGraphicFramePr>
        <p:xfrm>
          <a:off x="6223406" y="1463040"/>
          <a:ext cx="5458968" cy="3154680"/>
        </p:xfrm>
        <a:graphic xmlns:a="http://schemas.openxmlformats.org/drawingml/2006/main">
          <a:graphicData uri="http://schemas.openxmlformats.org/drawingml/2006/chart">
            <c:chart xmlns:c="http://schemas.openxmlformats.org/drawingml/2006/chart" r:id="rId2"/>
          </a:graphicData>
        </a:graphic>
      </p:graphicFrame>
      <p:sp>
        <p:nvSpPr>
          <p:cNvPr id="12" name="Shape 7"/>
          <p:cNvSpPr/>
          <p:nvPr/>
        </p:nvSpPr>
        <p:spPr>
          <a:xfrm>
            <a:off x="508406" y="4754880"/>
            <a:ext cx="3556102" cy="1527048"/>
          </a:xfrm>
          <a:prstGeom prst="roundRect">
            <a:avLst>
              <a:gd name="adj" fmla="val 8383"/>
            </a:avLst>
          </a:prstGeom>
          <a:solidFill>
            <a:srgbClr val="EAF2F9"/>
          </a:solidFill>
          <a:ln w="12700">
            <a:solidFill>
              <a:srgbClr val="EAF2F9"/>
            </a:solidFill>
            <a:prstDash val="solid"/>
          </a:ln>
        </p:spPr>
      </p:sp>
      <p:sp>
        <p:nvSpPr>
          <p:cNvPr id="13" name="Text 8"/>
          <p:cNvSpPr txBox="1"/>
          <p:nvPr/>
        </p:nvSpPr>
        <p:spPr>
          <a:xfrm>
            <a:off x="709574" y="4901184"/>
            <a:ext cx="3153766" cy="292608"/>
          </a:xfrm>
          <a:prstGeom prst="rect">
            <a:avLst/>
          </a:prstGeom>
          <a:noFill/>
          <a:ln/>
        </p:spPr>
        <p:txBody>
          <a:bodyPr wrap="square" lIns="0" tIns="0" rIns="0" bIns="0" rtlCol="0" anchor="t"/>
          <a:lstStyle/>
          <a:p>
            <a:pPr indent="0" marL="0">
              <a:buNone/>
            </a:pPr>
            <a:r>
              <a:rPr lang="en-US" sz="1600" b="1" dirty="0">
                <a:solidFill>
                  <a:srgbClr val="4682B4"/>
                </a:solidFill>
                <a:latin typeface="Arial" pitchFamily="34" charset="0"/>
                <a:ea typeface="Arial" pitchFamily="34" charset="-122"/>
                <a:cs typeface="Arial" pitchFamily="34" charset="-120"/>
              </a:rPr>
              <a:t>G2 dominates</a:t>
            </a:r>
            <a:endParaRPr lang="en-US" sz="1600" dirty="0"/>
          </a:p>
        </p:txBody>
      </p:sp>
      <p:sp>
        <p:nvSpPr>
          <p:cNvPr id="14" name="Text 9"/>
          <p:cNvSpPr txBox="1"/>
          <p:nvPr/>
        </p:nvSpPr>
        <p:spPr>
          <a:xfrm>
            <a:off x="709574" y="5248656"/>
            <a:ext cx="3153766" cy="914400"/>
          </a:xfrm>
          <a:prstGeom prst="rect">
            <a:avLst/>
          </a:prstGeom>
          <a:noFill/>
          <a:ln/>
        </p:spPr>
        <p:txBody>
          <a:bodyPr wrap="square" lIns="0" tIns="0" rIns="0" bIns="0" rtlCol="0" anchor="t"/>
          <a:lstStyle/>
          <a:p>
            <a:pPr indent="0" marL="0">
              <a:buNone/>
            </a:pPr>
            <a:r>
              <a:rPr lang="en-US" sz="1300" dirty="0">
                <a:solidFill>
                  <a:srgbClr val="1F2A37"/>
                </a:solidFill>
                <a:latin typeface="Arial" pitchFamily="34" charset="0"/>
                <a:ea typeface="Arial" pitchFamily="34" charset="-122"/>
                <a:cs typeface="Arial" pitchFamily="34" charset="-120"/>
              </a:rPr>
              <a:t>Importance of about 0.79. The most recent grade is by far the best predictor of the final grade.</a:t>
            </a:r>
            <a:endParaRPr lang="en-US" sz="1300" dirty="0"/>
          </a:p>
        </p:txBody>
      </p:sp>
      <p:sp>
        <p:nvSpPr>
          <p:cNvPr id="15" name="Shape 10"/>
          <p:cNvSpPr/>
          <p:nvPr/>
        </p:nvSpPr>
        <p:spPr>
          <a:xfrm>
            <a:off x="4318711" y="4754880"/>
            <a:ext cx="3556102" cy="1527048"/>
          </a:xfrm>
          <a:prstGeom prst="roundRect">
            <a:avLst>
              <a:gd name="adj" fmla="val 8383"/>
            </a:avLst>
          </a:prstGeom>
          <a:solidFill>
            <a:srgbClr val="EAF2F9"/>
          </a:solidFill>
          <a:ln w="12700">
            <a:solidFill>
              <a:srgbClr val="EAF2F9"/>
            </a:solidFill>
            <a:prstDash val="solid"/>
          </a:ln>
        </p:spPr>
      </p:sp>
      <p:sp>
        <p:nvSpPr>
          <p:cNvPr id="16" name="Text 11"/>
          <p:cNvSpPr txBox="1"/>
          <p:nvPr/>
        </p:nvSpPr>
        <p:spPr>
          <a:xfrm>
            <a:off x="4519879" y="4901184"/>
            <a:ext cx="3153766" cy="292608"/>
          </a:xfrm>
          <a:prstGeom prst="rect">
            <a:avLst/>
          </a:prstGeom>
          <a:noFill/>
          <a:ln/>
        </p:spPr>
        <p:txBody>
          <a:bodyPr wrap="square" lIns="0" tIns="0" rIns="0" bIns="0" rtlCol="0" anchor="t"/>
          <a:lstStyle/>
          <a:p>
            <a:pPr indent="0" marL="0">
              <a:buNone/>
            </a:pPr>
            <a:r>
              <a:rPr lang="en-US" sz="1600" b="1" dirty="0">
                <a:solidFill>
                  <a:srgbClr val="4682B4"/>
                </a:solidFill>
                <a:latin typeface="Arial" pitchFamily="34" charset="0"/>
                <a:ea typeface="Arial" pitchFamily="34" charset="-122"/>
                <a:cs typeface="Arial" pitchFamily="34" charset="-120"/>
              </a:rPr>
              <a:t>Without grades</a:t>
            </a:r>
            <a:endParaRPr lang="en-US" sz="1600" dirty="0"/>
          </a:p>
        </p:txBody>
      </p:sp>
      <p:sp>
        <p:nvSpPr>
          <p:cNvPr id="17" name="Text 12"/>
          <p:cNvSpPr txBox="1"/>
          <p:nvPr/>
        </p:nvSpPr>
        <p:spPr>
          <a:xfrm>
            <a:off x="4519879" y="5248656"/>
            <a:ext cx="3153766" cy="914400"/>
          </a:xfrm>
          <a:prstGeom prst="rect">
            <a:avLst/>
          </a:prstGeom>
          <a:noFill/>
          <a:ln/>
        </p:spPr>
        <p:txBody>
          <a:bodyPr wrap="square" lIns="0" tIns="0" rIns="0" bIns="0" rtlCol="0" anchor="t"/>
          <a:lstStyle/>
          <a:p>
            <a:pPr indent="0" marL="0">
              <a:buNone/>
            </a:pPr>
            <a:r>
              <a:rPr lang="en-US" sz="1300" dirty="0">
                <a:solidFill>
                  <a:srgbClr val="1F2A37"/>
                </a:solidFill>
                <a:latin typeface="Arial" pitchFamily="34" charset="0"/>
                <a:ea typeface="Arial" pitchFamily="34" charset="-122"/>
                <a:cs typeface="Arial" pitchFamily="34" charset="-120"/>
              </a:rPr>
              <a:t>Absences and past failures matter most, followed by health, going out and age.</a:t>
            </a:r>
            <a:endParaRPr lang="en-US" sz="1300" dirty="0"/>
          </a:p>
        </p:txBody>
      </p:sp>
      <p:sp>
        <p:nvSpPr>
          <p:cNvPr id="18" name="Shape 13"/>
          <p:cNvSpPr/>
          <p:nvPr/>
        </p:nvSpPr>
        <p:spPr>
          <a:xfrm>
            <a:off x="8129016" y="4754880"/>
            <a:ext cx="3556102" cy="1527048"/>
          </a:xfrm>
          <a:prstGeom prst="roundRect">
            <a:avLst>
              <a:gd name="adj" fmla="val 8383"/>
            </a:avLst>
          </a:prstGeom>
          <a:solidFill>
            <a:srgbClr val="FCEBEE"/>
          </a:solidFill>
          <a:ln w="12700">
            <a:solidFill>
              <a:srgbClr val="FCEBEE"/>
            </a:solidFill>
            <a:prstDash val="solid"/>
          </a:ln>
        </p:spPr>
      </p:sp>
      <p:sp>
        <p:nvSpPr>
          <p:cNvPr id="19" name="Text 14"/>
          <p:cNvSpPr txBox="1"/>
          <p:nvPr/>
        </p:nvSpPr>
        <p:spPr>
          <a:xfrm>
            <a:off x="8330184" y="4901184"/>
            <a:ext cx="3153766" cy="292608"/>
          </a:xfrm>
          <a:prstGeom prst="rect">
            <a:avLst/>
          </a:prstGeom>
          <a:noFill/>
          <a:ln/>
        </p:spPr>
        <p:txBody>
          <a:bodyPr wrap="square" lIns="0" tIns="0" rIns="0" bIns="0" rtlCol="0" anchor="t"/>
          <a:lstStyle/>
          <a:p>
            <a:pPr indent="0" marL="0">
              <a:buNone/>
            </a:pPr>
            <a:r>
              <a:rPr lang="en-US" sz="1600" b="1" dirty="0">
                <a:solidFill>
                  <a:srgbClr val="DC143C"/>
                </a:solidFill>
                <a:latin typeface="Arial" pitchFamily="34" charset="0"/>
                <a:ea typeface="Arial" pitchFamily="34" charset="-122"/>
                <a:cs typeface="Arial" pitchFamily="34" charset="-120"/>
              </a:rPr>
              <a:t>Data quirk</a:t>
            </a:r>
            <a:endParaRPr lang="en-US" sz="1600" dirty="0"/>
          </a:p>
        </p:txBody>
      </p:sp>
      <p:sp>
        <p:nvSpPr>
          <p:cNvPr id="20" name="Text 15"/>
          <p:cNvSpPr txBox="1"/>
          <p:nvPr/>
        </p:nvSpPr>
        <p:spPr>
          <a:xfrm>
            <a:off x="8330184" y="5248656"/>
            <a:ext cx="3153766" cy="914400"/>
          </a:xfrm>
          <a:prstGeom prst="rect">
            <a:avLst/>
          </a:prstGeom>
          <a:noFill/>
          <a:ln/>
        </p:spPr>
        <p:txBody>
          <a:bodyPr wrap="square" lIns="0" tIns="0" rIns="0" bIns="0" rtlCol="0" anchor="t"/>
          <a:lstStyle/>
          <a:p>
            <a:pPr indent="0" marL="0">
              <a:buNone/>
            </a:pPr>
            <a:r>
              <a:rPr lang="en-US" sz="1300" dirty="0">
                <a:solidFill>
                  <a:srgbClr val="1F2A37"/>
                </a:solidFill>
                <a:latin typeface="Arial" pitchFamily="34" charset="0"/>
                <a:ea typeface="Arial" pitchFamily="34" charset="-122"/>
                <a:cs typeface="Arial" pitchFamily="34" charset="-120"/>
              </a:rPr>
              <a:t>All 38 students with G3 = 0 have 0 recorded absences. Likely dropouts, not perfect attendance.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4682B4"/>
          </a:solidFill>
          <a:ln w="12700">
            <a:solidFill>
              <a:srgbClr val="4682B4"/>
            </a:solidFill>
            <a:prstDash val="solid"/>
          </a:ln>
        </p:spPr>
      </p:sp>
      <p:sp>
        <p:nvSpPr>
          <p:cNvPr id="3" name="Text 1"/>
          <p:cNvSpPr txBox="1"/>
          <p:nvPr/>
        </p:nvSpPr>
        <p:spPr>
          <a:xfrm>
            <a:off x="508406" y="347472"/>
            <a:ext cx="914400" cy="228600"/>
          </a:xfrm>
          <a:prstGeom prst="rect">
            <a:avLst/>
          </a:prstGeom>
          <a:noFill/>
          <a:ln/>
        </p:spPr>
        <p:txBody>
          <a:bodyPr wrap="square" lIns="0" tIns="0" rIns="0" bIns="0" rtlCol="0" anchor="t"/>
          <a:lstStyle/>
          <a:p>
            <a:pPr indent="0" marL="0">
              <a:buNone/>
            </a:pPr>
            <a:r>
              <a:rPr lang="en-US" sz="1300" b="1" dirty="0">
                <a:solidFill>
                  <a:srgbClr val="4682B4"/>
                </a:solidFill>
                <a:latin typeface="Arial" pitchFamily="34" charset="0"/>
                <a:ea typeface="Arial" pitchFamily="34" charset="-122"/>
                <a:cs typeface="Arial" pitchFamily="34" charset="-120"/>
              </a:rPr>
              <a:t>12</a:t>
            </a:r>
            <a:endParaRPr lang="en-US" sz="1300" dirty="0"/>
          </a:p>
        </p:txBody>
      </p:sp>
      <p:sp>
        <p:nvSpPr>
          <p:cNvPr id="4" name="Text 2"/>
          <p:cNvSpPr txBox="1"/>
          <p:nvPr/>
        </p:nvSpPr>
        <p:spPr>
          <a:xfrm>
            <a:off x="508406" y="621792"/>
            <a:ext cx="11174882" cy="502920"/>
          </a:xfrm>
          <a:prstGeom prst="rect">
            <a:avLst/>
          </a:prstGeom>
          <a:noFill/>
          <a:ln/>
        </p:spPr>
        <p:txBody>
          <a:bodyPr wrap="square" lIns="0" tIns="0" rIns="0" bIns="0" rtlCol="0" anchor="t"/>
          <a:lstStyle/>
          <a:p>
            <a:pPr indent="0" marL="0">
              <a:buNone/>
            </a:pPr>
            <a:r>
              <a:rPr lang="en-US" sz="2800" b="1" dirty="0">
                <a:solidFill>
                  <a:srgbClr val="1F2A37"/>
                </a:solidFill>
                <a:latin typeface="Arial" pitchFamily="34" charset="0"/>
                <a:ea typeface="Arial" pitchFamily="34" charset="-122"/>
                <a:cs typeface="Arial" pitchFamily="34" charset="-120"/>
              </a:rPr>
              <a:t>Challenges Encountered</a:t>
            </a:r>
            <a:endParaRPr lang="en-US" sz="2800" dirty="0"/>
          </a:p>
        </p:txBody>
      </p:sp>
      <p:sp>
        <p:nvSpPr>
          <p:cNvPr id="5" name="Text 3"/>
          <p:cNvSpPr txBox="1"/>
          <p:nvPr/>
        </p:nvSpPr>
        <p:spPr>
          <a:xfrm>
            <a:off x="508406" y="1115568"/>
            <a:ext cx="11174882" cy="274320"/>
          </a:xfrm>
          <a:prstGeom prst="rect">
            <a:avLst/>
          </a:prstGeom>
          <a:noFill/>
          <a:ln/>
        </p:spPr>
        <p:txBody>
          <a:bodyPr wrap="square" lIns="0" tIns="0" rIns="0" bIns="0" rtlCol="0" anchor="t"/>
          <a:lstStyle/>
          <a:p>
            <a:pPr indent="0" marL="0">
              <a:buNone/>
            </a:pPr>
            <a:r>
              <a:rPr lang="en-US" sz="1400" dirty="0">
                <a:solidFill>
                  <a:srgbClr val="5B6675"/>
                </a:solidFill>
                <a:latin typeface="Arial" pitchFamily="34" charset="0"/>
                <a:ea typeface="Arial" pitchFamily="34" charset="-122"/>
                <a:cs typeface="Arial" pitchFamily="34" charset="-120"/>
              </a:rPr>
              <a:t>Each problem and how we handled it</a:t>
            </a:r>
            <a:endParaRPr lang="en-US" sz="1400" dirty="0"/>
          </a:p>
        </p:txBody>
      </p:sp>
      <p:sp>
        <p:nvSpPr>
          <p:cNvPr id="6" name="Shape 4"/>
          <p:cNvSpPr/>
          <p:nvPr/>
        </p:nvSpPr>
        <p:spPr>
          <a:xfrm>
            <a:off x="508406" y="6473952"/>
            <a:ext cx="11174882" cy="0"/>
          </a:xfrm>
          <a:prstGeom prst="line">
            <a:avLst/>
          </a:prstGeom>
          <a:noFill/>
          <a:ln w="9525">
            <a:solidFill>
              <a:srgbClr val="D9DEE5"/>
            </a:solidFill>
            <a:prstDash val="solid"/>
          </a:ln>
        </p:spPr>
      </p:sp>
      <p:sp>
        <p:nvSpPr>
          <p:cNvPr id="7" name="Text 5"/>
          <p:cNvSpPr txBox="1"/>
          <p:nvPr/>
        </p:nvSpPr>
        <p:spPr>
          <a:xfrm>
            <a:off x="508406" y="6537960"/>
            <a:ext cx="7315200" cy="201168"/>
          </a:xfrm>
          <a:prstGeom prst="rect">
            <a:avLst/>
          </a:prstGeom>
          <a:noFill/>
          <a:ln/>
        </p:spPr>
        <p:txBody>
          <a:bodyPr wrap="square" lIns="0" tIns="0" rIns="0" bIns="0" rtlCol="0" anchor="t"/>
          <a:lstStyle/>
          <a:p>
            <a:pPr indent="0" marL="0">
              <a:buNone/>
            </a:pPr>
            <a:r>
              <a:rPr lang="en-US" sz="1000" dirty="0">
                <a:solidFill>
                  <a:srgbClr val="5B6675"/>
                </a:solidFill>
                <a:latin typeface="Arial" pitchFamily="34" charset="0"/>
                <a:ea typeface="Arial" pitchFamily="34" charset="-122"/>
                <a:cs typeface="Arial" pitchFamily="34" charset="-120"/>
              </a:rPr>
              <a:t>Predicting Student Performance  |  Part B: Modeling &amp; Evaluation</a:t>
            </a:r>
            <a:endParaRPr lang="en-US" sz="1000" dirty="0"/>
          </a:p>
        </p:txBody>
      </p:sp>
      <p:sp>
        <p:nvSpPr>
          <p:cNvPr id="8" name="Text 6"/>
          <p:cNvSpPr txBox="1"/>
          <p:nvPr/>
        </p:nvSpPr>
        <p:spPr>
          <a:xfrm>
            <a:off x="10768889" y="6537960"/>
            <a:ext cx="914400" cy="201168"/>
          </a:xfrm>
          <a:prstGeom prst="rect">
            <a:avLst/>
          </a:prstGeom>
          <a:noFill/>
          <a:ln/>
        </p:spPr>
        <p:txBody>
          <a:bodyPr wrap="square" lIns="0" tIns="0" rIns="0" bIns="0" rtlCol="0" anchor="t"/>
          <a:lstStyle/>
          <a:p>
            <a:pPr algn="r" indent="0" marL="0">
              <a:buNone/>
            </a:pPr>
            <a:r>
              <a:rPr lang="en-US" sz="1000" dirty="0">
                <a:solidFill>
                  <a:srgbClr val="5B6675"/>
                </a:solidFill>
                <a:latin typeface="Arial" pitchFamily="34" charset="0"/>
                <a:ea typeface="Arial" pitchFamily="34" charset="-122"/>
                <a:cs typeface="Arial" pitchFamily="34" charset="-120"/>
              </a:rPr>
              <a:t>12</a:t>
            </a:r>
            <a:endParaRPr lang="en-US" sz="1000" dirty="0"/>
          </a:p>
        </p:txBody>
      </p:sp>
      <p:sp>
        <p:nvSpPr>
          <p:cNvPr id="10" name="Text 7"/>
          <p:cNvSpPr txBox="1"/>
          <p:nvPr/>
        </p:nvSpPr>
        <p:spPr>
          <a:xfrm>
            <a:off x="758952" y="1444752"/>
            <a:ext cx="2743200" cy="201168"/>
          </a:xfrm>
          <a:prstGeom prst="rect">
            <a:avLst/>
          </a:prstGeom>
          <a:noFill/>
          <a:ln/>
        </p:spPr>
        <p:txBody>
          <a:bodyPr wrap="square" lIns="0" tIns="0" rIns="0" bIns="0" rtlCol="0" anchor="t"/>
          <a:lstStyle/>
          <a:p>
            <a:pPr indent="0" marL="0">
              <a:buNone/>
            </a:pPr>
            <a:r>
              <a:rPr lang="en-US" sz="1200" b="1" dirty="0">
                <a:solidFill>
                  <a:srgbClr val="5B6675"/>
                </a:solidFill>
                <a:latin typeface="Arial" pitchFamily="34" charset="0"/>
                <a:ea typeface="Arial" pitchFamily="34" charset="-122"/>
                <a:cs typeface="Arial" pitchFamily="34" charset="-120"/>
              </a:rPr>
              <a:t>CHALLENGE</a:t>
            </a:r>
            <a:endParaRPr lang="en-US" sz="1200" dirty="0"/>
          </a:p>
        </p:txBody>
      </p:sp>
      <p:sp>
        <p:nvSpPr>
          <p:cNvPr id="11" name="Text 8"/>
          <p:cNvSpPr txBox="1"/>
          <p:nvPr/>
        </p:nvSpPr>
        <p:spPr>
          <a:xfrm>
            <a:off x="7242048" y="1444752"/>
            <a:ext cx="2743200" cy="201168"/>
          </a:xfrm>
          <a:prstGeom prst="rect">
            <a:avLst/>
          </a:prstGeom>
          <a:noFill/>
          <a:ln/>
        </p:spPr>
        <p:txBody>
          <a:bodyPr wrap="square" lIns="0" tIns="0" rIns="0" bIns="0" rtlCol="0" anchor="t"/>
          <a:lstStyle/>
          <a:p>
            <a:pPr indent="0" marL="0">
              <a:buNone/>
            </a:pPr>
            <a:r>
              <a:rPr lang="en-US" sz="1200" b="1" dirty="0">
                <a:solidFill>
                  <a:srgbClr val="5B6675"/>
                </a:solidFill>
                <a:latin typeface="Arial" pitchFamily="34" charset="0"/>
                <a:ea typeface="Arial" pitchFamily="34" charset="-122"/>
                <a:cs typeface="Arial" pitchFamily="34" charset="-120"/>
              </a:rPr>
              <a:t>WHAT WE DID</a:t>
            </a:r>
            <a:endParaRPr lang="en-US" sz="1200" dirty="0"/>
          </a:p>
        </p:txBody>
      </p:sp>
      <p:sp>
        <p:nvSpPr>
          <p:cNvPr id="12" name="Shape 9"/>
          <p:cNvSpPr/>
          <p:nvPr/>
        </p:nvSpPr>
        <p:spPr>
          <a:xfrm>
            <a:off x="508406" y="1714500"/>
            <a:ext cx="6223406" cy="1015898"/>
          </a:xfrm>
          <a:prstGeom prst="roundRect">
            <a:avLst>
              <a:gd name="adj" fmla="val 12601"/>
            </a:avLst>
          </a:prstGeom>
          <a:solidFill>
            <a:srgbClr val="FCEBEE"/>
          </a:solidFill>
          <a:ln w="12700">
            <a:solidFill>
              <a:srgbClr val="FCEBEE"/>
            </a:solidFill>
            <a:prstDash val="solid"/>
          </a:ln>
        </p:spPr>
      </p:sp>
      <p:sp>
        <p:nvSpPr>
          <p:cNvPr id="13" name="Shape 10"/>
          <p:cNvSpPr/>
          <p:nvPr/>
        </p:nvSpPr>
        <p:spPr>
          <a:xfrm>
            <a:off x="6985102" y="1714500"/>
            <a:ext cx="4699102" cy="1015898"/>
          </a:xfrm>
          <a:prstGeom prst="roundRect">
            <a:avLst>
              <a:gd name="adj" fmla="val 12601"/>
            </a:avLst>
          </a:prstGeom>
          <a:solidFill>
            <a:srgbClr val="E8F5EC"/>
          </a:solidFill>
          <a:ln w="12700">
            <a:solidFill>
              <a:srgbClr val="E8F5EC"/>
            </a:solidFill>
            <a:prstDash val="solid"/>
          </a:ln>
        </p:spPr>
      </p:sp>
      <p:sp>
        <p:nvSpPr>
          <p:cNvPr id="14" name="Text 11"/>
          <p:cNvSpPr txBox="1"/>
          <p:nvPr/>
        </p:nvSpPr>
        <p:spPr>
          <a:xfrm>
            <a:off x="758952" y="1842516"/>
            <a:ext cx="5760720" cy="292608"/>
          </a:xfrm>
          <a:prstGeom prst="rect">
            <a:avLst/>
          </a:prstGeom>
          <a:noFill/>
          <a:ln/>
        </p:spPr>
        <p:txBody>
          <a:bodyPr wrap="square" lIns="0" tIns="0" rIns="0" bIns="0" rtlCol="0" anchor="t"/>
          <a:lstStyle/>
          <a:p>
            <a:pPr indent="0" marL="0">
              <a:buNone/>
            </a:pPr>
            <a:r>
              <a:rPr lang="en-US" sz="1600" b="1" dirty="0">
                <a:solidFill>
                  <a:srgbClr val="DC143C"/>
                </a:solidFill>
                <a:latin typeface="Arial" pitchFamily="34" charset="0"/>
                <a:ea typeface="Arial" pitchFamily="34" charset="-122"/>
                <a:cs typeface="Arial" pitchFamily="34" charset="-120"/>
              </a:rPr>
              <a:t>Should G1/G2 be used?</a:t>
            </a:r>
            <a:endParaRPr lang="en-US" sz="1600" dirty="0"/>
          </a:p>
        </p:txBody>
      </p:sp>
      <p:sp>
        <p:nvSpPr>
          <p:cNvPr id="15" name="Text 12"/>
          <p:cNvSpPr txBox="1"/>
          <p:nvPr/>
        </p:nvSpPr>
        <p:spPr>
          <a:xfrm>
            <a:off x="758952" y="2171700"/>
            <a:ext cx="5760720" cy="457200"/>
          </a:xfrm>
          <a:prstGeom prst="rect">
            <a:avLst/>
          </a:prstGeom>
          <a:noFill/>
          <a:ln/>
        </p:spPr>
        <p:txBody>
          <a:bodyPr wrap="square" lIns="0" tIns="0" rIns="0" bIns="0" rtlCol="0" anchor="t"/>
          <a:lstStyle/>
          <a:p>
            <a:pPr indent="0" marL="0">
              <a:buNone/>
            </a:pPr>
            <a:r>
              <a:rPr lang="en-US" sz="1300" dirty="0">
                <a:solidFill>
                  <a:srgbClr val="1F2A37"/>
                </a:solidFill>
                <a:latin typeface="Arial" pitchFamily="34" charset="0"/>
                <a:ea typeface="Arial" pitchFamily="34" charset="-122"/>
                <a:cs typeface="Arial" pitchFamily="34" charset="-120"/>
              </a:rPr>
              <a:t>They make prediction easy but are not available at the start of the year.</a:t>
            </a:r>
            <a:endParaRPr lang="en-US" sz="1300" dirty="0"/>
          </a:p>
        </p:txBody>
      </p:sp>
      <p:sp>
        <p:nvSpPr>
          <p:cNvPr id="16" name="Text 13"/>
          <p:cNvSpPr txBox="1"/>
          <p:nvPr/>
        </p:nvSpPr>
        <p:spPr>
          <a:xfrm>
            <a:off x="7242048" y="1714500"/>
            <a:ext cx="4206240" cy="1015898"/>
          </a:xfrm>
          <a:prstGeom prst="rect">
            <a:avLst/>
          </a:prstGeom>
          <a:noFill/>
          <a:ln/>
        </p:spPr>
        <p:txBody>
          <a:bodyPr wrap="square" lIns="0" tIns="0" rIns="0" bIns="0" rtlCol="0" anchor="ctr"/>
          <a:lstStyle/>
          <a:p>
            <a:pPr indent="0" marL="0">
              <a:buNone/>
            </a:pPr>
            <a:r>
              <a:rPr lang="en-US" sz="1400" b="1" dirty="0">
                <a:solidFill>
                  <a:srgbClr val="2F7D4A"/>
                </a:solidFill>
                <a:latin typeface="Arial" pitchFamily="34" charset="0"/>
                <a:ea typeface="Arial" pitchFamily="34" charset="-122"/>
                <a:cs typeface="Arial" pitchFamily="34" charset="-120"/>
              </a:rPr>
              <a:t>Trained and compared both feature sets.</a:t>
            </a:r>
            <a:endParaRPr lang="en-US" sz="1400" dirty="0"/>
          </a:p>
        </p:txBody>
      </p:sp>
      <p:sp>
        <p:nvSpPr>
          <p:cNvPr id="17" name="Text 14"/>
          <p:cNvSpPr txBox="1"/>
          <p:nvPr/>
        </p:nvSpPr>
        <p:spPr>
          <a:xfrm>
            <a:off x="6729984" y="1714500"/>
            <a:ext cx="256032" cy="1015898"/>
          </a:xfrm>
          <a:prstGeom prst="rect">
            <a:avLst/>
          </a:prstGeom>
          <a:noFill/>
          <a:ln/>
        </p:spPr>
        <p:txBody>
          <a:bodyPr wrap="square" lIns="0" tIns="0" rIns="0" bIns="0" rtlCol="0" anchor="ctr"/>
          <a:lstStyle/>
          <a:p>
            <a:pPr algn="ctr" indent="0" marL="0">
              <a:buNone/>
            </a:pPr>
            <a:r>
              <a:rPr lang="en-US" sz="2200" b="1" dirty="0">
                <a:solidFill>
                  <a:srgbClr val="5B6675"/>
                </a:solidFill>
                <a:latin typeface="Arial" pitchFamily="34" charset="0"/>
                <a:ea typeface="Arial" pitchFamily="34" charset="-122"/>
                <a:cs typeface="Arial" pitchFamily="34" charset="-120"/>
              </a:rPr>
              <a:t>→</a:t>
            </a:r>
            <a:endParaRPr lang="en-US" sz="2200" dirty="0"/>
          </a:p>
        </p:txBody>
      </p:sp>
      <p:sp>
        <p:nvSpPr>
          <p:cNvPr id="18" name="Shape 15"/>
          <p:cNvSpPr/>
          <p:nvPr/>
        </p:nvSpPr>
        <p:spPr>
          <a:xfrm>
            <a:off x="508406" y="2831897"/>
            <a:ext cx="6223406" cy="1015898"/>
          </a:xfrm>
          <a:prstGeom prst="roundRect">
            <a:avLst>
              <a:gd name="adj" fmla="val 12601"/>
            </a:avLst>
          </a:prstGeom>
          <a:solidFill>
            <a:srgbClr val="FCEBEE"/>
          </a:solidFill>
          <a:ln w="12700">
            <a:solidFill>
              <a:srgbClr val="FCEBEE"/>
            </a:solidFill>
            <a:prstDash val="solid"/>
          </a:ln>
        </p:spPr>
      </p:sp>
      <p:sp>
        <p:nvSpPr>
          <p:cNvPr id="19" name="Shape 16"/>
          <p:cNvSpPr/>
          <p:nvPr/>
        </p:nvSpPr>
        <p:spPr>
          <a:xfrm>
            <a:off x="6985102" y="2831897"/>
            <a:ext cx="4699102" cy="1015898"/>
          </a:xfrm>
          <a:prstGeom prst="roundRect">
            <a:avLst>
              <a:gd name="adj" fmla="val 12601"/>
            </a:avLst>
          </a:prstGeom>
          <a:solidFill>
            <a:srgbClr val="E8F5EC"/>
          </a:solidFill>
          <a:ln w="12700">
            <a:solidFill>
              <a:srgbClr val="E8F5EC"/>
            </a:solidFill>
            <a:prstDash val="solid"/>
          </a:ln>
        </p:spPr>
      </p:sp>
      <p:sp>
        <p:nvSpPr>
          <p:cNvPr id="20" name="Text 17"/>
          <p:cNvSpPr txBox="1"/>
          <p:nvPr/>
        </p:nvSpPr>
        <p:spPr>
          <a:xfrm>
            <a:off x="758952" y="2959913"/>
            <a:ext cx="5760720" cy="292608"/>
          </a:xfrm>
          <a:prstGeom prst="rect">
            <a:avLst/>
          </a:prstGeom>
          <a:noFill/>
          <a:ln/>
        </p:spPr>
        <p:txBody>
          <a:bodyPr wrap="square" lIns="0" tIns="0" rIns="0" bIns="0" rtlCol="0" anchor="t"/>
          <a:lstStyle/>
          <a:p>
            <a:pPr indent="0" marL="0">
              <a:buNone/>
            </a:pPr>
            <a:r>
              <a:rPr lang="en-US" sz="1600" b="1" dirty="0">
                <a:solidFill>
                  <a:srgbClr val="DC143C"/>
                </a:solidFill>
                <a:latin typeface="Arial" pitchFamily="34" charset="0"/>
                <a:ea typeface="Arial" pitchFamily="34" charset="-122"/>
                <a:cs typeface="Arial" pitchFamily="34" charset="-120"/>
              </a:rPr>
              <a:t>Zero-grade outliers</a:t>
            </a:r>
            <a:endParaRPr lang="en-US" sz="1600" dirty="0"/>
          </a:p>
        </p:txBody>
      </p:sp>
      <p:sp>
        <p:nvSpPr>
          <p:cNvPr id="21" name="Text 18"/>
          <p:cNvSpPr txBox="1"/>
          <p:nvPr/>
        </p:nvSpPr>
        <p:spPr>
          <a:xfrm>
            <a:off x="758952" y="3289097"/>
            <a:ext cx="5760720" cy="457200"/>
          </a:xfrm>
          <a:prstGeom prst="rect">
            <a:avLst/>
          </a:prstGeom>
          <a:noFill/>
          <a:ln/>
        </p:spPr>
        <p:txBody>
          <a:bodyPr wrap="square" lIns="0" tIns="0" rIns="0" bIns="0" rtlCol="0" anchor="t"/>
          <a:lstStyle/>
          <a:p>
            <a:pPr indent="0" marL="0">
              <a:buNone/>
            </a:pPr>
            <a:r>
              <a:rPr lang="en-US" sz="1300" dirty="0">
                <a:solidFill>
                  <a:srgbClr val="1F2A37"/>
                </a:solidFill>
                <a:latin typeface="Arial" pitchFamily="34" charset="0"/>
                <a:ea typeface="Arial" pitchFamily="34" charset="-122"/>
                <a:cs typeface="Arial" pitchFamily="34" charset="-120"/>
              </a:rPr>
              <a:t>38 students (about 10%) have G3 = 0, likely dropouts that no model can foresee.</a:t>
            </a:r>
            <a:endParaRPr lang="en-US" sz="1300" dirty="0"/>
          </a:p>
        </p:txBody>
      </p:sp>
      <p:sp>
        <p:nvSpPr>
          <p:cNvPr id="22" name="Text 19"/>
          <p:cNvSpPr txBox="1"/>
          <p:nvPr/>
        </p:nvSpPr>
        <p:spPr>
          <a:xfrm>
            <a:off x="7242048" y="2831897"/>
            <a:ext cx="4206240" cy="1015898"/>
          </a:xfrm>
          <a:prstGeom prst="rect">
            <a:avLst/>
          </a:prstGeom>
          <a:noFill/>
          <a:ln/>
        </p:spPr>
        <p:txBody>
          <a:bodyPr wrap="square" lIns="0" tIns="0" rIns="0" bIns="0" rtlCol="0" anchor="ctr"/>
          <a:lstStyle/>
          <a:p>
            <a:pPr indent="0" marL="0">
              <a:buNone/>
            </a:pPr>
            <a:r>
              <a:rPr lang="en-US" sz="1400" b="1" dirty="0">
                <a:solidFill>
                  <a:srgbClr val="2F7D4A"/>
                </a:solidFill>
                <a:latin typeface="Arial" pitchFamily="34" charset="0"/>
                <a:ea typeface="Arial" pitchFamily="34" charset="-122"/>
                <a:cs typeface="Arial" pitchFamily="34" charset="-120"/>
              </a:rPr>
              <a:t>Highlighted them in plots and discussed their effect.</a:t>
            </a:r>
            <a:endParaRPr lang="en-US" sz="1400" dirty="0"/>
          </a:p>
        </p:txBody>
      </p:sp>
      <p:sp>
        <p:nvSpPr>
          <p:cNvPr id="23" name="Text 20"/>
          <p:cNvSpPr txBox="1"/>
          <p:nvPr/>
        </p:nvSpPr>
        <p:spPr>
          <a:xfrm>
            <a:off x="6729984" y="2831897"/>
            <a:ext cx="256032" cy="1015898"/>
          </a:xfrm>
          <a:prstGeom prst="rect">
            <a:avLst/>
          </a:prstGeom>
          <a:noFill/>
          <a:ln/>
        </p:spPr>
        <p:txBody>
          <a:bodyPr wrap="square" lIns="0" tIns="0" rIns="0" bIns="0" rtlCol="0" anchor="ctr"/>
          <a:lstStyle/>
          <a:p>
            <a:pPr algn="ctr" indent="0" marL="0">
              <a:buNone/>
            </a:pPr>
            <a:r>
              <a:rPr lang="en-US" sz="2200" b="1" dirty="0">
                <a:solidFill>
                  <a:srgbClr val="5B6675"/>
                </a:solidFill>
                <a:latin typeface="Arial" pitchFamily="34" charset="0"/>
                <a:ea typeface="Arial" pitchFamily="34" charset="-122"/>
                <a:cs typeface="Arial" pitchFamily="34" charset="-120"/>
              </a:rPr>
              <a:t>→</a:t>
            </a:r>
            <a:endParaRPr lang="en-US" sz="2200" dirty="0"/>
          </a:p>
        </p:txBody>
      </p:sp>
      <p:sp>
        <p:nvSpPr>
          <p:cNvPr id="24" name="Shape 21"/>
          <p:cNvSpPr/>
          <p:nvPr/>
        </p:nvSpPr>
        <p:spPr>
          <a:xfrm>
            <a:off x="508406" y="3949294"/>
            <a:ext cx="6223406" cy="1015898"/>
          </a:xfrm>
          <a:prstGeom prst="roundRect">
            <a:avLst>
              <a:gd name="adj" fmla="val 12601"/>
            </a:avLst>
          </a:prstGeom>
          <a:solidFill>
            <a:srgbClr val="FCEBEE"/>
          </a:solidFill>
          <a:ln w="12700">
            <a:solidFill>
              <a:srgbClr val="FCEBEE"/>
            </a:solidFill>
            <a:prstDash val="solid"/>
          </a:ln>
        </p:spPr>
      </p:sp>
      <p:sp>
        <p:nvSpPr>
          <p:cNvPr id="25" name="Shape 22"/>
          <p:cNvSpPr/>
          <p:nvPr/>
        </p:nvSpPr>
        <p:spPr>
          <a:xfrm>
            <a:off x="6985102" y="3949294"/>
            <a:ext cx="4699102" cy="1015898"/>
          </a:xfrm>
          <a:prstGeom prst="roundRect">
            <a:avLst>
              <a:gd name="adj" fmla="val 12601"/>
            </a:avLst>
          </a:prstGeom>
          <a:solidFill>
            <a:srgbClr val="E8F5EC"/>
          </a:solidFill>
          <a:ln w="12700">
            <a:solidFill>
              <a:srgbClr val="E8F5EC"/>
            </a:solidFill>
            <a:prstDash val="solid"/>
          </a:ln>
        </p:spPr>
      </p:sp>
      <p:sp>
        <p:nvSpPr>
          <p:cNvPr id="26" name="Text 23"/>
          <p:cNvSpPr txBox="1"/>
          <p:nvPr/>
        </p:nvSpPr>
        <p:spPr>
          <a:xfrm>
            <a:off x="758952" y="4077310"/>
            <a:ext cx="5760720" cy="292608"/>
          </a:xfrm>
          <a:prstGeom prst="rect">
            <a:avLst/>
          </a:prstGeom>
          <a:noFill/>
          <a:ln/>
        </p:spPr>
        <p:txBody>
          <a:bodyPr wrap="square" lIns="0" tIns="0" rIns="0" bIns="0" rtlCol="0" anchor="t"/>
          <a:lstStyle/>
          <a:p>
            <a:pPr indent="0" marL="0">
              <a:buNone/>
            </a:pPr>
            <a:r>
              <a:rPr lang="en-US" sz="1600" b="1" dirty="0">
                <a:solidFill>
                  <a:srgbClr val="DC143C"/>
                </a:solidFill>
                <a:latin typeface="Arial" pitchFamily="34" charset="0"/>
                <a:ea typeface="Arial" pitchFamily="34" charset="-122"/>
                <a:cs typeface="Arial" pitchFamily="34" charset="-120"/>
              </a:rPr>
              <a:t>Small dataset</a:t>
            </a:r>
            <a:endParaRPr lang="en-US" sz="1600" dirty="0"/>
          </a:p>
        </p:txBody>
      </p:sp>
      <p:sp>
        <p:nvSpPr>
          <p:cNvPr id="27" name="Text 24"/>
          <p:cNvSpPr txBox="1"/>
          <p:nvPr/>
        </p:nvSpPr>
        <p:spPr>
          <a:xfrm>
            <a:off x="758952" y="4406494"/>
            <a:ext cx="5760720" cy="457200"/>
          </a:xfrm>
          <a:prstGeom prst="rect">
            <a:avLst/>
          </a:prstGeom>
          <a:noFill/>
          <a:ln/>
        </p:spPr>
        <p:txBody>
          <a:bodyPr wrap="square" lIns="0" tIns="0" rIns="0" bIns="0" rtlCol="0" anchor="t"/>
          <a:lstStyle/>
          <a:p>
            <a:pPr indent="0" marL="0">
              <a:buNone/>
            </a:pPr>
            <a:r>
              <a:rPr lang="en-US" sz="1300" dirty="0">
                <a:solidFill>
                  <a:srgbClr val="1F2A37"/>
                </a:solidFill>
                <a:latin typeface="Arial" pitchFamily="34" charset="0"/>
                <a:ea typeface="Arial" pitchFamily="34" charset="-122"/>
                <a:cs typeface="Arial" pitchFamily="34" charset="-120"/>
              </a:rPr>
              <a:t>Only 395 students: one 79-student test set gives noisy scores.</a:t>
            </a:r>
            <a:endParaRPr lang="en-US" sz="1300" dirty="0"/>
          </a:p>
        </p:txBody>
      </p:sp>
      <p:sp>
        <p:nvSpPr>
          <p:cNvPr id="28" name="Text 25"/>
          <p:cNvSpPr txBox="1"/>
          <p:nvPr/>
        </p:nvSpPr>
        <p:spPr>
          <a:xfrm>
            <a:off x="7242048" y="3949294"/>
            <a:ext cx="4206240" cy="1015898"/>
          </a:xfrm>
          <a:prstGeom prst="rect">
            <a:avLst/>
          </a:prstGeom>
          <a:noFill/>
          <a:ln/>
        </p:spPr>
        <p:txBody>
          <a:bodyPr wrap="square" lIns="0" tIns="0" rIns="0" bIns="0" rtlCol="0" anchor="ctr"/>
          <a:lstStyle/>
          <a:p>
            <a:pPr indent="0" marL="0">
              <a:buNone/>
            </a:pPr>
            <a:r>
              <a:rPr lang="en-US" sz="1400" b="1" dirty="0">
                <a:solidFill>
                  <a:srgbClr val="2F7D4A"/>
                </a:solidFill>
                <a:latin typeface="Arial" pitchFamily="34" charset="0"/>
                <a:ea typeface="Arial" pitchFamily="34" charset="-122"/>
                <a:cs typeface="Arial" pitchFamily="34" charset="-120"/>
              </a:rPr>
              <a:t>Added 5-fold cross-validation for a stable estimate.</a:t>
            </a:r>
            <a:endParaRPr lang="en-US" sz="1400" dirty="0"/>
          </a:p>
        </p:txBody>
      </p:sp>
      <p:sp>
        <p:nvSpPr>
          <p:cNvPr id="29" name="Text 26"/>
          <p:cNvSpPr txBox="1"/>
          <p:nvPr/>
        </p:nvSpPr>
        <p:spPr>
          <a:xfrm>
            <a:off x="6729984" y="3949294"/>
            <a:ext cx="256032" cy="1015898"/>
          </a:xfrm>
          <a:prstGeom prst="rect">
            <a:avLst/>
          </a:prstGeom>
          <a:noFill/>
          <a:ln/>
        </p:spPr>
        <p:txBody>
          <a:bodyPr wrap="square" lIns="0" tIns="0" rIns="0" bIns="0" rtlCol="0" anchor="ctr"/>
          <a:lstStyle/>
          <a:p>
            <a:pPr algn="ctr" indent="0" marL="0">
              <a:buNone/>
            </a:pPr>
            <a:r>
              <a:rPr lang="en-US" sz="2200" b="1" dirty="0">
                <a:solidFill>
                  <a:srgbClr val="5B6675"/>
                </a:solidFill>
                <a:latin typeface="Arial" pitchFamily="34" charset="0"/>
                <a:ea typeface="Arial" pitchFamily="34" charset="-122"/>
                <a:cs typeface="Arial" pitchFamily="34" charset="-120"/>
              </a:rPr>
              <a:t>→</a:t>
            </a:r>
            <a:endParaRPr lang="en-US" sz="2200" dirty="0"/>
          </a:p>
        </p:txBody>
      </p:sp>
      <p:sp>
        <p:nvSpPr>
          <p:cNvPr id="30" name="Shape 27"/>
          <p:cNvSpPr/>
          <p:nvPr/>
        </p:nvSpPr>
        <p:spPr>
          <a:xfrm>
            <a:off x="508406" y="5066690"/>
            <a:ext cx="6223406" cy="1015898"/>
          </a:xfrm>
          <a:prstGeom prst="roundRect">
            <a:avLst>
              <a:gd name="adj" fmla="val 12601"/>
            </a:avLst>
          </a:prstGeom>
          <a:solidFill>
            <a:srgbClr val="FCEBEE"/>
          </a:solidFill>
          <a:ln w="12700">
            <a:solidFill>
              <a:srgbClr val="FCEBEE"/>
            </a:solidFill>
            <a:prstDash val="solid"/>
          </a:ln>
        </p:spPr>
      </p:sp>
      <p:sp>
        <p:nvSpPr>
          <p:cNvPr id="31" name="Shape 28"/>
          <p:cNvSpPr/>
          <p:nvPr/>
        </p:nvSpPr>
        <p:spPr>
          <a:xfrm>
            <a:off x="6985102" y="5066690"/>
            <a:ext cx="4699102" cy="1015898"/>
          </a:xfrm>
          <a:prstGeom prst="roundRect">
            <a:avLst>
              <a:gd name="adj" fmla="val 12601"/>
            </a:avLst>
          </a:prstGeom>
          <a:solidFill>
            <a:srgbClr val="E8F5EC"/>
          </a:solidFill>
          <a:ln w="12700">
            <a:solidFill>
              <a:srgbClr val="E8F5EC"/>
            </a:solidFill>
            <a:prstDash val="solid"/>
          </a:ln>
        </p:spPr>
      </p:sp>
      <p:sp>
        <p:nvSpPr>
          <p:cNvPr id="32" name="Text 29"/>
          <p:cNvSpPr txBox="1"/>
          <p:nvPr/>
        </p:nvSpPr>
        <p:spPr>
          <a:xfrm>
            <a:off x="758952" y="5194706"/>
            <a:ext cx="5760720" cy="292608"/>
          </a:xfrm>
          <a:prstGeom prst="rect">
            <a:avLst/>
          </a:prstGeom>
          <a:noFill/>
          <a:ln/>
        </p:spPr>
        <p:txBody>
          <a:bodyPr wrap="square" lIns="0" tIns="0" rIns="0" bIns="0" rtlCol="0" anchor="t"/>
          <a:lstStyle/>
          <a:p>
            <a:pPr indent="0" marL="0">
              <a:buNone/>
            </a:pPr>
            <a:r>
              <a:rPr lang="en-US" sz="1600" b="1" dirty="0">
                <a:solidFill>
                  <a:srgbClr val="DC143C"/>
                </a:solidFill>
                <a:latin typeface="Arial" pitchFamily="34" charset="0"/>
                <a:ea typeface="Arial" pitchFamily="34" charset="-122"/>
                <a:cs typeface="Arial" pitchFamily="34" charset="-120"/>
              </a:rPr>
              <a:t>Technical issue</a:t>
            </a:r>
            <a:endParaRPr lang="en-US" sz="1600" dirty="0"/>
          </a:p>
        </p:txBody>
      </p:sp>
      <p:sp>
        <p:nvSpPr>
          <p:cNvPr id="33" name="Text 30"/>
          <p:cNvSpPr txBox="1"/>
          <p:nvPr/>
        </p:nvSpPr>
        <p:spPr>
          <a:xfrm>
            <a:off x="758952" y="5523890"/>
            <a:ext cx="5760720" cy="457200"/>
          </a:xfrm>
          <a:prstGeom prst="rect">
            <a:avLst/>
          </a:prstGeom>
          <a:noFill/>
          <a:ln/>
        </p:spPr>
        <p:txBody>
          <a:bodyPr wrap="square" lIns="0" tIns="0" rIns="0" bIns="0" rtlCol="0" anchor="t"/>
          <a:lstStyle/>
          <a:p>
            <a:pPr indent="0" marL="0">
              <a:buNone/>
            </a:pPr>
            <a:r>
              <a:rPr lang="en-US" sz="1300" dirty="0">
                <a:solidFill>
                  <a:srgbClr val="1F2A37"/>
                </a:solidFill>
                <a:latin typeface="Arial" pitchFamily="34" charset="0"/>
                <a:ea typeface="Arial" pitchFamily="34" charset="-122"/>
                <a:cs typeface="Arial" pitchFamily="34" charset="-120"/>
              </a:rPr>
              <a:t>NumPy 2.0 on macOS printed false math warnings in Linear Regression.</a:t>
            </a:r>
            <a:endParaRPr lang="en-US" sz="1300" dirty="0"/>
          </a:p>
        </p:txBody>
      </p:sp>
      <p:sp>
        <p:nvSpPr>
          <p:cNvPr id="34" name="Text 31"/>
          <p:cNvSpPr txBox="1"/>
          <p:nvPr/>
        </p:nvSpPr>
        <p:spPr>
          <a:xfrm>
            <a:off x="7242048" y="5066690"/>
            <a:ext cx="4206240" cy="1015898"/>
          </a:xfrm>
          <a:prstGeom prst="rect">
            <a:avLst/>
          </a:prstGeom>
          <a:noFill/>
          <a:ln/>
        </p:spPr>
        <p:txBody>
          <a:bodyPr wrap="square" lIns="0" tIns="0" rIns="0" bIns="0" rtlCol="0" anchor="ctr"/>
          <a:lstStyle/>
          <a:p>
            <a:pPr indent="0" marL="0">
              <a:buNone/>
            </a:pPr>
            <a:r>
              <a:rPr lang="en-US" sz="1400" b="1" dirty="0">
                <a:solidFill>
                  <a:srgbClr val="2F7D4A"/>
                </a:solidFill>
                <a:latin typeface="Arial" pitchFamily="34" charset="0"/>
                <a:ea typeface="Arial" pitchFamily="34" charset="-122"/>
                <a:cs typeface="Arial" pitchFamily="34" charset="-120"/>
              </a:rPr>
              <a:t>Pinned NumPy 1.26 in requirements.txt (results unchanged).</a:t>
            </a:r>
            <a:endParaRPr lang="en-US" sz="1400" dirty="0"/>
          </a:p>
        </p:txBody>
      </p:sp>
      <p:sp>
        <p:nvSpPr>
          <p:cNvPr id="35" name="Text 32"/>
          <p:cNvSpPr txBox="1"/>
          <p:nvPr/>
        </p:nvSpPr>
        <p:spPr>
          <a:xfrm>
            <a:off x="6729984" y="5066690"/>
            <a:ext cx="256032" cy="1015898"/>
          </a:xfrm>
          <a:prstGeom prst="rect">
            <a:avLst/>
          </a:prstGeom>
          <a:noFill/>
          <a:ln/>
        </p:spPr>
        <p:txBody>
          <a:bodyPr wrap="square" lIns="0" tIns="0" rIns="0" bIns="0" rtlCol="0" anchor="ctr"/>
          <a:lstStyle/>
          <a:p>
            <a:pPr algn="ctr" indent="0" marL="0">
              <a:buNone/>
            </a:pPr>
            <a:r>
              <a:rPr lang="en-US" sz="2200" b="1" dirty="0">
                <a:solidFill>
                  <a:srgbClr val="5B6675"/>
                </a:solidFill>
                <a:latin typeface="Arial" pitchFamily="34" charset="0"/>
                <a:ea typeface="Arial" pitchFamily="34" charset="-122"/>
                <a:cs typeface="Arial" pitchFamily="34" charset="-120"/>
              </a:rPr>
              <a: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4682B4"/>
          </a:solidFill>
          <a:ln w="12700">
            <a:solidFill>
              <a:srgbClr val="4682B4"/>
            </a:solidFill>
            <a:prstDash val="solid"/>
          </a:ln>
        </p:spPr>
      </p:sp>
      <p:sp>
        <p:nvSpPr>
          <p:cNvPr id="3" name="Text 1"/>
          <p:cNvSpPr txBox="1"/>
          <p:nvPr/>
        </p:nvSpPr>
        <p:spPr>
          <a:xfrm>
            <a:off x="508406" y="347472"/>
            <a:ext cx="914400" cy="228600"/>
          </a:xfrm>
          <a:prstGeom prst="rect">
            <a:avLst/>
          </a:prstGeom>
          <a:noFill/>
          <a:ln/>
        </p:spPr>
        <p:txBody>
          <a:bodyPr wrap="square" lIns="0" tIns="0" rIns="0" bIns="0" rtlCol="0" anchor="t"/>
          <a:lstStyle/>
          <a:p>
            <a:pPr indent="0" marL="0">
              <a:buNone/>
            </a:pPr>
            <a:r>
              <a:rPr lang="en-US" sz="1300" b="1" dirty="0">
                <a:solidFill>
                  <a:srgbClr val="4682B4"/>
                </a:solidFill>
                <a:latin typeface="Arial" pitchFamily="34" charset="0"/>
                <a:ea typeface="Arial" pitchFamily="34" charset="-122"/>
                <a:cs typeface="Arial" pitchFamily="34" charset="-120"/>
              </a:rPr>
              <a:t>13</a:t>
            </a:r>
            <a:endParaRPr lang="en-US" sz="1300" dirty="0"/>
          </a:p>
        </p:txBody>
      </p:sp>
      <p:sp>
        <p:nvSpPr>
          <p:cNvPr id="4" name="Text 2"/>
          <p:cNvSpPr txBox="1"/>
          <p:nvPr/>
        </p:nvSpPr>
        <p:spPr>
          <a:xfrm>
            <a:off x="508406" y="621792"/>
            <a:ext cx="11174882" cy="502920"/>
          </a:xfrm>
          <a:prstGeom prst="rect">
            <a:avLst/>
          </a:prstGeom>
          <a:noFill/>
          <a:ln/>
        </p:spPr>
        <p:txBody>
          <a:bodyPr wrap="square" lIns="0" tIns="0" rIns="0" bIns="0" rtlCol="0" anchor="t"/>
          <a:lstStyle/>
          <a:p>
            <a:pPr indent="0" marL="0">
              <a:buNone/>
            </a:pPr>
            <a:r>
              <a:rPr lang="en-US" sz="2800" b="1" dirty="0">
                <a:solidFill>
                  <a:srgbClr val="1F2A37"/>
                </a:solidFill>
                <a:latin typeface="Arial" pitchFamily="34" charset="0"/>
                <a:ea typeface="Arial" pitchFamily="34" charset="-122"/>
                <a:cs typeface="Arial" pitchFamily="34" charset="-120"/>
              </a:rPr>
              <a:t>Conclusion</a:t>
            </a:r>
            <a:endParaRPr lang="en-US" sz="2800" dirty="0"/>
          </a:p>
        </p:txBody>
      </p:sp>
      <p:sp>
        <p:nvSpPr>
          <p:cNvPr id="5" name="Shape 3"/>
          <p:cNvSpPr/>
          <p:nvPr/>
        </p:nvSpPr>
        <p:spPr>
          <a:xfrm>
            <a:off x="508406" y="6473952"/>
            <a:ext cx="11174882" cy="0"/>
          </a:xfrm>
          <a:prstGeom prst="line">
            <a:avLst/>
          </a:prstGeom>
          <a:noFill/>
          <a:ln w="9525">
            <a:solidFill>
              <a:srgbClr val="D9DEE5"/>
            </a:solidFill>
            <a:prstDash val="solid"/>
          </a:ln>
        </p:spPr>
      </p:sp>
      <p:sp>
        <p:nvSpPr>
          <p:cNvPr id="6" name="Text 4"/>
          <p:cNvSpPr txBox="1"/>
          <p:nvPr/>
        </p:nvSpPr>
        <p:spPr>
          <a:xfrm>
            <a:off x="508406" y="6537960"/>
            <a:ext cx="7315200" cy="201168"/>
          </a:xfrm>
          <a:prstGeom prst="rect">
            <a:avLst/>
          </a:prstGeom>
          <a:noFill/>
          <a:ln/>
        </p:spPr>
        <p:txBody>
          <a:bodyPr wrap="square" lIns="0" tIns="0" rIns="0" bIns="0" rtlCol="0" anchor="t"/>
          <a:lstStyle/>
          <a:p>
            <a:pPr indent="0" marL="0">
              <a:buNone/>
            </a:pPr>
            <a:r>
              <a:rPr lang="en-US" sz="1000" dirty="0">
                <a:solidFill>
                  <a:srgbClr val="5B6675"/>
                </a:solidFill>
                <a:latin typeface="Arial" pitchFamily="34" charset="0"/>
                <a:ea typeface="Arial" pitchFamily="34" charset="-122"/>
                <a:cs typeface="Arial" pitchFamily="34" charset="-120"/>
              </a:rPr>
              <a:t>Predicting Student Performance  |  Part B: Modeling &amp; Evaluation</a:t>
            </a:r>
            <a:endParaRPr lang="en-US" sz="1000" dirty="0"/>
          </a:p>
        </p:txBody>
      </p:sp>
      <p:sp>
        <p:nvSpPr>
          <p:cNvPr id="7" name="Text 5"/>
          <p:cNvSpPr txBox="1"/>
          <p:nvPr/>
        </p:nvSpPr>
        <p:spPr>
          <a:xfrm>
            <a:off x="10768889" y="6537960"/>
            <a:ext cx="914400" cy="201168"/>
          </a:xfrm>
          <a:prstGeom prst="rect">
            <a:avLst/>
          </a:prstGeom>
          <a:noFill/>
          <a:ln/>
        </p:spPr>
        <p:txBody>
          <a:bodyPr wrap="square" lIns="0" tIns="0" rIns="0" bIns="0" rtlCol="0" anchor="t"/>
          <a:lstStyle/>
          <a:p>
            <a:pPr algn="r" indent="0" marL="0">
              <a:buNone/>
            </a:pPr>
            <a:r>
              <a:rPr lang="en-US" sz="1000" dirty="0">
                <a:solidFill>
                  <a:srgbClr val="5B6675"/>
                </a:solidFill>
                <a:latin typeface="Arial" pitchFamily="34" charset="0"/>
                <a:ea typeface="Arial" pitchFamily="34" charset="-122"/>
                <a:cs typeface="Arial" pitchFamily="34" charset="-120"/>
              </a:rPr>
              <a:t>13</a:t>
            </a:r>
            <a:endParaRPr lang="en-US" sz="1000" dirty="0"/>
          </a:p>
        </p:txBody>
      </p:sp>
      <p:sp>
        <p:nvSpPr>
          <p:cNvPr id="9" name="Shape 6"/>
          <p:cNvSpPr/>
          <p:nvPr/>
        </p:nvSpPr>
        <p:spPr>
          <a:xfrm>
            <a:off x="508406" y="1271016"/>
            <a:ext cx="11174882" cy="1399032"/>
          </a:xfrm>
          <a:prstGeom prst="roundRect">
            <a:avLst>
              <a:gd name="adj" fmla="val 9150"/>
            </a:avLst>
          </a:prstGeom>
          <a:solidFill>
            <a:srgbClr val="E8F5EC"/>
          </a:solidFill>
          <a:ln w="12700">
            <a:solidFill>
              <a:srgbClr val="E8F5EC"/>
            </a:solidFill>
            <a:prstDash val="solid"/>
          </a:ln>
        </p:spPr>
      </p:sp>
      <p:sp>
        <p:nvSpPr>
          <p:cNvPr id="10" name="Text 7"/>
          <p:cNvSpPr txBox="1"/>
          <p:nvPr/>
        </p:nvSpPr>
        <p:spPr>
          <a:xfrm>
            <a:off x="822960" y="1271016"/>
            <a:ext cx="3108960" cy="1399032"/>
          </a:xfrm>
          <a:prstGeom prst="rect">
            <a:avLst/>
          </a:prstGeom>
          <a:noFill/>
          <a:ln/>
        </p:spPr>
        <p:txBody>
          <a:bodyPr wrap="square" lIns="0" tIns="0" rIns="0" bIns="0" rtlCol="0" anchor="ctr"/>
          <a:lstStyle/>
          <a:p>
            <a:pPr indent="0" marL="0">
              <a:buNone/>
            </a:pPr>
            <a:r>
              <a:rPr lang="en-US" sz="4400" b="1" dirty="0">
                <a:solidFill>
                  <a:srgbClr val="2F7D4A"/>
                </a:solidFill>
                <a:latin typeface="Arial" pitchFamily="34" charset="0"/>
                <a:ea typeface="Arial" pitchFamily="34" charset="-122"/>
                <a:cs typeface="Arial" pitchFamily="34" charset="-120"/>
              </a:rPr>
              <a:t>R² = 0.81</a:t>
            </a:r>
            <a:endParaRPr lang="en-US" sz="4400" dirty="0"/>
          </a:p>
        </p:txBody>
      </p:sp>
      <p:sp>
        <p:nvSpPr>
          <p:cNvPr id="11" name="Text 8"/>
          <p:cNvSpPr txBox="1"/>
          <p:nvPr/>
        </p:nvSpPr>
        <p:spPr>
          <a:xfrm>
            <a:off x="4059936" y="1271016"/>
            <a:ext cx="7315200" cy="1399032"/>
          </a:xfrm>
          <a:prstGeom prst="rect">
            <a:avLst/>
          </a:prstGeom>
          <a:noFill/>
          <a:ln/>
        </p:spPr>
        <p:txBody>
          <a:bodyPr wrap="square" lIns="0" tIns="0" rIns="0" bIns="0" rtlCol="0" anchor="ctr"/>
          <a:lstStyle/>
          <a:p>
            <a:pPr indent="0" marL="0">
              <a:buNone/>
            </a:pPr>
            <a:r>
              <a:rPr lang="en-US" sz="1600" b="1" dirty="0">
                <a:solidFill>
                  <a:srgbClr val="1F2A37"/>
                </a:solidFill>
                <a:latin typeface="Arial" pitchFamily="34" charset="0"/>
                <a:ea typeface="Arial" pitchFamily="34" charset="-122"/>
                <a:cs typeface="Arial" pitchFamily="34" charset="-120"/>
              </a:rPr>
              <a:t>Random Forest</a:t>
            </a:r>
            <a:pPr indent="0" marL="0">
              <a:buNone/>
            </a:pPr>
            <a:r>
              <a:rPr lang="en-US" sz="1600" dirty="0">
                <a:solidFill>
                  <a:srgbClr val="1F2A37"/>
                </a:solidFill>
                <a:latin typeface="Arial" pitchFamily="34" charset="0"/>
                <a:ea typeface="Arial" pitchFamily="34" charset="-122"/>
                <a:cs typeface="Arial" pitchFamily="34" charset="-120"/>
              </a:rPr>
              <a:t> predicts final math grades well when earlier grades are available (0.87 with cross-validation), within the 0.6 to 0.85 range suggested for reasonable performance.</a:t>
            </a:r>
            <a:endParaRPr lang="en-US" sz="1600" dirty="0"/>
          </a:p>
        </p:txBody>
      </p:sp>
      <p:sp>
        <p:nvSpPr>
          <p:cNvPr id="12" name="Text 9"/>
          <p:cNvSpPr txBox="1"/>
          <p:nvPr/>
        </p:nvSpPr>
        <p:spPr>
          <a:xfrm>
            <a:off x="508406" y="2926080"/>
            <a:ext cx="11174882" cy="2103120"/>
          </a:xfrm>
          <a:prstGeom prst="rect">
            <a:avLst/>
          </a:prstGeom>
          <a:noFill/>
          <a:ln/>
        </p:spPr>
        <p:txBody>
          <a:bodyPr wrap="square" lIns="0" tIns="0" rIns="0" bIns="0" rtlCol="0" anchor="t"/>
          <a:lstStyle/>
          <a:p>
            <a:pPr marL="203200" indent="-203200">
              <a:spcAft>
                <a:spcPts val="1200"/>
              </a:spcAft>
              <a:buSzPct val="100000"/>
              <a:buChar char="•"/>
            </a:pPr>
            <a:r>
              <a:rPr lang="en-US" sz="1600" b="1" dirty="0">
                <a:solidFill>
                  <a:srgbClr val="1F2A37"/>
                </a:solidFill>
                <a:latin typeface="Arial" pitchFamily="34" charset="0"/>
                <a:ea typeface="Arial" pitchFamily="34" charset="-122"/>
                <a:cs typeface="Arial" pitchFamily="34" charset="-120"/>
              </a:rPr>
              <a:t>Prior performance (G2) is by far the strongest predictor.</a:t>
            </a:r>
            <a:pPr indent="0" marL="0">
              <a:buNone/>
            </a:pPr>
            <a:r>
              <a:rPr lang="en-US" sz="1600" dirty="0">
                <a:solidFill>
                  <a:srgbClr val="1F2A37"/>
                </a:solidFill>
                <a:latin typeface="Arial" pitchFamily="34" charset="0"/>
                <a:ea typeface="Arial" pitchFamily="34" charset="-122"/>
                <a:cs typeface="Arial" pitchFamily="34" charset="-120"/>
              </a:rPr>
              <a:t> Background factors alone explain only about 27% of grade variation.</a:t>
            </a:r>
            <a:endParaRPr lang="en-US" sz="1600" dirty="0"/>
          </a:p>
          <a:p>
            <a:pPr marL="203200" indent="-203200">
              <a:spcAft>
                <a:spcPts val="1200"/>
              </a:spcAft>
              <a:buSzPct val="100000"/>
              <a:buChar char="•"/>
            </a:pPr>
            <a:r>
              <a:rPr lang="en-US" sz="1600" dirty="0">
                <a:solidFill>
                  <a:srgbClr val="1F2A37"/>
                </a:solidFill>
                <a:latin typeface="Arial" pitchFamily="34" charset="0"/>
                <a:ea typeface="Arial" pitchFamily="34" charset="-122"/>
                <a:cs typeface="Arial" pitchFamily="34" charset="-120"/>
              </a:rPr>
              <a:t>Practical meaning: useful as a </a:t>
            </a:r>
            <a:pPr indent="0" marL="0">
              <a:buNone/>
            </a:pPr>
            <a:r>
              <a:rPr lang="en-US" sz="1600" b="1" dirty="0">
                <a:solidFill>
                  <a:srgbClr val="1F2A37"/>
                </a:solidFill>
                <a:latin typeface="Arial" pitchFamily="34" charset="0"/>
                <a:ea typeface="Arial" pitchFamily="34" charset="-122"/>
                <a:cs typeface="Arial" pitchFamily="34" charset="-120"/>
              </a:rPr>
              <a:t>mid-year</a:t>
            </a:r>
            <a:pPr indent="0" marL="0">
              <a:buNone/>
            </a:pPr>
            <a:r>
              <a:rPr lang="en-US" sz="1600" dirty="0">
                <a:solidFill>
                  <a:srgbClr val="1F2A37"/>
                </a:solidFill>
                <a:latin typeface="Arial" pitchFamily="34" charset="0"/>
                <a:ea typeface="Arial" pitchFamily="34" charset="-122"/>
                <a:cs typeface="Arial" pitchFamily="34" charset="-120"/>
              </a:rPr>
              <a:t> prediction tool; early-warning prediction would need more or better data.</a:t>
            </a:r>
            <a:endParaRPr lang="en-US" sz="1600" dirty="0"/>
          </a:p>
          <a:p>
            <a:pPr marL="203200" indent="-203200">
              <a:spcAft>
                <a:spcPts val="1200"/>
              </a:spcAft>
              <a:buSzPct val="100000"/>
              <a:buChar char="•"/>
            </a:pPr>
            <a:r>
              <a:rPr lang="en-US" sz="1600" b="1" dirty="0">
                <a:solidFill>
                  <a:srgbClr val="1F2A37"/>
                </a:solidFill>
                <a:latin typeface="Arial" pitchFamily="34" charset="0"/>
                <a:ea typeface="Arial" pitchFamily="34" charset="-122"/>
                <a:cs typeface="Arial" pitchFamily="34" charset="-120"/>
              </a:rPr>
              <a:t>Future work:</a:t>
            </a:r>
            <a:pPr indent="0" marL="0">
              <a:buNone/>
            </a:pPr>
            <a:r>
              <a:rPr lang="en-US" sz="1600" dirty="0">
                <a:solidFill>
                  <a:srgbClr val="1F2A37"/>
                </a:solidFill>
                <a:latin typeface="Arial" pitchFamily="34" charset="0"/>
                <a:ea typeface="Arial" pitchFamily="34" charset="-122"/>
                <a:cs typeface="Arial" pitchFamily="34" charset="-120"/>
              </a:rPr>
              <a:t> model G3 = 0 students separately (dropout classification), tune Random Forest settings, try gradient boosting.</a:t>
            </a:r>
            <a:endParaRPr lang="en-US" sz="1600" dirty="0"/>
          </a:p>
        </p:txBody>
      </p:sp>
      <p:sp>
        <p:nvSpPr>
          <p:cNvPr id="13" name="Text 10"/>
          <p:cNvSpPr txBox="1"/>
          <p:nvPr/>
        </p:nvSpPr>
        <p:spPr>
          <a:xfrm>
            <a:off x="508406" y="5230368"/>
            <a:ext cx="11174882" cy="502920"/>
          </a:xfrm>
          <a:prstGeom prst="rect">
            <a:avLst/>
          </a:prstGeom>
          <a:noFill/>
          <a:ln/>
        </p:spPr>
        <p:txBody>
          <a:bodyPr wrap="square" lIns="0" tIns="0" rIns="0" bIns="0" rtlCol="0" anchor="t"/>
          <a:lstStyle/>
          <a:p>
            <a:pPr algn="ctr" indent="0" marL="0">
              <a:buNone/>
            </a:pPr>
            <a:r>
              <a:rPr lang="en-US" sz="3000" b="1" dirty="0">
                <a:solidFill>
                  <a:srgbClr val="4682B4"/>
                </a:solidFill>
                <a:latin typeface="Arial" pitchFamily="34" charset="0"/>
                <a:ea typeface="Arial" pitchFamily="34" charset="-122"/>
                <a:cs typeface="Arial" pitchFamily="34" charset="-120"/>
              </a:rPr>
              <a:t>Thank you! Questions?</a:t>
            </a:r>
            <a:endParaRPr lang="en-US" sz="3000" dirty="0"/>
          </a:p>
        </p:txBody>
      </p:sp>
      <p:sp>
        <p:nvSpPr>
          <p:cNvPr id="14" name="Text 11"/>
          <p:cNvSpPr txBox="1"/>
          <p:nvPr/>
        </p:nvSpPr>
        <p:spPr>
          <a:xfrm>
            <a:off x="508406" y="5897880"/>
            <a:ext cx="11174882" cy="411480"/>
          </a:xfrm>
          <a:prstGeom prst="rect">
            <a:avLst/>
          </a:prstGeom>
          <a:noFill/>
          <a:ln/>
        </p:spPr>
        <p:txBody>
          <a:bodyPr wrap="square" lIns="0" tIns="0" rIns="0" bIns="0" rtlCol="0" anchor="t"/>
          <a:lstStyle/>
          <a:p>
            <a:pPr indent="0" marL="0">
              <a:buNone/>
            </a:pPr>
            <a:r>
              <a:rPr lang="en-US" sz="1000" dirty="0">
                <a:solidFill>
                  <a:srgbClr val="5B6675"/>
                </a:solidFill>
                <a:latin typeface="Arial" pitchFamily="34" charset="0"/>
                <a:ea typeface="Arial" pitchFamily="34" charset="-122"/>
                <a:cs typeface="Arial" pitchFamily="34" charset="-120"/>
              </a:rPr>
              <a:t>References: Cortez, P. &amp; Silva, A. (2008). Using Data Mining to Predict Secondary School Student Performance. UCI Machine Learning Repository. Libraries: pandas, NumPy, matplotlib, seaborn, scikit-learn.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Student Performance - Part B: Modeling &amp; Evaluation</dc:title>
  <dc:subject>PptxGenJS Presentation</dc:subject>
  <dc:creator>PptxGenJS</dc:creator>
  <cp:lastModifiedBy>PptxGenJS</cp:lastModifiedBy>
  <cp:revision>1</cp:revision>
  <dcterms:created xsi:type="dcterms:W3CDTF">2026-09-30T02:26:44Z</dcterms:created>
  <dcterms:modified xsi:type="dcterms:W3CDTF">2026-09-30T02:26:44Z</dcterms:modified>
</cp:coreProperties>
</file>